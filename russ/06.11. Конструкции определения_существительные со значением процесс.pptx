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9" r:id="rId10"/>
    <p:sldId id="270" r:id="rId11"/>
    <p:sldId id="271" r:id="rId12"/>
    <p:sldId id="272" r:id="rId13"/>
    <p:sldId id="263" r:id="rId14"/>
    <p:sldId id="264" r:id="rId15"/>
    <p:sldId id="265" r:id="rId16"/>
    <p:sldId id="266" r:id="rId17"/>
    <p:sldId id="267" r:id="rId18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93" autoAdjust="0"/>
    <p:restoredTop sz="94660"/>
  </p:normalViewPr>
  <p:slideViewPr>
    <p:cSldViewPr snapToGrid="0" snapToObjects="1" showGuides="1">
      <p:cViewPr>
        <p:scale>
          <a:sx n="120" d="100"/>
          <a:sy n="120" d="100"/>
        </p:scale>
        <p:origin x="883" y="-77"/>
      </p:cViewPr>
      <p:guideLst>
        <p:guide orient="horz" pos="1611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kfql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Финал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Пользовательский маке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Custom Layou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sldNum="0" hdr="0" dt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339437" y="1949142"/>
            <a:ext cx="8167254" cy="2366299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Язык специальности</a:t>
            </a:r>
            <a:br>
              <a:rPr lang="ru-RU" sz="4400">
                <a:solidFill>
                  <a:schemeClr val="bg1"/>
                </a:solidFill>
              </a:rPr>
            </a:br>
            <a:r>
              <a:rPr lang="ru-RU" sz="4400">
                <a:solidFill>
                  <a:schemeClr val="bg1"/>
                </a:solidFill>
              </a:rPr>
              <a:t>Словообразование</a:t>
            </a:r>
            <a:br>
              <a:rPr lang="ru-RU" sz="4400">
                <a:solidFill>
                  <a:schemeClr val="bg1"/>
                </a:solidFill>
              </a:rPr>
            </a:b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Даём определения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ru-RU" sz="2400" dirty="0"/>
              <a:t>База данных</a:t>
            </a:r>
            <a:endParaRPr dirty="0"/>
          </a:p>
          <a:p>
            <a:pPr marL="342900" indent="-342900">
              <a:buFont typeface="Arial"/>
              <a:buChar char="•"/>
              <a:defRPr/>
            </a:pPr>
            <a:r>
              <a:rPr lang="ru-RU" sz="2400" dirty="0"/>
              <a:t>Информатика</a:t>
            </a:r>
            <a:endParaRPr dirty="0"/>
          </a:p>
          <a:p>
            <a:pPr marL="342900" indent="-342900">
              <a:buFont typeface="Arial"/>
              <a:buChar char="•"/>
              <a:defRPr/>
            </a:pPr>
            <a:r>
              <a:rPr lang="ru-RU" sz="2400" dirty="0"/>
              <a:t>Презентация</a:t>
            </a:r>
            <a:endParaRPr dirty="0"/>
          </a:p>
          <a:p>
            <a:pPr marL="342900" indent="-342900">
              <a:buFont typeface="Arial"/>
              <a:buChar char="•"/>
              <a:defRPr/>
            </a:pPr>
            <a:r>
              <a:rPr lang="ru-RU" sz="2400" dirty="0"/>
              <a:t>Программирование</a:t>
            </a:r>
            <a:endParaRPr dirty="0"/>
          </a:p>
          <a:p>
            <a:pPr marL="342900" indent="-342900">
              <a:buFont typeface="Arial"/>
              <a:buChar char="•"/>
              <a:defRPr/>
            </a:pPr>
            <a:r>
              <a:rPr lang="ru-RU" sz="2400" dirty="0"/>
              <a:t>Приложение</a:t>
            </a:r>
            <a:endParaRPr dirty="0"/>
          </a:p>
          <a:p>
            <a:pPr marL="342900" indent="-342900">
              <a:buFont typeface="Arial"/>
              <a:buChar char="•"/>
              <a:defRPr/>
            </a:pPr>
            <a:r>
              <a:rPr lang="ru-RU" sz="2400" dirty="0"/>
              <a:t>Интернет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Трансформируем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sz="2000" dirty="0"/>
              <a:t>Модель 1. Интернет </a:t>
            </a:r>
            <a:r>
              <a:rPr lang="ru-RU" sz="2000" dirty="0">
                <a:solidFill>
                  <a:srgbClr val="FF0000"/>
                </a:solidFill>
              </a:rPr>
              <a:t>является</a:t>
            </a:r>
            <a:r>
              <a:rPr lang="ru-RU" sz="2000" dirty="0"/>
              <a:t> всемирной сетью. </a:t>
            </a:r>
            <a:endParaRPr sz="2000" dirty="0"/>
          </a:p>
          <a:p>
            <a:pPr marL="285750" indent="-285750">
              <a:buFont typeface="Arial"/>
              <a:buChar char="•"/>
              <a:defRPr/>
            </a:pPr>
            <a:r>
              <a:rPr lang="ru-RU" sz="2000" dirty="0"/>
              <a:t>Атрибут – это качество, признак, характеристика объекта.</a:t>
            </a:r>
            <a:endParaRPr sz="2000" dirty="0"/>
          </a:p>
          <a:p>
            <a:pPr>
              <a:defRPr/>
            </a:pPr>
            <a:r>
              <a:rPr lang="ru-RU" sz="1500" dirty="0"/>
              <a:t>Атрибут является качеством, признаком, характеристикой объекта. </a:t>
            </a:r>
            <a:endParaRPr lang="ru-RU" sz="2000" dirty="0"/>
          </a:p>
          <a:p>
            <a:pPr marL="285750" indent="-285750">
              <a:buFont typeface="Arial"/>
              <a:buChar char="•"/>
              <a:defRPr/>
            </a:pPr>
            <a:r>
              <a:rPr lang="ru-RU" sz="1600" dirty="0"/>
              <a:t>Под информацией понимаются сведения, которые мы получаем вне зависимости от их формы и представления.</a:t>
            </a:r>
            <a:endParaRPr sz="1600" dirty="0"/>
          </a:p>
          <a:p>
            <a:pPr>
              <a:defRPr/>
            </a:pPr>
            <a:r>
              <a:rPr lang="ru-RU" sz="1600" dirty="0"/>
              <a:t>Информация является сведениями, которые мы получаем вне зависимости от их формы и представления</a:t>
            </a:r>
          </a:p>
          <a:p>
            <a:pPr>
              <a:defRPr/>
            </a:pPr>
            <a:r>
              <a:rPr lang="ru-RU" sz="2000" dirty="0"/>
              <a:t>Модель 2: </a:t>
            </a:r>
            <a:r>
              <a:rPr lang="ru-RU" sz="2000" dirty="0">
                <a:solidFill>
                  <a:srgbClr val="FF0000"/>
                </a:solidFill>
              </a:rPr>
              <a:t>Под</a:t>
            </a:r>
            <a:r>
              <a:rPr lang="ru-RU" sz="2000" dirty="0"/>
              <a:t> интернетом </a:t>
            </a:r>
            <a:r>
              <a:rPr lang="ru-RU" sz="2000" dirty="0">
                <a:solidFill>
                  <a:srgbClr val="FF0000"/>
                </a:solidFill>
              </a:rPr>
              <a:t>понимают</a:t>
            </a:r>
            <a:r>
              <a:rPr lang="ru-RU" sz="2000" dirty="0"/>
              <a:t> всемирную сеть.</a:t>
            </a:r>
            <a:endParaRPr sz="2000" dirty="0"/>
          </a:p>
          <a:p>
            <a:pPr marL="285750" indent="-285750">
              <a:buFont typeface="Arial"/>
              <a:buChar char="•"/>
              <a:defRPr/>
            </a:pPr>
            <a:r>
              <a:rPr lang="ru-RU" sz="2000" dirty="0"/>
              <a:t>Пикселем называется наименьший логический элемент цифрового изображения. </a:t>
            </a:r>
          </a:p>
          <a:p>
            <a:pPr>
              <a:defRPr/>
            </a:pPr>
            <a:r>
              <a:rPr lang="ru-RU" sz="1700" dirty="0"/>
              <a:t>Под пикселем понимают наименьший логический элемент цифрового изображения. </a:t>
            </a:r>
            <a:endParaRPr lang="ru-RU" sz="2000" dirty="0"/>
          </a:p>
          <a:p>
            <a:pPr marL="285750" indent="-285750">
              <a:buFont typeface="Arial"/>
              <a:buChar char="•"/>
              <a:defRPr/>
            </a:pPr>
            <a:r>
              <a:rPr lang="ru-RU" sz="2000" dirty="0"/>
              <a:t>Структурой является взаимосвязь частей чего-либо. </a:t>
            </a:r>
          </a:p>
          <a:p>
            <a:pPr>
              <a:defRPr/>
            </a:pPr>
            <a:r>
              <a:rPr lang="ru-RU" sz="2000" dirty="0"/>
              <a:t>Под структурой понимают взаимосвязь частей чего-либо. </a:t>
            </a:r>
          </a:p>
          <a:p>
            <a:pPr>
              <a:defRPr/>
            </a:pPr>
            <a:endParaRPr lang="ru-RU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Трансформируем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 fontScale="92500"/>
          </a:bodyPr>
          <a:lstStyle/>
          <a:p>
            <a:pPr>
              <a:defRPr/>
            </a:pPr>
            <a:r>
              <a:rPr lang="ru-RU" sz="1800" dirty="0"/>
              <a:t>Модель 3. Интернетом называют всемирную сеть. </a:t>
            </a:r>
            <a:endParaRPr sz="1800" dirty="0"/>
          </a:p>
          <a:p>
            <a:pPr marL="285750" indent="-285750">
              <a:buFont typeface="Arial"/>
              <a:buChar char="•"/>
              <a:defRPr/>
            </a:pPr>
            <a:r>
              <a:rPr lang="ru-RU" sz="1600" dirty="0"/>
              <a:t>Под файлом понимают именованную область данных на носителе информации.</a:t>
            </a:r>
          </a:p>
          <a:p>
            <a:pPr>
              <a:defRPr/>
            </a:pPr>
            <a:r>
              <a:rPr lang="ru-RU" sz="1600" dirty="0"/>
              <a:t>Файлом называют именованную область данных на носителе информации.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1800" dirty="0"/>
              <a:t>Язык программирования является формальным языком для записи компьютерных программ. </a:t>
            </a:r>
          </a:p>
          <a:p>
            <a:pPr>
              <a:defRPr/>
            </a:pPr>
            <a:r>
              <a:rPr lang="ru-RU" sz="1800" dirty="0"/>
              <a:t>Языком программирования называют формальный язык для записи компьютерных программ. </a:t>
            </a:r>
            <a:endParaRPr sz="1800" dirty="0"/>
          </a:p>
          <a:p>
            <a:pPr marL="285750" indent="-285750">
              <a:buFont typeface="Arial"/>
              <a:buChar char="•"/>
              <a:defRPr/>
            </a:pPr>
            <a:endParaRPr lang="ru-RU" sz="1800" dirty="0"/>
          </a:p>
          <a:p>
            <a:pPr>
              <a:defRPr/>
            </a:pPr>
            <a:r>
              <a:rPr lang="ru-RU" sz="1800" dirty="0"/>
              <a:t>Модель 4: Под Интернетом понимается всемирная компьютерная сеть. </a:t>
            </a:r>
            <a:endParaRPr sz="1800" dirty="0"/>
          </a:p>
          <a:p>
            <a:pPr marL="285750" indent="-285750">
              <a:buFont typeface="Arial"/>
              <a:buChar char="•"/>
              <a:defRPr/>
            </a:pPr>
            <a:r>
              <a:rPr lang="ru-RU" sz="1800" dirty="0"/>
              <a:t>Под программным кодом понимают текст, написанный на языке программирования. </a:t>
            </a:r>
            <a:endParaRPr sz="1800" dirty="0"/>
          </a:p>
          <a:p>
            <a:pPr>
              <a:defRPr/>
            </a:pPr>
            <a:endParaRPr lang="ru-RU" sz="1800" dirty="0"/>
          </a:p>
          <a:p>
            <a:pPr marL="285750" indent="-285750">
              <a:buFont typeface="Arial"/>
              <a:buChar char="•"/>
              <a:defRPr/>
            </a:pPr>
            <a:r>
              <a:rPr lang="ru-RU" sz="1800" dirty="0"/>
              <a:t>Информатика – это наука об информации.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457200" y="1211943"/>
            <a:ext cx="7745186" cy="3447143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  <a:defRPr/>
            </a:pPr>
            <a:r>
              <a:rPr lang="ru-RU" sz="1800" dirty="0"/>
              <a:t>Под языком программирования понимается формальный язык для записи компьютерных программ.</a:t>
            </a:r>
            <a:endParaRPr sz="1800" dirty="0"/>
          </a:p>
          <a:p>
            <a:pPr marL="342900" indent="-342900">
              <a:buAutoNum type="arabicPeriod"/>
              <a:defRPr/>
            </a:pPr>
            <a:r>
              <a:rPr lang="ru-RU" sz="1800" dirty="0"/>
              <a:t>Под информатикой понимают науку об информации.</a:t>
            </a:r>
            <a:endParaRPr sz="1800" dirty="0"/>
          </a:p>
          <a:p>
            <a:pPr marL="342900" indent="-342900">
              <a:buAutoNum type="arabicPeriod"/>
              <a:defRPr/>
            </a:pPr>
            <a:r>
              <a:rPr lang="ru-RU" sz="1800" dirty="0"/>
              <a:t>Информатика является наукой об информации.</a:t>
            </a:r>
            <a:endParaRPr sz="1800" dirty="0"/>
          </a:p>
          <a:p>
            <a:pPr marL="342900" indent="-342900">
              <a:buAutoNum type="arabicPeriod"/>
              <a:defRPr/>
            </a:pPr>
            <a:r>
              <a:rPr lang="ru-RU" sz="1800" dirty="0"/>
              <a:t>Языком программирования называется формальный язык для записи компьютерных программ. </a:t>
            </a:r>
            <a:endParaRPr sz="1800" dirty="0"/>
          </a:p>
          <a:p>
            <a:pPr marL="342900" indent="-342900">
              <a:buAutoNum type="arabicPeriod"/>
              <a:defRPr/>
            </a:pPr>
            <a:r>
              <a:rPr lang="ru-RU" sz="1800" dirty="0"/>
              <a:t>Наукой об информации называют информатику. </a:t>
            </a:r>
            <a:endParaRPr sz="1800" dirty="0"/>
          </a:p>
          <a:p>
            <a:pPr marL="342900" indent="-342900">
              <a:buAutoNum type="arabicPeriod"/>
              <a:defRPr/>
            </a:pPr>
            <a:r>
              <a:rPr lang="ru-RU" sz="1800" dirty="0"/>
              <a:t>Информатика представляет собой науку об информации.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A4445-1C77-B89C-EE4D-034A4D17F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Это слово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0D9093-0C7F-7AB8-6440-3145AF7C63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000" dirty="0"/>
              <a:t>Что называется круглым фруктом жёлтого, красного, </a:t>
            </a:r>
            <a:r>
              <a:rPr lang="ru-RU" sz="2000" dirty="0" err="1"/>
              <a:t>зёленого</a:t>
            </a:r>
            <a:r>
              <a:rPr lang="ru-RU" sz="2000" dirty="0"/>
              <a:t> цвета. _ Б _ _ _ _</a:t>
            </a:r>
          </a:p>
          <a:p>
            <a:pPr marL="457200" indent="-457200">
              <a:buAutoNum type="arabicPeriod"/>
            </a:pPr>
            <a:r>
              <a:rPr lang="ru-RU" sz="2000" dirty="0"/>
              <a:t>Под этим словом понимают человека, который работает в магазине.  </a:t>
            </a:r>
          </a:p>
          <a:p>
            <a:pPr marL="457200" indent="-457200">
              <a:buAutoNum type="arabicPeriod"/>
            </a:pPr>
            <a:r>
              <a:rPr lang="ru-RU" sz="2000" dirty="0"/>
              <a:t>Этим является </a:t>
            </a:r>
          </a:p>
          <a:p>
            <a:pPr marL="457200" indent="-457200">
              <a:buAutoNum type="arabicPeriod"/>
            </a:pPr>
            <a:r>
              <a:rPr lang="ru-RU" sz="2000" dirty="0"/>
              <a:t>Это представляет собой </a:t>
            </a:r>
          </a:p>
          <a:p>
            <a:pPr marL="457200" indent="-457200">
              <a:buAutoNum type="arabicPeriod"/>
            </a:pPr>
            <a:r>
              <a:rPr lang="ru-RU" sz="2000" dirty="0"/>
              <a:t>Под этим словом понимают </a:t>
            </a:r>
          </a:p>
          <a:p>
            <a:pPr marL="457200" indent="-457200">
              <a:buAutoNum type="arabicPeriod"/>
            </a:pPr>
            <a:r>
              <a:rPr lang="ru-RU" sz="2000" dirty="0"/>
              <a:t>Этим называется </a:t>
            </a:r>
          </a:p>
        </p:txBody>
      </p:sp>
    </p:spTree>
    <p:extLst>
      <p:ext uri="{BB962C8B-B14F-4D97-AF65-F5344CB8AC3E}">
        <p14:creationId xmlns:p14="http://schemas.microsoft.com/office/powerpoint/2010/main" val="172764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Отглагольные существительные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572321" y="1184115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Использовать приложение </a:t>
            </a:r>
          </a:p>
        </p:txBody>
      </p:sp>
      <p:cxnSp>
        <p:nvCxnSpPr>
          <p:cNvPr id="6" name="Прямая со стрелкой 5"/>
          <p:cNvCxnSpPr>
            <a:cxnSpLocks/>
            <a:stCxn id="4" idx="2"/>
          </p:cNvCxnSpPr>
          <p:nvPr/>
        </p:nvCxnSpPr>
        <p:spPr bwMode="auto">
          <a:xfrm>
            <a:off x="1983392" y="1553447"/>
            <a:ext cx="16447" cy="584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 bwMode="auto">
          <a:xfrm>
            <a:off x="664686" y="2269554"/>
            <a:ext cx="3833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/>
              <a:t>Использов</a:t>
            </a:r>
            <a:r>
              <a:rPr lang="ru-RU" b="1" dirty="0">
                <a:solidFill>
                  <a:srgbClr val="FF0000"/>
                </a:solidFill>
              </a:rPr>
              <a:t>а</a:t>
            </a:r>
            <a:r>
              <a:rPr lang="ru-RU" dirty="0">
                <a:solidFill>
                  <a:srgbClr val="FF0000"/>
                </a:solidFill>
              </a:rPr>
              <a:t>ни</a:t>
            </a:r>
            <a:r>
              <a:rPr lang="ru-RU" dirty="0"/>
              <a:t>е приложения (</a:t>
            </a:r>
            <a:r>
              <a:rPr lang="ru-RU" dirty="0" err="1"/>
              <a:t>Род.п</a:t>
            </a:r>
            <a:r>
              <a:rPr lang="ru-RU" dirty="0"/>
              <a:t>.)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882279" y="1192729"/>
            <a:ext cx="2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Улучшать качество </a:t>
            </a:r>
          </a:p>
        </p:txBody>
      </p:sp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>
            <a:off x="5773657" y="1511158"/>
            <a:ext cx="16447" cy="584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 bwMode="auto">
          <a:xfrm>
            <a:off x="4731244" y="2293049"/>
            <a:ext cx="269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Улучшение качества (Р.п.)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 dirty="0"/>
              <a:t>Изучать – изучение русского языка </a:t>
            </a:r>
          </a:p>
          <a:p>
            <a:pPr>
              <a:defRPr/>
            </a:pPr>
            <a:r>
              <a:rPr lang="ru-RU" sz="2000" dirty="0"/>
              <a:t>Программировать – программирование</a:t>
            </a:r>
          </a:p>
          <a:p>
            <a:pPr>
              <a:defRPr/>
            </a:pPr>
            <a:r>
              <a:rPr lang="ru-RU" sz="2000" dirty="0"/>
              <a:t>Уменьшать – уменьшение количества домашнего задания</a:t>
            </a:r>
          </a:p>
          <a:p>
            <a:pPr>
              <a:defRPr/>
            </a:pPr>
            <a:r>
              <a:rPr lang="ru-RU" sz="2000" dirty="0"/>
              <a:t>Читать – чтение книги </a:t>
            </a:r>
          </a:p>
          <a:p>
            <a:pPr>
              <a:defRPr/>
            </a:pPr>
            <a:r>
              <a:rPr lang="ru-RU" sz="2000" dirty="0"/>
              <a:t>Совершать – совершение </a:t>
            </a:r>
          </a:p>
          <a:p>
            <a:pPr>
              <a:defRPr/>
            </a:pPr>
            <a:r>
              <a:rPr lang="ru-RU" sz="2000" dirty="0"/>
              <a:t>Управлять – управление </a:t>
            </a:r>
          </a:p>
          <a:p>
            <a:pPr>
              <a:defRPr/>
            </a:pPr>
            <a:r>
              <a:rPr lang="ru-RU" sz="2000" dirty="0"/>
              <a:t>Получать – получение </a:t>
            </a:r>
          </a:p>
          <a:p>
            <a:pPr>
              <a:defRPr/>
            </a:pPr>
            <a:r>
              <a:rPr lang="ru-RU" sz="2000" dirty="0"/>
              <a:t>Создавать – создание </a:t>
            </a:r>
          </a:p>
          <a:p>
            <a:pPr>
              <a:defRPr/>
            </a:pPr>
            <a:r>
              <a:rPr lang="ru-RU" sz="2000" dirty="0"/>
              <a:t>Изобретать – изобретение</a:t>
            </a:r>
          </a:p>
          <a:p>
            <a:pPr>
              <a:defRPr/>
            </a:pPr>
            <a:r>
              <a:rPr lang="ru-RU" sz="2000" dirty="0"/>
              <a:t>Скачать - скачивание</a:t>
            </a:r>
          </a:p>
          <a:p>
            <a:pPr>
              <a:defRPr/>
            </a:pPr>
            <a:endParaRPr lang="ru-RU" sz="2000" dirty="0"/>
          </a:p>
          <a:p>
            <a:pPr>
              <a:defRPr/>
            </a:pPr>
            <a:endParaRPr lang="ru-RU" sz="20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Суффиксы –</a:t>
            </a:r>
            <a:r>
              <a:rPr lang="ru-RU" dirty="0" err="1"/>
              <a:t>ани</a:t>
            </a:r>
            <a:r>
              <a:rPr lang="ru-RU" dirty="0"/>
              <a:t>-; -</a:t>
            </a:r>
            <a:r>
              <a:rPr lang="ru-RU" dirty="0" err="1"/>
              <a:t>ени</a:t>
            </a:r>
            <a:r>
              <a:rPr lang="ru-RU" dirty="0"/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01CBE21-0F2B-3D3A-D9EC-B3C5F75AC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Обрабатывать – обработка информации </a:t>
            </a:r>
          </a:p>
          <a:p>
            <a:r>
              <a:rPr lang="ru-RU" sz="2000" dirty="0"/>
              <a:t>Проверять – проверка</a:t>
            </a:r>
          </a:p>
          <a:p>
            <a:r>
              <a:rPr lang="ru-RU" sz="2000" dirty="0"/>
              <a:t>Покупать – покупка </a:t>
            </a:r>
          </a:p>
          <a:p>
            <a:r>
              <a:rPr lang="ru-RU" sz="2000" dirty="0"/>
              <a:t>Подготовиться – подготовка (к чему) студента к сессии </a:t>
            </a:r>
          </a:p>
          <a:p>
            <a:r>
              <a:rPr lang="ru-RU" sz="2000" dirty="0"/>
              <a:t>Оценивать – оценка </a:t>
            </a:r>
          </a:p>
          <a:p>
            <a:r>
              <a:rPr lang="ru-RU" sz="2000" dirty="0"/>
              <a:t>Тренироваться – тренировка </a:t>
            </a:r>
          </a:p>
          <a:p>
            <a:r>
              <a:rPr lang="ru-RU" sz="2000" dirty="0"/>
              <a:t>Собирать – сборка </a:t>
            </a:r>
          </a:p>
          <a:p>
            <a:r>
              <a:rPr lang="ru-RU" sz="2000" dirty="0"/>
              <a:t>Скидывать – скидка </a:t>
            </a:r>
          </a:p>
          <a:p>
            <a:r>
              <a:rPr lang="ru-RU" sz="2000" dirty="0"/>
              <a:t>Загружать – загрузка 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52BE3E-E829-68F6-DB81-C4BB0465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Суффикс –к- + а</a:t>
            </a:r>
          </a:p>
        </p:txBody>
      </p:sp>
    </p:spTree>
    <p:extLst>
      <p:ext uri="{BB962C8B-B14F-4D97-AF65-F5344CB8AC3E}">
        <p14:creationId xmlns:p14="http://schemas.microsoft.com/office/powerpoint/2010/main" val="299249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195D0F-F8CD-DFF5-E6B0-9A49E64928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sz="2000" dirty="0"/>
              <a:t>Переводить – перевод </a:t>
            </a:r>
          </a:p>
          <a:p>
            <a:r>
              <a:rPr lang="ru-RU" sz="2000" dirty="0"/>
              <a:t>Работать – работа</a:t>
            </a:r>
          </a:p>
          <a:p>
            <a:r>
              <a:rPr lang="ru-RU" sz="2000" dirty="0"/>
              <a:t>Вводить – ввод</a:t>
            </a:r>
          </a:p>
          <a:p>
            <a:r>
              <a:rPr lang="ru-RU" sz="2000" dirty="0"/>
              <a:t>Анализировать – анализ </a:t>
            </a:r>
          </a:p>
          <a:p>
            <a:r>
              <a:rPr lang="ru-RU" sz="2000" dirty="0"/>
              <a:t>Собирать – сбор </a:t>
            </a:r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8B5486E-ED1E-0F33-B020-255360DA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Без суффикса</a:t>
            </a:r>
          </a:p>
        </p:txBody>
      </p:sp>
    </p:spTree>
    <p:extLst>
      <p:ext uri="{BB962C8B-B14F-4D97-AF65-F5344CB8AC3E}">
        <p14:creationId xmlns:p14="http://schemas.microsoft.com/office/powerpoint/2010/main" val="3858409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794C2E-9A14-7E88-144E-01FF734CE8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Информировать – информация </a:t>
            </a:r>
          </a:p>
          <a:p>
            <a:r>
              <a:rPr lang="ru-RU" dirty="0"/>
              <a:t>Формализовать – формализация </a:t>
            </a:r>
          </a:p>
          <a:p>
            <a:r>
              <a:rPr lang="ru-RU" dirty="0"/>
              <a:t>Организовать – организация 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FB340F6-B055-148B-BAB6-990528B5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- </a:t>
            </a:r>
            <a:r>
              <a:rPr lang="ru-RU" dirty="0" err="1"/>
              <a:t>Ция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19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EC1A714-2EF2-A983-EECF-EC54D79EA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Сдавать – сдача</a:t>
            </a:r>
          </a:p>
          <a:p>
            <a:r>
              <a:rPr lang="ru-RU" dirty="0"/>
              <a:t>Задавать – задача </a:t>
            </a:r>
          </a:p>
          <a:p>
            <a:r>
              <a:rPr lang="ru-RU" dirty="0"/>
              <a:t>Пересдавать - пересдача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CBC237A-6592-D4DB-C7EE-9306F899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-ч +а</a:t>
            </a:r>
          </a:p>
        </p:txBody>
      </p:sp>
    </p:spTree>
    <p:extLst>
      <p:ext uri="{BB962C8B-B14F-4D97-AF65-F5344CB8AC3E}">
        <p14:creationId xmlns:p14="http://schemas.microsoft.com/office/powerpoint/2010/main" val="536789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Изучать </a:t>
            </a:r>
          </a:p>
          <a:p>
            <a:pPr>
              <a:defRPr/>
            </a:pPr>
            <a:r>
              <a:rPr lang="ru-RU" dirty="0"/>
              <a:t>Изучаться </a:t>
            </a:r>
          </a:p>
          <a:p>
            <a:pPr>
              <a:defRPr/>
            </a:pPr>
            <a:r>
              <a:rPr lang="ru-RU" dirty="0"/>
              <a:t>Изучение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 sz="2000" b="1" dirty="0">
                <a:solidFill>
                  <a:schemeClr val="accent1"/>
                </a:solidFill>
              </a:rPr>
              <a:t>Студенты (п1)</a:t>
            </a:r>
            <a:r>
              <a:rPr lang="ru-RU" sz="2000" b="1" dirty="0"/>
              <a:t> </a:t>
            </a:r>
            <a:r>
              <a:rPr lang="ru-RU" sz="2000" b="1" dirty="0">
                <a:solidFill>
                  <a:srgbClr val="002060"/>
                </a:solidFill>
              </a:rPr>
              <a:t>изучают</a:t>
            </a:r>
            <a:r>
              <a:rPr lang="ru-RU" sz="2000" b="1" dirty="0"/>
              <a:t> </a:t>
            </a:r>
            <a:r>
              <a:rPr lang="ru-RU" sz="2000" b="1" dirty="0">
                <a:solidFill>
                  <a:srgbClr val="00B050"/>
                </a:solidFill>
              </a:rPr>
              <a:t>русский язык (п4)</a:t>
            </a:r>
            <a:r>
              <a:rPr lang="ru-RU" sz="2000" b="1" dirty="0"/>
              <a:t>. </a:t>
            </a:r>
          </a:p>
          <a:p>
            <a:pPr>
              <a:defRPr/>
            </a:pPr>
            <a:r>
              <a:rPr lang="ru-RU" sz="2000" b="1" dirty="0">
                <a:solidFill>
                  <a:srgbClr val="00B050"/>
                </a:solidFill>
              </a:rPr>
              <a:t>Русский язык (п1)</a:t>
            </a:r>
            <a:r>
              <a:rPr lang="ru-RU" sz="2000" b="1" dirty="0"/>
              <a:t> </a:t>
            </a:r>
            <a:r>
              <a:rPr lang="ru-RU" sz="2000" b="1" dirty="0" err="1">
                <a:solidFill>
                  <a:srgbClr val="002060"/>
                </a:solidFill>
              </a:rPr>
              <a:t>изучаетСЯ</a:t>
            </a:r>
            <a:r>
              <a:rPr lang="ru-RU" sz="2000" b="1" dirty="0"/>
              <a:t> </a:t>
            </a:r>
            <a:r>
              <a:rPr lang="ru-RU" sz="2000" b="1" dirty="0">
                <a:solidFill>
                  <a:schemeClr val="accent1"/>
                </a:solidFill>
              </a:rPr>
              <a:t>студентами (п5).  - пассив</a:t>
            </a:r>
          </a:p>
          <a:p>
            <a:pPr>
              <a:defRPr/>
            </a:pPr>
            <a:r>
              <a:rPr lang="ru-RU" sz="2000" b="1" dirty="0">
                <a:solidFill>
                  <a:srgbClr val="002060"/>
                </a:solidFill>
              </a:rPr>
              <a:t>Изучение </a:t>
            </a:r>
            <a:r>
              <a:rPr lang="ru-RU" sz="2000" b="1" dirty="0">
                <a:solidFill>
                  <a:srgbClr val="00B050"/>
                </a:solidFill>
              </a:rPr>
              <a:t>русского языка </a:t>
            </a:r>
            <a:r>
              <a:rPr lang="ru-RU" sz="2000" b="1" dirty="0">
                <a:solidFill>
                  <a:schemeClr val="accent1"/>
                </a:solidFill>
              </a:rPr>
              <a:t>студентами.</a:t>
            </a:r>
            <a:endParaRPr lang="ru-RU" sz="2000" b="1" dirty="0">
              <a:solidFill>
                <a:srgbClr val="002060"/>
              </a:solidFill>
            </a:endParaRPr>
          </a:p>
          <a:p>
            <a:pPr>
              <a:defRPr/>
            </a:pPr>
            <a:endParaRPr lang="ru-RU" sz="2000" b="1" dirty="0">
              <a:solidFill>
                <a:schemeClr val="accent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Пользователи смартфонов широко используют мобильные приложения.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Субъект + наречие + предикат + объект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Широкое использование мобильных приложений пользователями смартфонов. 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Прилагательное + субъект + объект + субъект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 bwMode="auto">
          <a:xfrm>
            <a:off x="457200" y="1211943"/>
            <a:ext cx="8248650" cy="3447143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  <a:defRPr/>
            </a:pPr>
            <a:r>
              <a:rPr lang="ru-RU" sz="2400" dirty="0"/>
              <a:t>Современные программисты успешно решают многие задачи.</a:t>
            </a:r>
            <a:endParaRPr sz="2000" dirty="0"/>
          </a:p>
          <a:p>
            <a:pPr marL="342900" indent="-342900">
              <a:buAutoNum type="arabicPeriod"/>
              <a:defRPr/>
            </a:pPr>
            <a:r>
              <a:rPr lang="ru-RU" sz="1600" dirty="0"/>
              <a:t>Глагол: решают – существительное (решен</a:t>
            </a:r>
            <a:r>
              <a:rPr lang="ru-RU" sz="1600" dirty="0">
                <a:solidFill>
                  <a:srgbClr val="00B050"/>
                </a:solidFill>
              </a:rPr>
              <a:t>ие</a:t>
            </a:r>
            <a:r>
              <a:rPr lang="ru-RU" sz="1600" dirty="0"/>
              <a:t>) </a:t>
            </a:r>
          </a:p>
          <a:p>
            <a:pPr marL="342900" indent="-342900">
              <a:buAutoNum type="arabicPeriod"/>
              <a:defRPr/>
            </a:pPr>
            <a:r>
              <a:rPr lang="ru-RU" sz="1600" dirty="0"/>
              <a:t>Наречие (?) успешно – прилагательное Успешн</a:t>
            </a:r>
            <a:r>
              <a:rPr lang="ru-RU" sz="1600" dirty="0">
                <a:solidFill>
                  <a:srgbClr val="00B050"/>
                </a:solidFill>
              </a:rPr>
              <a:t>ое </a:t>
            </a:r>
          </a:p>
          <a:p>
            <a:pPr marL="342900" indent="-342900">
              <a:buAutoNum type="arabicPeriod"/>
              <a:defRPr/>
            </a:pPr>
            <a:r>
              <a:rPr lang="ru-RU" sz="1600" dirty="0">
                <a:solidFill>
                  <a:srgbClr val="00B050"/>
                </a:solidFill>
              </a:rPr>
              <a:t>П4 – П2 (многие задачи – многих задач)</a:t>
            </a:r>
          </a:p>
          <a:p>
            <a:pPr marL="342900" indent="-342900">
              <a:buAutoNum type="arabicPeriod"/>
              <a:defRPr/>
            </a:pPr>
            <a:r>
              <a:rPr lang="ru-RU" sz="1600" dirty="0">
                <a:solidFill>
                  <a:srgbClr val="00B050"/>
                </a:solidFill>
              </a:rPr>
              <a:t>П1 – п5 (современные программисты) – современными программистами </a:t>
            </a:r>
          </a:p>
          <a:p>
            <a:pPr>
              <a:defRPr/>
            </a:pPr>
            <a:endParaRPr lang="ru-RU" sz="1600" dirty="0">
              <a:solidFill>
                <a:srgbClr val="00B050"/>
              </a:solidFill>
            </a:endParaRPr>
          </a:p>
          <a:p>
            <a:pPr>
              <a:defRPr/>
            </a:pPr>
            <a:r>
              <a:rPr lang="ru-RU" sz="2000" dirty="0">
                <a:solidFill>
                  <a:srgbClr val="00B050"/>
                </a:solidFill>
              </a:rPr>
              <a:t>Успешное решение многих задач современными программистами.</a:t>
            </a:r>
          </a:p>
          <a:p>
            <a:pPr>
              <a:defRPr/>
            </a:pPr>
            <a:endParaRPr lang="ru-RU" sz="16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sz="half" idx="1"/>
          </p:nvPr>
        </p:nvGraphicFramePr>
        <p:xfrm>
          <a:off x="203200" y="211138"/>
          <a:ext cx="8763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/>
                        <a:t>Существит.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/>
                        <a:t>Глагол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/>
                        <a:t>Прилагат.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/>
                        <a:t>Прич.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/>
                        <a:t>Дееприч.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/>
                        <a:t>Наречие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</TotalTime>
  <Words>539</Words>
  <Application>Microsoft Office PowerPoint</Application>
  <DocSecurity>0</DocSecurity>
  <PresentationFormat>Экран (16:9)</PresentationFormat>
  <Paragraphs>108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Язык специальности Словообразование </vt:lpstr>
      <vt:lpstr>Даём определения</vt:lpstr>
      <vt:lpstr>Трансформируем </vt:lpstr>
      <vt:lpstr>Трансформируем </vt:lpstr>
      <vt:lpstr>Презентация PowerPoint</vt:lpstr>
      <vt:lpstr>Это слово</vt:lpstr>
      <vt:lpstr>Отглагольные существительные</vt:lpstr>
      <vt:lpstr>Суффиксы –ани-; -ени-</vt:lpstr>
      <vt:lpstr>Суффикс –к- + а</vt:lpstr>
      <vt:lpstr>Без суффикса</vt:lpstr>
      <vt:lpstr>- Ция </vt:lpstr>
      <vt:lpstr>-ч +а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cp:lastModifiedBy>Смирнов Петр Александрович</cp:lastModifiedBy>
  <cp:revision>198</cp:revision>
  <dcterms:created xsi:type="dcterms:W3CDTF">2014-06-27T12:30:22Z</dcterms:created>
  <dcterms:modified xsi:type="dcterms:W3CDTF">2024-11-08T14:00:17Z</dcterms:modified>
  <cp:category/>
  <dc:identifier/>
  <cp:contentStatus/>
  <dc:language/>
  <cp:version/>
</cp:coreProperties>
</file>