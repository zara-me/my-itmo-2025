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37"/>
  </p:notesMasterIdLst>
  <p:handoutMasterIdLst>
    <p:handoutMasterId r:id="rId38"/>
  </p:handoutMasterIdLst>
  <p:sldIdLst>
    <p:sldId id="265" r:id="rId2"/>
    <p:sldId id="276" r:id="rId3"/>
    <p:sldId id="277" r:id="rId4"/>
    <p:sldId id="278" r:id="rId5"/>
    <p:sldId id="279" r:id="rId6"/>
    <p:sldId id="280" r:id="rId7"/>
    <p:sldId id="281" r:id="rId8"/>
    <p:sldId id="283" r:id="rId9"/>
    <p:sldId id="284" r:id="rId10"/>
    <p:sldId id="285" r:id="rId11"/>
    <p:sldId id="275" r:id="rId12"/>
    <p:sldId id="286" r:id="rId13"/>
    <p:sldId id="287" r:id="rId14"/>
    <p:sldId id="289" r:id="rId15"/>
    <p:sldId id="291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6" r:id="rId26"/>
    <p:sldId id="304" r:id="rId27"/>
    <p:sldId id="314" r:id="rId28"/>
    <p:sldId id="305" r:id="rId29"/>
    <p:sldId id="313" r:id="rId30"/>
    <p:sldId id="307" r:id="rId31"/>
    <p:sldId id="308" r:id="rId32"/>
    <p:sldId id="309" r:id="rId33"/>
    <p:sldId id="311" r:id="rId34"/>
    <p:sldId id="312" r:id="rId35"/>
    <p:sldId id="263" r:id="rId3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56" autoAdjust="0"/>
    <p:restoredTop sz="94672" autoAdjust="0"/>
  </p:normalViewPr>
  <p:slideViewPr>
    <p:cSldViewPr snapToGrid="0" snapToObjects="1" showGuides="1">
      <p:cViewPr varScale="1">
        <p:scale>
          <a:sx n="147" d="100"/>
          <a:sy n="147" d="100"/>
        </p:scale>
        <p:origin x="1146" y="108"/>
      </p:cViewPr>
      <p:guideLst>
        <p:guide orient="horz" pos="1611"/>
        <p:guide pos="28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84163" y="2357005"/>
            <a:ext cx="8167254" cy="704850"/>
          </a:xfrm>
        </p:spPr>
        <p:txBody>
          <a:bodyPr>
            <a:no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</a:rPr>
              <a:t>Подготовка к контрольной работе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Абонент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11943"/>
            <a:ext cx="7706616" cy="3447143"/>
          </a:xfrm>
        </p:spPr>
        <p:txBody>
          <a:bodyPr>
            <a:normAutofit/>
          </a:bodyPr>
          <a:lstStyle/>
          <a:p>
            <a:r>
              <a:rPr lang="ru-RU" sz="1800" dirty="0"/>
              <a:t>Абонент – это устройство, подключённое к сети и активно участвующее в информационном обмене. </a:t>
            </a:r>
          </a:p>
          <a:p>
            <a:endParaRPr lang="ru-RU" sz="1800" dirty="0"/>
          </a:p>
          <a:p>
            <a:endParaRPr lang="ru-RU" sz="1800" dirty="0"/>
          </a:p>
          <a:p>
            <a:r>
              <a:rPr lang="ru-RU" sz="1800" dirty="0"/>
              <a:t>_являться_</a:t>
            </a:r>
          </a:p>
        </p:txBody>
      </p:sp>
    </p:spTree>
    <p:extLst>
      <p:ext uri="{BB962C8B-B14F-4D97-AF65-F5344CB8AC3E}">
        <p14:creationId xmlns:p14="http://schemas.microsoft.com/office/powerpoint/2010/main" val="64617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Архиватор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Архиватор – программа для сжатия информации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r>
              <a:rPr lang="ru-RU" sz="1800" dirty="0"/>
              <a:t>___ представлять собой___ 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038" y="1211943"/>
            <a:ext cx="327660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0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Аутентификация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199" y="1211943"/>
            <a:ext cx="7752665" cy="3447143"/>
          </a:xfrm>
        </p:spPr>
        <p:txBody>
          <a:bodyPr/>
          <a:lstStyle/>
          <a:p>
            <a:r>
              <a:rPr lang="ru-RU" sz="1800" dirty="0"/>
              <a:t>Аутентификация - это процесс проверки данных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___называться___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635" y="1493300"/>
            <a:ext cx="3275229" cy="32752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55" y="2935514"/>
            <a:ext cx="3016524" cy="163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База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sz="1800" dirty="0"/>
              <a:t>База данных – совокупность данных, которая имеет структуру, используется для хранения, обработки и манипулирования данными. 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____ понимается_____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862" y="2282694"/>
            <a:ext cx="3402138" cy="214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02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Бит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600" dirty="0"/>
              <a:t> Бит – наименьшая единица измерения информации. </a:t>
            </a: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____ понимать _____</a:t>
            </a:r>
          </a:p>
          <a:p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343" y="1598144"/>
            <a:ext cx="4271037" cy="320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7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Беспроводная сеть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sz="2000" dirty="0"/>
              <a:t>Беспроводная сеть - это сеть, не использующая кабель для связи компонентов.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_____ называть______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486" y="2841877"/>
            <a:ext cx="2334555" cy="155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1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Браузер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 Браузер - средство, программа для просмотра </a:t>
            </a:r>
            <a:r>
              <a:rPr lang="ru-RU" sz="2000" dirty="0" err="1"/>
              <a:t>Web</a:t>
            </a:r>
            <a:r>
              <a:rPr lang="ru-RU" sz="2000" dirty="0"/>
              <a:t>-страниц, позволяющая переходить от просмотра одних страниц к другим с помощью гиперссылок.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____ являться______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856" y="2164708"/>
            <a:ext cx="4314714" cy="242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Буфер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sz="2000" dirty="0"/>
              <a:t>Буфер – это область памяти, резервируемая операционной системой для организации обмена данными между приложениями. 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______ называться ______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690" y="1665538"/>
            <a:ext cx="1602945" cy="290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8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Видеокарта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Видеокарта - устройство, осуществляющее вывод информации на экране монитора.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_______ называть _______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032" y="1955062"/>
            <a:ext cx="2439099" cy="24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00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Вирус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Вирус – это компьютерная программа, способная заражать другие файлы и программы.</a:t>
            </a:r>
          </a:p>
          <a:p>
            <a:endParaRPr lang="ru-RU" sz="2000" dirty="0"/>
          </a:p>
          <a:p>
            <a:r>
              <a:rPr lang="ru-RU" sz="2000" dirty="0"/>
              <a:t>______ представлять собой _______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575" y="2370619"/>
            <a:ext cx="3661547" cy="228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24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Внешняя память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11943"/>
            <a:ext cx="7467600" cy="3447143"/>
          </a:xfrm>
        </p:spPr>
        <p:txBody>
          <a:bodyPr>
            <a:normAutofit/>
          </a:bodyPr>
          <a:lstStyle/>
          <a:p>
            <a:r>
              <a:rPr lang="ru-RU" sz="1800" dirty="0"/>
              <a:t>Внешняя память – это устройства для долговременного хранения информации. Не являются частью компьютера. 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r>
              <a:rPr lang="ru-RU" sz="1800" dirty="0"/>
              <a:t>_____ являться ______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658" y="2434012"/>
            <a:ext cx="4262818" cy="213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37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Гиперссылка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Гиперссылка – это графическое изображение или текст, позволяющее осуществлять переход с одного ресурса на другой. 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____ понимать______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245" y="2125407"/>
            <a:ext cx="3744353" cy="253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67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Звуковой адаптер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Звуковой адаптер (звуковая карта) – это устройство, позволяющее с помощью компьютера воспроизводить и записывать звуки, синтезировать звуки. </a:t>
            </a:r>
          </a:p>
          <a:p>
            <a:endParaRPr lang="ru-RU" sz="1800" dirty="0"/>
          </a:p>
          <a:p>
            <a:endParaRPr lang="ru-RU" sz="1800" dirty="0"/>
          </a:p>
          <a:p>
            <a:endParaRPr lang="ru-RU" sz="1800" dirty="0"/>
          </a:p>
          <a:p>
            <a:r>
              <a:rPr lang="ru-RU" sz="1800" dirty="0"/>
              <a:t>_____ называть _______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721" y="2106386"/>
            <a:ext cx="38100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53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Интерфейс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Интерфейс – это набор правил, определяющих взаимодействие нескольких устройств. Панель управления любой программы. </a:t>
            </a:r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_____ пониматься______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875" y="2258786"/>
            <a:ext cx="3920181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441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Каталог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11943"/>
            <a:ext cx="7706616" cy="3447143"/>
          </a:xfrm>
        </p:spPr>
        <p:txBody>
          <a:bodyPr>
            <a:normAutofit/>
          </a:bodyPr>
          <a:lstStyle/>
          <a:p>
            <a:r>
              <a:rPr lang="ru-RU" sz="1800" dirty="0"/>
              <a:t>Каталог – это место на диске, где хранятся имена и параметры групп файлов, размеры, атрибуты, дата создания и т.п.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569" y="2501443"/>
            <a:ext cx="2352675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4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Кодирование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Кодирование  – это присвоение имён объектам и явлениям с использованием определённого алфавита.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490" y="2935514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41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Команда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199" y="1211943"/>
            <a:ext cx="7752665" cy="3447143"/>
          </a:xfrm>
        </p:spPr>
        <p:txBody>
          <a:bodyPr/>
          <a:lstStyle/>
          <a:p>
            <a:r>
              <a:rPr lang="ru-RU" dirty="0"/>
              <a:t>Команда – это предписание для ПК выполнить некоторую машинную операцию или действие. </a:t>
            </a:r>
          </a:p>
        </p:txBody>
      </p:sp>
    </p:spTree>
    <p:extLst>
      <p:ext uri="{BB962C8B-B14F-4D97-AF65-F5344CB8AC3E}">
        <p14:creationId xmlns:p14="http://schemas.microsoft.com/office/powerpoint/2010/main" val="8523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Компьютерная этика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Компьютерная этика – это совокупность моральных принципов и норм, регулирующих отношения между людьми, сложившихся в результате работы с компьютером.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069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Манипулятор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600" dirty="0"/>
              <a:t> Манипулятор – это специальные устройства (мышь, джойстик, клавиатура), которые используются для управления компьютером.</a:t>
            </a:r>
          </a:p>
          <a:p>
            <a:endParaRPr lang="ru-RU" sz="1600" dirty="0"/>
          </a:p>
          <a:p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901" y="2276131"/>
            <a:ext cx="2866239" cy="214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68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Модем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Модем – это устройство передачи информации.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681" y="2473485"/>
            <a:ext cx="3362259" cy="191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8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Оперативная память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Оперативная память – это рабочая область для процессора компьютера.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050" y="1782749"/>
            <a:ext cx="3979645" cy="263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4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Операционная система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Операционная система – это программа, которая управляет аппаратными и программными средствами компьютера, предназначенными для выполнения задач пользователя.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049" y="2622859"/>
            <a:ext cx="4253427" cy="196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45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ПЗУ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ПЗУ – это устройства, в котором хранятся программы, необходимые для начальной работы компьютера </a:t>
            </a:r>
            <a:r>
              <a:rPr lang="en-US" dirty="0"/>
              <a:t>(BIOS </a:t>
            </a:r>
            <a:r>
              <a:rPr lang="ru-RU" dirty="0"/>
              <a:t>– базовая информационная система ввода-вывода).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735" y="1941490"/>
            <a:ext cx="3807198" cy="276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Кроссворд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269" y="1421606"/>
            <a:ext cx="2971800" cy="2971800"/>
          </a:xfrm>
        </p:spPr>
      </p:pic>
    </p:spTree>
    <p:extLst>
      <p:ext uri="{BB962C8B-B14F-4D97-AF65-F5344CB8AC3E}">
        <p14:creationId xmlns:p14="http://schemas.microsoft.com/office/powerpoint/2010/main" val="3918122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Конструкции определения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298939" y="1040162"/>
            <a:ext cx="8695592" cy="3735038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ru-RU" sz="3200" b="1" dirty="0"/>
              <a:t>Что – это что </a:t>
            </a:r>
            <a:r>
              <a:rPr lang="ru-RU" sz="3200" dirty="0"/>
              <a:t>(Архиватор – это программа для сжатия файлов). </a:t>
            </a:r>
          </a:p>
          <a:p>
            <a:pPr marL="457200" indent="-457200">
              <a:buAutoNum type="arabicPeriod"/>
            </a:pPr>
            <a:r>
              <a:rPr lang="ru-RU" sz="3200" b="1" dirty="0"/>
              <a:t>Что (1) является чем (5). </a:t>
            </a:r>
            <a:r>
              <a:rPr lang="ru-RU" sz="3200" dirty="0"/>
              <a:t>Архиватор является программой для сжатия файлов.</a:t>
            </a:r>
          </a:p>
          <a:p>
            <a:pPr marL="457200" indent="-457200">
              <a:buAutoNum type="arabicPeriod"/>
            </a:pPr>
            <a:r>
              <a:rPr lang="ru-RU" sz="3200" b="1" dirty="0"/>
              <a:t>Что (1) представляет собой что (4). </a:t>
            </a:r>
            <a:r>
              <a:rPr lang="ru-RU" sz="3200" dirty="0"/>
              <a:t>Архиватор представляет собой программу для сжатия файлов.</a:t>
            </a:r>
          </a:p>
        </p:txBody>
      </p:sp>
    </p:spTree>
    <p:extLst>
      <p:ext uri="{BB962C8B-B14F-4D97-AF65-F5344CB8AC3E}">
        <p14:creationId xmlns:p14="http://schemas.microsoft.com/office/powerpoint/2010/main" val="2235260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513C5-0189-7D83-1A62-4131F08F2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3F6482-67F1-63C5-297D-9AF82674E0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4. Под чем (5) понимают что (4). Под архиватором понимают программу для сжатия файлов.</a:t>
            </a:r>
          </a:p>
          <a:p>
            <a:r>
              <a:rPr lang="ru-RU" sz="2400" dirty="0"/>
              <a:t>5. Под чем (5) понимается что (1). Под архиватором понимается программа для сжатия файлов.</a:t>
            </a:r>
          </a:p>
          <a:p>
            <a:r>
              <a:rPr lang="ru-RU" sz="2400" dirty="0"/>
              <a:t>6. Чем (5) называется что (1)</a:t>
            </a:r>
          </a:p>
          <a:p>
            <a:r>
              <a:rPr lang="ru-RU" sz="2400" dirty="0"/>
              <a:t>Архиватором называется программа для сжатия файлов.</a:t>
            </a:r>
          </a:p>
          <a:p>
            <a:r>
              <a:rPr lang="ru-RU" sz="2400" dirty="0"/>
              <a:t>7. Чем (5) называют что (4) </a:t>
            </a:r>
            <a:br>
              <a:rPr lang="ru-RU" sz="2400" dirty="0"/>
            </a:br>
            <a:r>
              <a:rPr lang="ru-RU" sz="2400" dirty="0"/>
              <a:t>Архиватором называют программу … .</a:t>
            </a:r>
          </a:p>
        </p:txBody>
      </p:sp>
    </p:spTree>
    <p:extLst>
      <p:ext uri="{BB962C8B-B14F-4D97-AF65-F5344CB8AC3E}">
        <p14:creationId xmlns:p14="http://schemas.microsoft.com/office/powerpoint/2010/main" val="3340863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Причастия (активные НВ)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199" y="833719"/>
            <a:ext cx="8389257" cy="4081181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FFFFFF"/>
                </a:solidFill>
                <a:effectLst/>
                <a:latin typeface="Golos Text" panose="020B0503020202020204"/>
              </a:rPr>
              <a:t>Создавать – создающий – создание кода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FFFFFF"/>
                </a:solidFill>
                <a:effectLst/>
                <a:latin typeface="Golos Text" panose="020B0503020202020204"/>
              </a:rPr>
              <a:t>Исслед</a:t>
            </a:r>
            <a:r>
              <a:rPr lang="ru-RU" sz="2800" b="1" u="sng" dirty="0">
                <a:solidFill>
                  <a:srgbClr val="FFFFFF"/>
                </a:solidFill>
                <a:effectLst/>
                <a:latin typeface="Golos Text" panose="020B0503020202020204"/>
              </a:rPr>
              <a:t>ова</a:t>
            </a:r>
            <a:r>
              <a:rPr lang="ru-RU" sz="2800" b="1" dirty="0">
                <a:solidFill>
                  <a:srgbClr val="FFFFFF"/>
                </a:solidFill>
                <a:effectLst/>
                <a:latin typeface="Golos Text" panose="020B0503020202020204"/>
              </a:rPr>
              <a:t>ть – исследующий – исследование компьютерных вирусов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FFFFFF"/>
                </a:solidFill>
                <a:effectLst/>
                <a:latin typeface="Golos Text" panose="020B0503020202020204"/>
              </a:rPr>
              <a:t>Улучшать – улучшающий – улучшение качества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FFFFFF"/>
                </a:solidFill>
                <a:effectLst/>
                <a:latin typeface="Golos Text" panose="020B0503020202020204"/>
              </a:rPr>
              <a:t>Уменьшать  - уменьшающий – уменьшение объёма файла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FFFFFF"/>
                </a:solidFill>
                <a:effectLst/>
                <a:latin typeface="Golos Text" panose="020B0503020202020204"/>
              </a:rPr>
              <a:t>Изменять – изменяющий – изменение данных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FFFFFF"/>
                </a:solidFill>
                <a:effectLst/>
                <a:latin typeface="Golos Text" panose="020B0503020202020204"/>
              </a:rPr>
              <a:t>Стабилизир</a:t>
            </a:r>
            <a:r>
              <a:rPr lang="ru-RU" sz="2800" b="1" u="sng" dirty="0">
                <a:solidFill>
                  <a:srgbClr val="FFFFFF"/>
                </a:solidFill>
                <a:effectLst/>
                <a:latin typeface="Golos Text" panose="020B0503020202020204"/>
              </a:rPr>
              <a:t>ова</a:t>
            </a:r>
            <a:r>
              <a:rPr lang="ru-RU" sz="2800" b="1" dirty="0">
                <a:solidFill>
                  <a:srgbClr val="FFFFFF"/>
                </a:solidFill>
                <a:effectLst/>
                <a:latin typeface="Golos Text" panose="020B0503020202020204"/>
              </a:rPr>
              <a:t>ть – стабилизирующий – стабилизация интернета, работы системы </a:t>
            </a:r>
          </a:p>
        </p:txBody>
      </p:sp>
    </p:spTree>
    <p:extLst>
      <p:ext uri="{BB962C8B-B14F-4D97-AF65-F5344CB8AC3E}">
        <p14:creationId xmlns:p14="http://schemas.microsoft.com/office/powerpoint/2010/main" val="2864503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ECA22-7247-2364-7E27-D071CF614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D979A1-737A-EF14-1852-0A4155B4EC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FFFFFF"/>
                </a:solidFill>
                <a:effectLst/>
                <a:latin typeface="Golos Text" panose="020B0503020202020204"/>
              </a:rPr>
              <a:t>Программировать – программирующий – программирование на языке </a:t>
            </a:r>
            <a:r>
              <a:rPr lang="en-US" sz="2800" b="1" dirty="0">
                <a:solidFill>
                  <a:srgbClr val="FFFFFF"/>
                </a:solidFill>
                <a:latin typeface="Golos Text" panose="020B0503020202020204"/>
              </a:rPr>
              <a:t>Java </a:t>
            </a:r>
            <a:endParaRPr lang="ru-RU" sz="2800" b="1" dirty="0">
              <a:solidFill>
                <a:srgbClr val="FFFFFF"/>
              </a:solidFill>
              <a:effectLst/>
              <a:latin typeface="Golos Text" panose="020B05030202020202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FFFFFF"/>
                </a:solidFill>
                <a:effectLst/>
                <a:latin typeface="Golos Text" panose="020B0503020202020204"/>
              </a:rPr>
              <a:t>Показывать  - показывающий – показ презентации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FFFFFF"/>
                </a:solidFill>
                <a:effectLst/>
                <a:latin typeface="Golos Text" panose="020B0503020202020204"/>
              </a:rPr>
              <a:t>Помогать –  помогающий – помощь искусственного интеллекта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FFFFFF"/>
                </a:solidFill>
                <a:effectLst/>
                <a:latin typeface="Golos Text" panose="020B0503020202020204"/>
              </a:rPr>
              <a:t>Обеспечивать – обеспечивающий – обеспечение системы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FFFFFF"/>
                </a:solidFill>
                <a:effectLst/>
                <a:latin typeface="Golos Text" panose="020B0503020202020204"/>
              </a:rPr>
              <a:t>Дополнять – дополняющий – дополнение к игре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FFFFFF"/>
                </a:solidFill>
                <a:effectLst/>
                <a:latin typeface="Golos Text" panose="020B0503020202020204"/>
              </a:rPr>
              <a:t>Защищать – защищающий – защита информации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FFFFFF"/>
                </a:solidFill>
                <a:effectLst/>
                <a:latin typeface="Golos Text" panose="020B0503020202020204"/>
              </a:rPr>
              <a:t>Выполнять – выполняющий – выполнение задачи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59243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Существительные процесс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FFFFFF"/>
                </a:solidFill>
                <a:effectLst/>
                <a:latin typeface="Golos Text" panose="020B0503020202020204"/>
              </a:rPr>
              <a:t>Сбор информации </a:t>
            </a:r>
            <a:endParaRPr lang="ru-RU" sz="2400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FFFFFF"/>
                </a:solidFill>
                <a:effectLst/>
                <a:latin typeface="Golos Text" panose="020B0503020202020204"/>
              </a:rPr>
              <a:t>Хранение данных</a:t>
            </a:r>
            <a:endParaRPr lang="ru-RU" sz="2400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FFFFFF"/>
                </a:solidFill>
                <a:effectLst/>
                <a:latin typeface="Golos Text" panose="020B0503020202020204"/>
              </a:rPr>
              <a:t>Сдача экзаменов </a:t>
            </a:r>
            <a:endParaRPr lang="ru-RU" sz="2400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FFFFFF"/>
                </a:solidFill>
                <a:effectLst/>
                <a:latin typeface="Golos Text" panose="020B0503020202020204"/>
              </a:rPr>
              <a:t>Покупка подарка</a:t>
            </a:r>
            <a:endParaRPr lang="ru-RU" sz="2400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FFFFFF"/>
                </a:solidFill>
                <a:effectLst/>
                <a:latin typeface="Golos Text" panose="020B0503020202020204"/>
              </a:rPr>
              <a:t>Обработка файлов</a:t>
            </a:r>
            <a:endParaRPr lang="ru-RU" sz="2400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FFFFFF"/>
                </a:solidFill>
                <a:effectLst/>
                <a:latin typeface="Golos Text" panose="020B0503020202020204"/>
              </a:rPr>
              <a:t>Сбор</a:t>
            </a:r>
            <a:r>
              <a:rPr lang="ru-RU" sz="2400" b="1" dirty="0">
                <a:solidFill>
                  <a:schemeClr val="accent1"/>
                </a:solidFill>
                <a:effectLst/>
                <a:latin typeface="Golos Text" panose="020B0503020202020204"/>
              </a:rPr>
              <a:t>ка </a:t>
            </a:r>
            <a:r>
              <a:rPr lang="ru-RU" sz="2400" b="1" dirty="0">
                <a:solidFill>
                  <a:srgbClr val="FFFFFF"/>
                </a:solidFill>
                <a:effectLst/>
                <a:latin typeface="Golos Text" panose="020B0503020202020204"/>
              </a:rPr>
              <a:t>шкафа</a:t>
            </a:r>
            <a:endParaRPr lang="ru-RU" sz="2400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FFFFFF"/>
                </a:solidFill>
                <a:effectLst/>
                <a:latin typeface="Golos Text" panose="020B0503020202020204"/>
              </a:rPr>
              <a:t>Объединение сетей</a:t>
            </a:r>
            <a:endParaRPr lang="ru-RU" sz="2400" b="1" dirty="0"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11940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EA8CF-9607-E1FB-0FB4-9210DB82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7CEE26-DCCA-7BD8-CB8C-366AF315DD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FFFFFF"/>
                </a:solidFill>
                <a:effectLst/>
                <a:latin typeface="Golos Text" panose="020B0503020202020204"/>
              </a:rPr>
              <a:t>Архиватор</a:t>
            </a:r>
            <a:endParaRPr lang="ru-RU" sz="2400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FFFFFF"/>
                </a:solidFill>
                <a:effectLst/>
                <a:latin typeface="Golos Text" panose="020B0503020202020204"/>
              </a:rPr>
              <a:t>Информатика</a:t>
            </a:r>
            <a:endParaRPr lang="ru-RU" sz="2400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FFFFFF"/>
                </a:solidFill>
                <a:effectLst/>
                <a:latin typeface="Golos Text" panose="020B0503020202020204"/>
              </a:rPr>
              <a:t>Браузер</a:t>
            </a:r>
            <a:endParaRPr lang="ru-RU" sz="2400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FFFFFF"/>
                </a:solidFill>
                <a:effectLst/>
                <a:latin typeface="Golos Text" panose="020B0503020202020204"/>
              </a:rPr>
              <a:t>Беспроводная сеть</a:t>
            </a:r>
            <a:endParaRPr lang="ru-RU" sz="2400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FFFFFF"/>
                </a:solidFill>
                <a:effectLst/>
                <a:latin typeface="Golos Text" panose="020B0503020202020204"/>
              </a:rPr>
              <a:t>Каталог</a:t>
            </a:r>
            <a:endParaRPr lang="ru-RU" sz="2400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rgbClr val="FFFFFF"/>
                </a:solidFill>
                <a:effectLst/>
                <a:latin typeface="Golos Text" panose="020B0503020202020204"/>
              </a:rPr>
              <a:t>Операционная система </a:t>
            </a:r>
            <a:endParaRPr lang="ru-RU" sz="2400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effectLst/>
              </a:rPr>
              <a:t> Оперативная память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6451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F8759-927F-631F-D48D-66E6093D4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Билет для экзамена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2BDA7B-09A0-90D4-5E0F-BC06D9B304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2400" dirty="0">
                <a:solidFill>
                  <a:srgbClr val="FFFFFF"/>
                </a:solidFill>
                <a:effectLst/>
                <a:latin typeface="Golos Text" panose="020B0503020202020204"/>
              </a:rPr>
              <a:t>Наушники являются дополнительным внешним устройством для вывода звука. </a:t>
            </a:r>
            <a:endParaRPr lang="ru-RU" sz="2400" dirty="0">
              <a:effectLst/>
            </a:endParaRPr>
          </a:p>
          <a:p>
            <a:r>
              <a:rPr lang="ru-RU" sz="2400" dirty="0">
                <a:solidFill>
                  <a:srgbClr val="FFFFFF"/>
                </a:solidFill>
                <a:effectLst/>
                <a:latin typeface="Golos Text" panose="020B0503020202020204"/>
              </a:rPr>
              <a:t>____________ называть____________</a:t>
            </a:r>
            <a:endParaRPr lang="ru-RU" sz="2400" dirty="0">
              <a:effectLst/>
            </a:endParaRPr>
          </a:p>
          <a:p>
            <a:r>
              <a:rPr lang="ru-RU" sz="2400" b="1" dirty="0">
                <a:solidFill>
                  <a:srgbClr val="FFFFFF"/>
                </a:solidFill>
                <a:effectLst/>
                <a:latin typeface="Golos Text" panose="020B0503020202020204"/>
              </a:rPr>
              <a:t>2. Сделайте существительные со значением “процесс” от следующих глаголов: </a:t>
            </a:r>
            <a:endParaRPr lang="ru-RU" sz="2400" dirty="0">
              <a:effectLst/>
            </a:endParaRPr>
          </a:p>
          <a:p>
            <a:r>
              <a:rPr lang="ru-RU" sz="2400" dirty="0">
                <a:solidFill>
                  <a:srgbClr val="FFFFFF"/>
                </a:solidFill>
                <a:effectLst/>
                <a:latin typeface="Golos Text" panose="020B0503020202020204"/>
              </a:rPr>
              <a:t>Изобретать; защищать</a:t>
            </a:r>
            <a:endParaRPr lang="ru-RU" sz="2400" dirty="0">
              <a:effectLst/>
            </a:endParaRPr>
          </a:p>
          <a:p>
            <a:r>
              <a:rPr lang="ru-RU" sz="2400" b="1" dirty="0">
                <a:solidFill>
                  <a:srgbClr val="FFFFFF"/>
                </a:solidFill>
                <a:effectLst/>
                <a:latin typeface="Golos Text" panose="020B0503020202020204"/>
              </a:rPr>
              <a:t>3. Дайте определения терминам: </a:t>
            </a:r>
            <a:endParaRPr lang="ru-RU" sz="2400" dirty="0">
              <a:effectLst/>
            </a:endParaRPr>
          </a:p>
          <a:p>
            <a:r>
              <a:rPr lang="ru-RU" sz="2400" dirty="0">
                <a:solidFill>
                  <a:srgbClr val="FFFFFF"/>
                </a:solidFill>
                <a:effectLst/>
                <a:latin typeface="Golos Text" panose="020B0503020202020204"/>
              </a:rPr>
              <a:t>Аутентификация, ПЗУ</a:t>
            </a:r>
            <a:endParaRPr lang="ru-RU" sz="2400" dirty="0"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51600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14D97-67A7-FCD6-7BE7-42D670CA2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Правила защиты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0D72E3-6B4D-3018-19B9-AD6E97BC72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FFFFF"/>
                </a:solidFill>
                <a:effectLst/>
                <a:latin typeface="Golos Text" panose="020B0503020202020204"/>
              </a:rPr>
              <a:t>На защиту презентации студенту даётся 4 минуты</a:t>
            </a:r>
            <a:endParaRPr lang="ru-RU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FFFFF"/>
                </a:solidFill>
                <a:effectLst/>
                <a:latin typeface="Golos Text" panose="020B0503020202020204"/>
              </a:rPr>
              <a:t>Нужно рассказывать презентацию, а не читать текст со слайда</a:t>
            </a:r>
            <a:endParaRPr lang="ru-RU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FFFFF"/>
                </a:solidFill>
                <a:effectLst/>
                <a:latin typeface="Golos Text" panose="020B0503020202020204"/>
              </a:rPr>
              <a:t>На слайде не должно быть много текста.</a:t>
            </a:r>
            <a:endParaRPr lang="ru-RU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FFFFF"/>
                </a:solidFill>
                <a:effectLst/>
                <a:latin typeface="Golos Text" panose="020B0503020202020204"/>
              </a:rPr>
              <a:t>Все слова, которые вы используете в презентации, вы должны знать и понимать, что они значат.</a:t>
            </a:r>
            <a:endParaRPr lang="ru-RU" sz="20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FFFFF"/>
                </a:solidFill>
                <a:effectLst/>
                <a:latin typeface="Golos Text" panose="020B0503020202020204"/>
              </a:rPr>
              <a:t>В конце презентации у вас будет два вопроса: один по материалам презентации, а другое на знание грамматических конструкций в презентации. </a:t>
            </a:r>
            <a:endParaRPr lang="ru-RU" sz="2000" dirty="0"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08764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953E4E-A1CF-A491-C944-CD1EB512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B3BBCF-420D-8085-DA52-94E94C14E8B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757" y="204544"/>
            <a:ext cx="7168791" cy="3735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688B72-FC56-8D2F-011E-8AFD62DBB586}"/>
              </a:ext>
            </a:extLst>
          </p:cNvPr>
          <p:cNvSpPr txBox="1"/>
          <p:nvPr/>
        </p:nvSpPr>
        <p:spPr>
          <a:xfrm>
            <a:off x="404884" y="4041822"/>
            <a:ext cx="69290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5. Заявление было написано студентом. Ректор подписал документ. </a:t>
            </a:r>
          </a:p>
          <a:p>
            <a:r>
              <a:rPr lang="ru-RU" dirty="0">
                <a:solidFill>
                  <a:schemeClr val="bg1"/>
                </a:solidFill>
              </a:rPr>
              <a:t> 6. Молодой учитель тщательно планировал каждый урок. </a:t>
            </a:r>
          </a:p>
          <a:p>
            <a:r>
              <a:rPr lang="ru-RU" dirty="0">
                <a:solidFill>
                  <a:schemeClr val="bg1"/>
                </a:solidFill>
              </a:rPr>
              <a:t>7. Студенты на первом курсе изучали социологию </a:t>
            </a:r>
            <a:r>
              <a:rPr lang="ru-RU">
                <a:solidFill>
                  <a:schemeClr val="bg1"/>
                </a:solidFill>
              </a:rPr>
              <a:t>и философию. </a:t>
            </a:r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7404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7905</TotalTime>
  <Words>822</Words>
  <Application>Microsoft Office PowerPoint</Application>
  <PresentationFormat>Экран (16:9)</PresentationFormat>
  <Paragraphs>152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1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Подготовка к контрольной работе</vt:lpstr>
      <vt:lpstr>Абонент</vt:lpstr>
      <vt:lpstr>Архиватор</vt:lpstr>
      <vt:lpstr>Аутентификация </vt:lpstr>
      <vt:lpstr>База данных</vt:lpstr>
      <vt:lpstr>Бит</vt:lpstr>
      <vt:lpstr>Беспроводная сеть </vt:lpstr>
      <vt:lpstr>Браузер</vt:lpstr>
      <vt:lpstr>Буфер</vt:lpstr>
      <vt:lpstr>Видеокарта</vt:lpstr>
      <vt:lpstr>Вирус</vt:lpstr>
      <vt:lpstr>Внешняя память </vt:lpstr>
      <vt:lpstr>Гиперссылка</vt:lpstr>
      <vt:lpstr>Звуковой адаптер </vt:lpstr>
      <vt:lpstr>Интерфейс</vt:lpstr>
      <vt:lpstr>Каталог</vt:lpstr>
      <vt:lpstr>Кодирование</vt:lpstr>
      <vt:lpstr>Команда </vt:lpstr>
      <vt:lpstr>Компьютерная этика</vt:lpstr>
      <vt:lpstr>Манипулятор</vt:lpstr>
      <vt:lpstr>Модем</vt:lpstr>
      <vt:lpstr>Оперативная память </vt:lpstr>
      <vt:lpstr>Операционная система </vt:lpstr>
      <vt:lpstr>ПЗУ</vt:lpstr>
      <vt:lpstr>Кроссворд</vt:lpstr>
      <vt:lpstr>Конструкции определения</vt:lpstr>
      <vt:lpstr>Презентация PowerPoint</vt:lpstr>
      <vt:lpstr>Причастия (активные НВ)</vt:lpstr>
      <vt:lpstr>Презентация PowerPoint</vt:lpstr>
      <vt:lpstr>Существительные процесс</vt:lpstr>
      <vt:lpstr>Презентация PowerPoint</vt:lpstr>
      <vt:lpstr>Билет для экзамена </vt:lpstr>
      <vt:lpstr>Правила защиты презентации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Смирнов Петр Александрович</cp:lastModifiedBy>
  <cp:revision>205</cp:revision>
  <dcterms:created xsi:type="dcterms:W3CDTF">2014-06-27T12:30:22Z</dcterms:created>
  <dcterms:modified xsi:type="dcterms:W3CDTF">2024-12-13T13:44:40Z</dcterms:modified>
</cp:coreProperties>
</file>