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0" d="100"/>
          <a:sy n="110" d="100"/>
        </p:scale>
        <p:origin x="667" y="6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kfql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dt="0" ftr="1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Финал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dt="0" ftr="1" hdr="0" sldNum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0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1" hdr="0" sldNum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killbox.ru/media/code/yazyk-s-gde-ispolzuyut-chto-pishut-kak-poyavilsya-i-chem-khorosh/" TargetMode="External"/><Relationship Id="rId3" Type="http://schemas.openxmlformats.org/officeDocument/2006/relationships/hyperlink" Target="https://habr.com/ru/articles/722586/" TargetMode="Externa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iveworksheets.com/w/ru/russkiy-yazyk-kak-inostrannyy-rki/7012601" TargetMode="Externa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Модели функции.</a:t>
            </a:r>
            <a:br>
              <a:rPr lang="ru-RU" sz="4400">
                <a:solidFill>
                  <a:schemeClr val="bg1"/>
                </a:solidFill>
              </a:rPr>
            </a:br>
            <a:r>
              <a:rPr lang="ru-RU" sz="4400">
                <a:solidFill>
                  <a:schemeClr val="bg1"/>
                </a:solidFill>
              </a:rPr>
              <a:t>Языки программирования.</a:t>
            </a: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Модели функции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marL="342900" indent="-342900">
              <a:buAutoNum type="arabicPeriod"/>
              <a:defRPr/>
            </a:pPr>
            <a:r>
              <a:rPr lang="ru-RU" sz="2800"/>
              <a:t>Что нужно для чего? </a:t>
            </a:r>
            <a:endParaRPr sz="2800">
              <a:latin typeface="Arial Rounded MT Bold"/>
            </a:endParaRPr>
          </a:p>
          <a:p>
            <a:pPr marL="342900" indent="-342900">
              <a:buAutoNum type="arabicPeriod"/>
              <a:defRPr/>
            </a:pPr>
            <a:r>
              <a:rPr lang="ru-RU" sz="2800"/>
              <a:t>Что предназначено</a:t>
            </a:r>
            <a:r>
              <a:rPr lang="ru-RU" sz="2800" b="1"/>
              <a:t> </a:t>
            </a:r>
            <a:r>
              <a:rPr lang="ru-RU" sz="2800"/>
              <a:t>для </a:t>
            </a:r>
            <a:r>
              <a:rPr lang="ru-RU" sz="2800"/>
              <a:t>чего? 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2800"/>
              <a:t>Что позволяет что делать? </a:t>
            </a:r>
            <a:endParaRPr sz="2800">
              <a:latin typeface="Arial Rounded MT Bold"/>
            </a:endParaRPr>
          </a:p>
          <a:p>
            <a:pPr marL="342900" indent="-342900">
              <a:buAutoNum type="arabicPeriod"/>
              <a:defRPr/>
            </a:pPr>
            <a:r>
              <a:rPr lang="ru-RU" sz="2800"/>
              <a:t>Что </a:t>
            </a:r>
            <a:r>
              <a:rPr lang="ru-RU" sz="2800"/>
              <a:t>служит для </a:t>
            </a:r>
            <a:r>
              <a:rPr lang="ru-RU" sz="2800"/>
              <a:t>чего? </a:t>
            </a:r>
            <a:endParaRPr sz="2800">
              <a:latin typeface="Arial Rounded MT Bold"/>
            </a:endParaRPr>
          </a:p>
          <a:p>
            <a:pPr marL="342900" indent="-342900">
              <a:buAutoNum type="arabicPeriod"/>
              <a:defRPr/>
            </a:pPr>
            <a:r>
              <a:rPr lang="ru-RU" sz="2800"/>
              <a:t>Что используется для чего?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2800"/>
              <a:t>Что используют для чего? </a:t>
            </a:r>
            <a:endParaRPr sz="2800">
              <a:latin typeface="Arial Rounded MT Bold"/>
            </a:endParaRPr>
          </a:p>
          <a:p>
            <a:pPr>
              <a:defRPr/>
            </a:pPr>
            <a:r>
              <a:rPr lang="ru-RU" sz="2800"/>
              <a:t>7. Что </a:t>
            </a:r>
            <a:r>
              <a:rPr lang="ru-RU" sz="2800"/>
              <a:t>+ </a:t>
            </a:r>
            <a:r>
              <a:rPr lang="ru-RU" sz="2800"/>
              <a:t>подходит </a:t>
            </a:r>
            <a:r>
              <a:rPr lang="ru-RU" sz="2800"/>
              <a:t>+ для чего. </a:t>
            </a:r>
            <a:endParaRPr sz="2800">
              <a:latin typeface="Arial Rounded MT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69284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4990451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sz="2600"/>
              <a:t>Для + существительное (п2) </a:t>
            </a:r>
            <a:endParaRPr sz="2600"/>
          </a:p>
          <a:p>
            <a:pPr>
              <a:defRPr/>
            </a:pPr>
            <a:r>
              <a:rPr sz="2600"/>
              <a:t>Для того, чтобы + глагол 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Для чего </a:t>
            </a:r>
            <a:r>
              <a:rPr lang="en-US"/>
              <a:t> </a:t>
            </a:r>
            <a:r>
              <a:rPr lang="ru-RU"/>
              <a:t>Для того, чтобы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 flipH="0" flipV="0">
            <a:off x="390231" y="833718"/>
            <a:ext cx="8019726" cy="438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ru-RU" sz="2200"/>
              <a:t>Клавиатура нужна для того, чтобы вводить информацию. </a:t>
            </a:r>
            <a:endParaRPr lang="ru-RU" sz="2200"/>
          </a:p>
          <a:p>
            <a:pPr>
              <a:defRPr/>
            </a:pPr>
            <a:r>
              <a:rPr lang="ru-RU" sz="2200"/>
              <a:t>Клавиатура подходит для ввода информации. </a:t>
            </a:r>
            <a:endParaRPr sz="2000"/>
          </a:p>
          <a:p>
            <a:pPr marL="342900" indent="-342900">
              <a:buAutoNum type="arabicPeriod"/>
              <a:defRPr/>
            </a:pPr>
            <a:r>
              <a:rPr lang="ru-RU" sz="2200"/>
              <a:t>Язык программирования используется для создания компьютерных программ.</a:t>
            </a:r>
            <a:endParaRPr lang="ru-RU" sz="2200"/>
          </a:p>
          <a:p>
            <a:pPr>
              <a:defRPr/>
            </a:pPr>
            <a:r>
              <a:rPr lang="ru-RU" sz="2200"/>
              <a:t>ЯП нужен для того, чтобы создавать компьютерные программы. </a:t>
            </a:r>
            <a:endParaRPr sz="2000"/>
          </a:p>
          <a:p>
            <a:pPr marL="342900" indent="-342900">
              <a:buAutoNum type="arabicPeriod"/>
              <a:defRPr/>
            </a:pPr>
            <a:r>
              <a:rPr lang="ru-RU" sz="2200"/>
              <a:t>Компьютерные программы предназначены для решения задач пользователя. </a:t>
            </a:r>
            <a:endParaRPr lang="ru-RU" sz="2200"/>
          </a:p>
          <a:p>
            <a:pPr>
              <a:defRPr/>
            </a:pPr>
            <a:r>
              <a:rPr lang="ru-RU" sz="2200"/>
              <a:t>КП используют для того, чтобы решать задачи пользователя. </a:t>
            </a:r>
            <a:endParaRPr sz="2000"/>
          </a:p>
          <a:p>
            <a:pPr marL="342900" indent="-342900">
              <a:buAutoNum type="arabicPeriod"/>
              <a:defRPr/>
            </a:pPr>
            <a:r>
              <a:rPr lang="ru-RU" sz="2200"/>
              <a:t>Амперметр служит для измерения силы тока.</a:t>
            </a:r>
            <a:endParaRPr lang="ru-RU" sz="2200"/>
          </a:p>
          <a:p>
            <a:pPr>
              <a:defRPr/>
            </a:pPr>
            <a:r>
              <a:rPr lang="ru-RU" sz="2200"/>
              <a:t>Амперметр предназначен для того, чтобы измерять силу тока. </a:t>
            </a:r>
            <a:endParaRPr sz="2000"/>
          </a:p>
          <a:p>
            <a:pPr marL="342900" indent="-342900">
              <a:buAutoNum type="arabicPeriod"/>
              <a:defRPr/>
            </a:pPr>
            <a:r>
              <a:rPr lang="ru-RU" sz="2200"/>
              <a:t>Робот-пылесос подходит для уборки помещений. </a:t>
            </a:r>
            <a:endParaRPr lang="ru-RU" sz="2200"/>
          </a:p>
          <a:p>
            <a:pPr>
              <a:defRPr/>
            </a:pPr>
            <a:r>
              <a:rPr lang="ru-RU" sz="2200"/>
              <a:t>используется для тог, чтобы убирать помещения</a:t>
            </a:r>
            <a:endParaRPr sz="2000"/>
          </a:p>
          <a:p>
            <a:pPr marL="342900" indent="-342900">
              <a:buAutoNum type="arabicPeriod"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59642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1194756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sz="2200"/>
              <a:t>-бир- (убирать, собирать, выбирать, набирать) – НСВ</a:t>
            </a:r>
            <a:endParaRPr sz="2200"/>
          </a:p>
          <a:p>
            <a:pPr>
              <a:defRPr/>
            </a:pPr>
            <a:r>
              <a:rPr sz="2200"/>
              <a:t>-бр- (убрать, собрать, выбрать, набрать) _СВ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sz="2200"/>
              <a:t>-бор- (уборКа, сбор / сборка, выбор, набор) - процесс</a:t>
            </a:r>
            <a:endParaRPr sz="2200"/>
          </a:p>
          <a:p>
            <a:pPr>
              <a:defRPr/>
            </a:pP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8769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Определение</a:t>
            </a:r>
            <a:endParaRPr/>
          </a:p>
        </p:txBody>
      </p:sp>
      <p:sp>
        <p:nvSpPr>
          <p:cNvPr id="83216318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Что</a:t>
            </a:r>
            <a:r>
              <a:rPr sz="1800"/>
              <a:t> – </a:t>
            </a:r>
            <a:r>
              <a:rPr sz="1800"/>
              <a:t>это</a:t>
            </a:r>
            <a:r>
              <a:rPr sz="1800"/>
              <a:t> </a:t>
            </a:r>
            <a:r>
              <a:rPr sz="1800"/>
              <a:t>что</a:t>
            </a:r>
            <a:r>
              <a:rPr sz="1800"/>
              <a:t>. 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Что</a:t>
            </a:r>
            <a:r>
              <a:rPr sz="1800"/>
              <a:t> (п1) </a:t>
            </a:r>
            <a:r>
              <a:rPr lang="ru-RU" sz="1800"/>
              <a:t>представляет собой </a:t>
            </a:r>
            <a:r>
              <a:rPr sz="1800"/>
              <a:t>что</a:t>
            </a:r>
            <a:r>
              <a:rPr sz="1800"/>
              <a:t> </a:t>
            </a:r>
            <a:r>
              <a:rPr sz="1800"/>
              <a:t>(П4).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Что</a:t>
            </a:r>
            <a:r>
              <a:rPr sz="1800"/>
              <a:t> (п1 = </a:t>
            </a:r>
            <a:r>
              <a:rPr sz="1800"/>
              <a:t>термин</a:t>
            </a:r>
            <a:r>
              <a:rPr sz="1800"/>
              <a:t>) является</a:t>
            </a:r>
            <a:r>
              <a:rPr sz="1800"/>
              <a:t> </a:t>
            </a:r>
            <a:r>
              <a:rPr sz="1800"/>
              <a:t>чем</a:t>
            </a:r>
            <a:r>
              <a:rPr sz="1800"/>
              <a:t> (П5). 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Под</a:t>
            </a:r>
            <a:r>
              <a:rPr sz="1800"/>
              <a:t> </a:t>
            </a:r>
            <a:r>
              <a:rPr sz="1800"/>
              <a:t>чем</a:t>
            </a:r>
            <a:r>
              <a:rPr sz="1800"/>
              <a:t> </a:t>
            </a:r>
            <a:r>
              <a:rPr lang="ru-RU" sz="1800"/>
              <a:t>понимается</a:t>
            </a:r>
            <a:r>
              <a:rPr sz="1800"/>
              <a:t> </a:t>
            </a:r>
            <a:r>
              <a:rPr sz="1800"/>
              <a:t>что</a:t>
            </a:r>
            <a:r>
              <a:rPr sz="1800"/>
              <a:t> (п1).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Под</a:t>
            </a:r>
            <a:r>
              <a:rPr sz="1800"/>
              <a:t> </a:t>
            </a:r>
            <a:r>
              <a:rPr lang="ru-RU" sz="1800"/>
              <a:t>чем</a:t>
            </a:r>
            <a:r>
              <a:rPr sz="1800"/>
              <a:t> </a:t>
            </a:r>
            <a:r>
              <a:rPr sz="1800"/>
              <a:t>понима</a:t>
            </a:r>
            <a:r>
              <a:rPr sz="1800">
                <a:solidFill>
                  <a:schemeClr val="accent1"/>
                </a:solidFill>
              </a:rPr>
              <a:t>ют</a:t>
            </a:r>
            <a:r>
              <a:rPr sz="1800">
                <a:solidFill>
                  <a:schemeClr val="accent1"/>
                </a:solidFill>
              </a:rPr>
              <a:t> </a:t>
            </a:r>
            <a:r>
              <a:rPr sz="1800"/>
              <a:t>что</a:t>
            </a:r>
            <a:r>
              <a:rPr sz="1800"/>
              <a:t> (п4). 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Что</a:t>
            </a:r>
            <a:r>
              <a:rPr sz="1800"/>
              <a:t> (п1) </a:t>
            </a:r>
            <a:r>
              <a:rPr sz="1800"/>
              <a:t>называется</a:t>
            </a:r>
            <a:r>
              <a:rPr sz="1800"/>
              <a:t> </a:t>
            </a:r>
            <a:r>
              <a:rPr sz="1800"/>
              <a:t>чем</a:t>
            </a:r>
            <a:r>
              <a:rPr sz="1800"/>
              <a:t> (</a:t>
            </a:r>
            <a:r>
              <a:rPr sz="1800"/>
              <a:t>термин</a:t>
            </a:r>
            <a:r>
              <a:rPr sz="1800"/>
              <a:t>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Что</a:t>
            </a:r>
            <a:r>
              <a:rPr sz="1800"/>
              <a:t> (п4) </a:t>
            </a:r>
            <a:r>
              <a:rPr sz="1800"/>
              <a:t>называют</a:t>
            </a:r>
            <a:r>
              <a:rPr sz="1800"/>
              <a:t> </a:t>
            </a:r>
            <a:r>
              <a:rPr lang="ru-RU" sz="1800"/>
              <a:t>чем</a:t>
            </a:r>
            <a:r>
              <a:rPr sz="1800"/>
              <a:t>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(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термин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)</a:t>
            </a:r>
            <a:r>
              <a:rPr sz="1800"/>
              <a:t>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 marL="457200" indent="-457200">
              <a:buAutoNum type="arabicPeriod"/>
              <a:defRPr/>
            </a:pPr>
            <a:r>
              <a:rPr lang="ru-RU" sz="2000"/>
              <a:t>Языком программирования является формальный язык для записи компьютерных программ. </a:t>
            </a:r>
            <a:endParaRPr/>
          </a:p>
          <a:p>
            <a:pPr>
              <a:defRPr/>
            </a:pP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45010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характеристика</a:t>
            </a:r>
            <a:endParaRPr/>
          </a:p>
        </p:txBody>
      </p:sp>
      <p:sp>
        <p:nvSpPr>
          <p:cNvPr id="214662342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200"/>
              <a:t>Существ</a:t>
            </a:r>
            <a:r>
              <a:rPr sz="2200"/>
              <a:t> + </a:t>
            </a:r>
            <a:r>
              <a:rPr sz="2200"/>
              <a:t>прил</a:t>
            </a:r>
            <a:r>
              <a:rPr sz="2200"/>
              <a:t> / </a:t>
            </a:r>
            <a:endParaRPr sz="2200"/>
          </a:p>
          <a:p>
            <a:pPr marL="239820" indent="-239820">
              <a:buSzPct val="100000"/>
              <a:buFont typeface="Arial"/>
              <a:buAutoNum type="arabicPeriod"/>
              <a:defRPr/>
            </a:pPr>
            <a:r>
              <a:rPr sz="2200"/>
              <a:t>существ</a:t>
            </a:r>
            <a:r>
              <a:rPr sz="2200"/>
              <a:t> + </a:t>
            </a:r>
            <a:r>
              <a:rPr sz="2200"/>
              <a:t>кр</a:t>
            </a:r>
            <a:r>
              <a:rPr sz="2200"/>
              <a:t>. </a:t>
            </a:r>
            <a:r>
              <a:rPr lang="ru-RU" sz="2200"/>
              <a:t>Прил. </a:t>
            </a:r>
            <a:endParaRPr lang="ru-RU" sz="2200"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200"/>
              <a:t>Что</a:t>
            </a:r>
            <a:r>
              <a:rPr sz="2200"/>
              <a:t> </a:t>
            </a:r>
            <a:r>
              <a:rPr sz="2200"/>
              <a:t>+ </a:t>
            </a:r>
            <a:r>
              <a:rPr sz="2200"/>
              <a:t>облад</a:t>
            </a:r>
            <a:r>
              <a:rPr sz="2200">
                <a:solidFill>
                  <a:schemeClr val="accent1"/>
                </a:solidFill>
              </a:rPr>
              <a:t>ать</a:t>
            </a:r>
            <a:r>
              <a:rPr sz="2200"/>
              <a:t> / </a:t>
            </a:r>
            <a:r>
              <a:rPr sz="2200"/>
              <a:t>характеризоваться</a:t>
            </a:r>
            <a:r>
              <a:rPr sz="2200"/>
              <a:t> / </a:t>
            </a:r>
            <a:r>
              <a:rPr sz="2200"/>
              <a:t>отличаться</a:t>
            </a:r>
            <a:r>
              <a:rPr sz="2200"/>
              <a:t> + </a:t>
            </a:r>
            <a:r>
              <a:rPr lang="ru-RU" sz="2200"/>
              <a:t>чем </a:t>
            </a:r>
            <a:r>
              <a:rPr sz="2200"/>
              <a:t> </a:t>
            </a:r>
            <a:endParaRPr lang="ru-RU" sz="2200"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200"/>
              <a:t>Что</a:t>
            </a:r>
            <a:r>
              <a:rPr sz="2200"/>
              <a:t> </a:t>
            </a:r>
            <a:r>
              <a:rPr sz="2200"/>
              <a:t>(</a:t>
            </a:r>
            <a:r>
              <a:rPr sz="2200"/>
              <a:t>объект</a:t>
            </a:r>
            <a:r>
              <a:rPr sz="2200"/>
              <a:t> П4) + </a:t>
            </a:r>
            <a:r>
              <a:rPr lang="ru-RU" sz="2200"/>
              <a:t>отличает / характеризует </a:t>
            </a:r>
            <a:r>
              <a:rPr sz="2200"/>
              <a:t> </a:t>
            </a:r>
            <a:r>
              <a:rPr sz="2200"/>
              <a:t>+ </a:t>
            </a:r>
            <a:r>
              <a:rPr sz="2200"/>
              <a:t>что</a:t>
            </a:r>
            <a:endParaRPr sz="2200"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200"/>
              <a:t>Для</a:t>
            </a:r>
            <a:r>
              <a:rPr sz="2200"/>
              <a:t> </a:t>
            </a:r>
            <a:r>
              <a:rPr lang="ru-RU" sz="2200"/>
              <a:t>чего</a:t>
            </a:r>
            <a:r>
              <a:rPr sz="2200"/>
              <a:t> </a:t>
            </a:r>
            <a:r>
              <a:rPr sz="2200"/>
              <a:t>+ </a:t>
            </a:r>
            <a:r>
              <a:rPr sz="2200"/>
              <a:t>характерно</a:t>
            </a:r>
            <a:r>
              <a:rPr sz="2200"/>
              <a:t> + </a:t>
            </a:r>
            <a:r>
              <a:rPr sz="2200"/>
              <a:t>что</a:t>
            </a:r>
            <a:r>
              <a:rPr sz="2200"/>
              <a:t>.</a:t>
            </a:r>
            <a:endParaRPr sz="2200"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lang="ru-RU" sz="2200"/>
              <a:t>Чему</a:t>
            </a:r>
            <a:r>
              <a:rPr sz="2200"/>
              <a:t> </a:t>
            </a:r>
            <a:r>
              <a:rPr sz="2200"/>
              <a:t>+ </a:t>
            </a:r>
            <a:r>
              <a:rPr sz="2200"/>
              <a:t>присуще</a:t>
            </a:r>
            <a:r>
              <a:rPr sz="2200"/>
              <a:t> / </a:t>
            </a:r>
            <a:r>
              <a:rPr sz="2200"/>
              <a:t>свойственно</a:t>
            </a:r>
            <a:r>
              <a:rPr sz="2200"/>
              <a:t> + </a:t>
            </a:r>
            <a:r>
              <a:rPr sz="2200"/>
              <a:t>что</a:t>
            </a:r>
            <a:endParaRPr sz="2200"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66217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>
                <a:solidFill>
                  <a:srgbClr val="7030A0"/>
                </a:solidFill>
              </a:rPr>
              <a:t>Причина  </a:t>
            </a:r>
            <a:r>
              <a:rPr>
                <a:solidFill>
                  <a:schemeClr val="accent1"/>
                </a:solidFill>
              </a:rPr>
              <a:t>результат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5729838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000"/>
              <a:t>Что + связано с чем. (</a:t>
            </a:r>
            <a:r>
              <a:rPr sz="2000">
                <a:solidFill>
                  <a:schemeClr val="accent1"/>
                </a:solidFill>
              </a:rPr>
              <a:t>Повышение цен</a:t>
            </a:r>
            <a:r>
              <a:rPr sz="2000"/>
              <a:t> на продукты связано </a:t>
            </a:r>
            <a:r>
              <a:rPr sz="2000">
                <a:solidFill>
                  <a:srgbClr val="7030A0"/>
                </a:solidFill>
              </a:rPr>
              <a:t>с глобальным потеплением</a:t>
            </a:r>
            <a:r>
              <a:rPr sz="2000"/>
              <a:t>). 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000"/>
              <a:t>Что + приводить / привести + к чему (</a:t>
            </a:r>
            <a:r>
              <a:rPr sz="2000">
                <a:solidFill>
                  <a:srgbClr val="7030A0"/>
                </a:solidFill>
              </a:rPr>
              <a:t>Глобальное потепление</a:t>
            </a:r>
            <a:r>
              <a:rPr sz="2000"/>
              <a:t> привело к </a:t>
            </a:r>
            <a:r>
              <a:rPr sz="2000">
                <a:solidFill>
                  <a:schemeClr val="accent1"/>
                </a:solidFill>
              </a:rPr>
              <a:t>повышению цен</a:t>
            </a:r>
            <a:r>
              <a:rPr sz="2000"/>
              <a:t> на продукт).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000"/>
              <a:t>Что + обусловлено + чем (</a:t>
            </a:r>
            <a:r>
              <a:rPr sz="2000">
                <a:solidFill>
                  <a:schemeClr val="accent1"/>
                </a:solidFill>
              </a:rPr>
              <a:t>Повышение цен</a:t>
            </a:r>
            <a:r>
              <a:rPr sz="2000"/>
              <a:t> обусловлено </a:t>
            </a:r>
            <a:r>
              <a:rPr sz="2000">
                <a:solidFill>
                  <a:srgbClr val="7030A0"/>
                </a:solidFill>
              </a:rPr>
              <a:t>глобальным потеплением</a:t>
            </a:r>
            <a:r>
              <a:rPr sz="2000"/>
              <a:t>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000"/>
              <a:t>Что + способствует + чему (</a:t>
            </a:r>
            <a:r>
              <a:rPr sz="2000">
                <a:solidFill>
                  <a:srgbClr val="7030A0"/>
                </a:solidFill>
              </a:rPr>
              <a:t>Глобальное потепление </a:t>
            </a:r>
            <a:r>
              <a:rPr sz="2000"/>
              <a:t>способствует </a:t>
            </a:r>
            <a:r>
              <a:rPr sz="2000">
                <a:solidFill>
                  <a:schemeClr val="accent1"/>
                </a:solidFill>
              </a:rPr>
              <a:t>повышению цен на продукты</a:t>
            </a:r>
            <a:r>
              <a:rPr sz="2000"/>
              <a:t>). 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2000"/>
              <a:t>Благодаря / из-за (Из-за глобального потепления цены повышаются / происходит повышение цен).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4" name="Объект 3"/>
          <p:cNvGraphicFramePr>
            <a:graphicFrameLocks xmlns:a="http://schemas.openxmlformats.org/drawingml/2006/main" noGrp="1"/>
          </p:cNvGraphicFramePr>
          <p:nvPr>
            <p:ph sz="half" idx="1"/>
          </p:nvPr>
        </p:nvGraphicFramePr>
        <p:xfrm>
          <a:off x="651164" y="1025843"/>
          <a:ext cx="7467600" cy="31343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733800"/>
                <a:gridCol w="3733800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Причина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Результат</a:t>
                      </a:r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Повышение</a:t>
                      </a:r>
                      <a:r>
                        <a:rPr lang="ru-RU" sz="1800"/>
                        <a:t> цены товара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Понижение покупательского</a:t>
                      </a:r>
                      <a:r>
                        <a:rPr lang="ru-RU" sz="1800"/>
                        <a:t> спроса</a:t>
                      </a:r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Перегрузка</a:t>
                      </a:r>
                      <a:r>
                        <a:rPr lang="ru-RU" sz="1800"/>
                        <a:t> памяти устройства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Медленная работа системы</a:t>
                      </a:r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Сложный</a:t>
                      </a:r>
                      <a:r>
                        <a:rPr lang="ru-RU" sz="1800"/>
                        <a:t> синтаксис языка программирования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Трудности при изучении</a:t>
                      </a:r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Необходимость</a:t>
                      </a:r>
                      <a:r>
                        <a:rPr lang="ru-RU" sz="1800"/>
                        <a:t> повысить прочность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Использование алмазной крошки</a:t>
                      </a:r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Снижение температуры 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Сбои</a:t>
                      </a:r>
                      <a:r>
                        <a:rPr lang="ru-RU" sz="1800"/>
                        <a:t> в работе устройства </a:t>
                      </a:r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Ошибка в коде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/>
                        <a:t>Уязвимость</a:t>
                      </a:r>
                      <a:r>
                        <a:rPr lang="ru-RU" sz="1800"/>
                        <a:t> в системе</a:t>
                      </a:r>
                      <a:endParaRPr lang="ru-RU"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35378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Отличие = сравнение </a:t>
            </a:r>
            <a:endParaRPr/>
          </a:p>
        </p:txBody>
      </p:sp>
      <p:sp>
        <p:nvSpPr>
          <p:cNvPr id="1832928688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sz="1800"/>
              <a:t>Что + отличается + от чего + чем. (Санкт-Петербург отличается от Москвы количеством населения).</a:t>
            </a:r>
            <a:endParaRPr/>
          </a:p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sz="1800"/>
              <a:t>Что и что + различны  + по чему</a:t>
            </a:r>
            <a:endParaRPr/>
          </a:p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sz="1800"/>
              <a:t>Что + уступать + чему + по чему (СПб уступает Москве по количеству населения).</a:t>
            </a:r>
            <a:endParaRPr/>
          </a:p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sz="1800"/>
              <a:t>Что + превосходить + что + по чему (Москва превосходит СПб по количеству населения).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lang="ru-RU" sz="1800"/>
              <a:t>Язык программирования Java и язык программирования C</a:t>
            </a:r>
            <a:endParaRPr lang="ru-RU" sz="1800"/>
          </a:p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lang="ru-RU" sz="1800"/>
              <a:t>Корпус на Кронверкском и корпус на Ломо</a:t>
            </a:r>
            <a:endParaRPr lang="ru-RU" sz="1800"/>
          </a:p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lang="ru-RU" sz="1800"/>
              <a:t>Санкт-Петербург и Москва</a:t>
            </a:r>
            <a:endParaRPr lang="ru-RU" sz="1800"/>
          </a:p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lang="ru-RU" sz="1800"/>
              <a:t>Пары в 8:10 и пары в 20:10</a:t>
            </a:r>
            <a:endParaRPr lang="ru-RU" sz="1800"/>
          </a:p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lang="ru-RU" sz="1800"/>
              <a:t>Золото и железо</a:t>
            </a:r>
            <a:endParaRPr lang="ru-RU" sz="1800"/>
          </a:p>
          <a:p>
            <a:pPr marL="283879" indent="-283879">
              <a:buSzPct val="100000"/>
              <a:buFont typeface="Arial"/>
              <a:buAutoNum type="arabicPeriod"/>
              <a:defRPr/>
            </a:pPr>
            <a:r>
              <a:rPr lang="ru-RU" sz="1800"/>
              <a:t>Метро и наземный транспорт</a:t>
            </a:r>
            <a:endParaRPr lang="ru-RU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76226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Преимущества / недостатки</a:t>
            </a:r>
            <a:endParaRPr/>
          </a:p>
        </p:txBody>
      </p:sp>
      <p:sp>
        <p:nvSpPr>
          <p:cNvPr id="1832344111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9965" indent="-349965">
              <a:buSzPct val="100000"/>
              <a:buFont typeface="Arial"/>
              <a:buAutoNum type="arabicPeriod"/>
              <a:defRPr/>
            </a:pPr>
            <a:r>
              <a:rPr sz="2400"/>
              <a:t>К + чему + относится + что </a:t>
            </a:r>
            <a:endParaRPr sz="2400"/>
          </a:p>
          <a:p>
            <a:pPr>
              <a:defRPr/>
            </a:pPr>
            <a:r>
              <a:rPr sz="2400"/>
              <a:t>К преимуществам операционной системы Виндовс популярность.</a:t>
            </a:r>
            <a:endParaRPr sz="2400"/>
          </a:p>
          <a:p>
            <a:pPr>
              <a:defRPr/>
            </a:pPr>
            <a:r>
              <a:rPr sz="2400"/>
              <a:t>2. Преимуществом операционной системы является популярность. </a:t>
            </a:r>
            <a:endParaRPr sz="2400"/>
          </a:p>
          <a:p>
            <a:pPr>
              <a:defRPr/>
            </a:pPr>
            <a:r>
              <a:rPr sz="2400"/>
              <a:t>3. Преимущество – это популярность. </a:t>
            </a:r>
            <a:endParaRPr sz="2400"/>
          </a:p>
          <a:p>
            <a:pPr>
              <a:defRPr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26951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Текст про полимерные листы </a:t>
            </a:r>
            <a:endParaRPr/>
          </a:p>
        </p:txBody>
      </p:sp>
      <p:sp>
        <p:nvSpPr>
          <p:cNvPr id="379620661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sz="1800"/>
              <a:t>Под полимерными листами понимается синтетический ... .</a:t>
            </a:r>
            <a:endParaRPr sz="1800"/>
          </a:p>
          <a:p>
            <a:pPr>
              <a:defRPr/>
            </a:pPr>
            <a:r>
              <a:rPr sz="1800"/>
              <a:t>Они нужны для того, чтобы ремонтировать стены, пол и потолок. </a:t>
            </a:r>
            <a:endParaRPr sz="1800"/>
          </a:p>
          <a:p>
            <a:pPr>
              <a:defRPr/>
            </a:pPr>
            <a:r>
              <a:rPr sz="1800"/>
              <a:t>Полимерные листы отличаются эстетичностью, стойкостью, ударной прочностью ... </a:t>
            </a:r>
            <a:endParaRPr sz="1800"/>
          </a:p>
          <a:p>
            <a:pPr>
              <a:defRPr/>
            </a:pPr>
            <a:r>
              <a:rPr sz="1800"/>
              <a:t>Другие ... Уступают полимерным листам по устойчивости / устойчивостью ... .</a:t>
            </a:r>
            <a:endParaRPr sz="1800"/>
          </a:p>
          <a:p>
            <a:pPr>
              <a:defRPr/>
            </a:pPr>
            <a:r>
              <a:rPr sz="1800"/>
              <a:t>Широкая популярность связана с его практичностью. </a:t>
            </a:r>
            <a:endParaRPr sz="1800"/>
          </a:p>
          <a:p>
            <a:pPr>
              <a:defRPr/>
            </a:pPr>
            <a:r>
              <a:rPr sz="1800"/>
              <a:t>Безопасность полимерных листов является преимуществом данного материала. 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53856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наличие</a:t>
            </a:r>
            <a:endParaRPr/>
          </a:p>
        </p:txBody>
      </p:sp>
      <p:sp>
        <p:nvSpPr>
          <p:cNvPr id="1252256502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есть</a:t>
            </a:r>
            <a:r>
              <a:rPr sz="1800"/>
              <a:t>/ </a:t>
            </a:r>
            <a:r>
              <a:rPr sz="1800"/>
              <a:t>быть</a:t>
            </a:r>
            <a:r>
              <a:rPr sz="1800"/>
              <a:t> (В </a:t>
            </a:r>
            <a:r>
              <a:rPr sz="1800"/>
              <a:t>аудитории</a:t>
            </a:r>
            <a:r>
              <a:rPr sz="1800"/>
              <a:t> </a:t>
            </a:r>
            <a:r>
              <a:rPr sz="1800"/>
              <a:t>есть</a:t>
            </a:r>
            <a:r>
              <a:rPr sz="1800"/>
              <a:t> </a:t>
            </a:r>
            <a:r>
              <a:rPr sz="1800"/>
              <a:t>столы</a:t>
            </a:r>
            <a:r>
              <a:rPr sz="1800"/>
              <a:t> и </a:t>
            </a:r>
            <a:r>
              <a:rPr sz="1800"/>
              <a:t>стулья</a:t>
            </a:r>
            <a:r>
              <a:rPr sz="1800"/>
              <a:t>). 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Присутствовать</a:t>
            </a:r>
            <a:r>
              <a:rPr sz="1800"/>
              <a:t> (В </a:t>
            </a:r>
            <a:r>
              <a:rPr sz="1800"/>
              <a:t>аудитории</a:t>
            </a:r>
            <a:r>
              <a:rPr sz="1800"/>
              <a:t> </a:t>
            </a:r>
            <a:r>
              <a:rPr sz="1800"/>
              <a:t>присутствуют</a:t>
            </a:r>
            <a:r>
              <a:rPr sz="1800"/>
              <a:t> </a:t>
            </a:r>
            <a:r>
              <a:rPr sz="1800"/>
              <a:t>студенты</a:t>
            </a:r>
            <a:r>
              <a:rPr sz="1800"/>
              <a:t>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Встречаться</a:t>
            </a:r>
            <a:r>
              <a:rPr sz="1800"/>
              <a:t>  (</a:t>
            </a:r>
            <a:r>
              <a:rPr sz="1800"/>
              <a:t>На</a:t>
            </a:r>
            <a:r>
              <a:rPr sz="1800"/>
              <a:t> </a:t>
            </a:r>
            <a:r>
              <a:rPr sz="1800"/>
              <a:t>улицах</a:t>
            </a:r>
            <a:r>
              <a:rPr sz="1800"/>
              <a:t> </a:t>
            </a:r>
            <a:r>
              <a:rPr sz="1800"/>
              <a:t>встречаются</a:t>
            </a:r>
            <a:r>
              <a:rPr sz="1800"/>
              <a:t> </a:t>
            </a:r>
            <a:r>
              <a:rPr sz="1800"/>
              <a:t>бездомные</a:t>
            </a:r>
            <a:r>
              <a:rPr sz="1800"/>
              <a:t> </a:t>
            </a:r>
            <a:r>
              <a:rPr sz="1800"/>
              <a:t>собаки</a:t>
            </a:r>
            <a:r>
              <a:rPr sz="1800"/>
              <a:t>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Находиться</a:t>
            </a:r>
            <a:r>
              <a:rPr sz="1800"/>
              <a:t> (</a:t>
            </a:r>
            <a:r>
              <a:rPr sz="1800"/>
              <a:t>Университет</a:t>
            </a:r>
            <a:r>
              <a:rPr sz="1800"/>
              <a:t> ИТМО </a:t>
            </a:r>
            <a:r>
              <a:rPr sz="1800"/>
              <a:t>находится</a:t>
            </a:r>
            <a:r>
              <a:rPr sz="1800"/>
              <a:t> в </a:t>
            </a:r>
            <a:r>
              <a:rPr sz="1800"/>
              <a:t>центре</a:t>
            </a:r>
            <a:r>
              <a:rPr sz="1800"/>
              <a:t> </a:t>
            </a:r>
            <a:r>
              <a:rPr sz="1800"/>
              <a:t>города</a:t>
            </a:r>
            <a:r>
              <a:rPr sz="1800"/>
              <a:t>). 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Наблюдаться</a:t>
            </a:r>
            <a:r>
              <a:rPr sz="1800"/>
              <a:t> (</a:t>
            </a:r>
            <a:r>
              <a:rPr sz="1800"/>
              <a:t>Сегодня</a:t>
            </a:r>
            <a:r>
              <a:rPr sz="1800"/>
              <a:t> </a:t>
            </a:r>
            <a:r>
              <a:rPr sz="1800"/>
              <a:t>наблюдается</a:t>
            </a:r>
            <a:r>
              <a:rPr sz="1800"/>
              <a:t> </a:t>
            </a:r>
            <a:r>
              <a:rPr sz="1800"/>
              <a:t>повышение</a:t>
            </a:r>
            <a:r>
              <a:rPr sz="1800"/>
              <a:t> </a:t>
            </a:r>
            <a:r>
              <a:rPr sz="1800"/>
              <a:t>температуры</a:t>
            </a:r>
            <a:r>
              <a:rPr sz="1800"/>
              <a:t>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Иметься</a:t>
            </a:r>
            <a:r>
              <a:rPr sz="1800"/>
              <a:t> (В </a:t>
            </a:r>
            <a:r>
              <a:rPr sz="1800"/>
              <a:t>аудитории</a:t>
            </a:r>
            <a:r>
              <a:rPr sz="1800"/>
              <a:t> </a:t>
            </a:r>
            <a:r>
              <a:rPr sz="1800"/>
              <a:t>имеется</a:t>
            </a:r>
            <a:r>
              <a:rPr sz="1800"/>
              <a:t> </a:t>
            </a:r>
            <a:r>
              <a:rPr sz="1800"/>
              <a:t>компьютер</a:t>
            </a:r>
            <a:r>
              <a:rPr sz="1800"/>
              <a:t>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Содержаться</a:t>
            </a:r>
            <a:r>
              <a:rPr sz="1800"/>
              <a:t>  (В </a:t>
            </a:r>
            <a:r>
              <a:rPr sz="1800"/>
              <a:t>апельсине</a:t>
            </a:r>
            <a:r>
              <a:rPr sz="1800"/>
              <a:t> </a:t>
            </a:r>
            <a:r>
              <a:rPr sz="1800"/>
              <a:t>содержится</a:t>
            </a:r>
            <a:r>
              <a:rPr sz="1800"/>
              <a:t> </a:t>
            </a:r>
            <a:r>
              <a:rPr sz="1800"/>
              <a:t>витамин</a:t>
            </a:r>
            <a:r>
              <a:rPr sz="1800"/>
              <a:t> С).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Насчитываться</a:t>
            </a:r>
            <a:r>
              <a:rPr sz="1800"/>
              <a:t> (В </a:t>
            </a:r>
            <a:r>
              <a:rPr sz="1800"/>
              <a:t>нашей</a:t>
            </a:r>
            <a:r>
              <a:rPr sz="1800"/>
              <a:t> </a:t>
            </a:r>
            <a:r>
              <a:rPr sz="1800"/>
              <a:t>группе</a:t>
            </a:r>
            <a:r>
              <a:rPr sz="1800"/>
              <a:t> </a:t>
            </a:r>
            <a:r>
              <a:rPr sz="1800"/>
              <a:t>насчитывается</a:t>
            </a:r>
            <a:r>
              <a:rPr sz="1800"/>
              <a:t> 16 </a:t>
            </a:r>
            <a:r>
              <a:rPr sz="1800"/>
              <a:t>студентов</a:t>
            </a:r>
            <a:r>
              <a:rPr sz="1800"/>
              <a:t>). </a:t>
            </a:r>
            <a:endParaRPr/>
          </a:p>
          <a:p>
            <a:pPr marL="239821" indent="-239821">
              <a:buSzPct val="100000"/>
              <a:buFont typeface="Arial"/>
              <a:buAutoNum type="arabicPeriod"/>
              <a:defRPr/>
            </a:pPr>
            <a:r>
              <a:rPr sz="1800"/>
              <a:t>Существовать</a:t>
            </a:r>
            <a:r>
              <a:rPr sz="1800"/>
              <a:t> (В </a:t>
            </a:r>
            <a:r>
              <a:rPr sz="1800"/>
              <a:t>природе</a:t>
            </a:r>
            <a:r>
              <a:rPr sz="1800"/>
              <a:t> </a:t>
            </a:r>
            <a:r>
              <a:rPr sz="1800"/>
              <a:t>существует</a:t>
            </a:r>
            <a:r>
              <a:rPr sz="1800"/>
              <a:t> </a:t>
            </a:r>
            <a:r>
              <a:rPr sz="1800"/>
              <a:t>углекислый</a:t>
            </a:r>
            <a:r>
              <a:rPr sz="1800"/>
              <a:t> </a:t>
            </a:r>
            <a:r>
              <a:rPr sz="1800"/>
              <a:t>газ</a:t>
            </a:r>
            <a:r>
              <a:rPr sz="1800"/>
              <a:t>).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48294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endParaRPr/>
          </a:p>
        </p:txBody>
      </p:sp>
      <p:graphicFrame>
        <p:nvGraphicFramePr>
          <p:cNvPr id="2" name="Объект 1"/>
          <p:cNvGraphicFramePr>
            <a:graphicFrameLocks xmlns:a="http://schemas.openxmlformats.org/drawingml/2006/main" noGrp="1"/>
          </p:cNvGraphicFramePr>
          <p:nvPr>
            <p:ph sz="half" idx="1"/>
          </p:nvPr>
        </p:nvGraphicFramePr>
        <p:xfrm>
          <a:off x="457200" y="1211263"/>
          <a:ext cx="7467600" cy="3337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489200"/>
                <a:gridCol w="2489200"/>
                <a:gridCol w="2489200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Глагол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Процесс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Деятель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Программировать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Исполнять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Транслировать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Создать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Выполнять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Вычислять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Использовать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Определять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48294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endParaRPr/>
          </a:p>
        </p:txBody>
      </p:sp>
      <p:graphicFrame>
        <p:nvGraphicFramePr>
          <p:cNvPr id="2" name="Объект 1"/>
          <p:cNvGraphicFramePr>
            <a:graphicFrameLocks xmlns:a="http://schemas.openxmlformats.org/drawingml/2006/main" noGrp="1"/>
          </p:cNvGraphicFramePr>
          <p:nvPr>
            <p:ph sz="half" idx="1"/>
          </p:nvPr>
        </p:nvGraphicFramePr>
        <p:xfrm>
          <a:off x="457200" y="1211263"/>
          <a:ext cx="7467600" cy="14833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489200"/>
                <a:gridCol w="2489200"/>
                <a:gridCol w="2489200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Глагол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Процесс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Деятель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Манипулировать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Разрабатывать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Владеть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Объясните данные глаголы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/>
              <a:t>Воплощать</a:t>
            </a:r>
            <a:endParaRPr/>
          </a:p>
          <a:p>
            <a:pPr>
              <a:defRPr/>
            </a:pPr>
            <a:r>
              <a:rPr lang="ru-RU" sz="2000"/>
              <a:t>Владеть</a:t>
            </a:r>
            <a:endParaRPr/>
          </a:p>
          <a:p>
            <a:pPr>
              <a:defRPr/>
            </a:pPr>
            <a:r>
              <a:rPr lang="ru-RU" sz="2000"/>
              <a:t>Обеспечивать </a:t>
            </a:r>
            <a:endParaRPr/>
          </a:p>
          <a:p>
            <a:pPr>
              <a:defRPr/>
            </a:pPr>
            <a:r>
              <a:rPr lang="ru-RU" sz="2000"/>
              <a:t>Транслировать </a:t>
            </a:r>
            <a:endParaRPr/>
          </a:p>
          <a:p>
            <a:pPr>
              <a:defRPr/>
            </a:pPr>
            <a:r>
              <a:rPr lang="ru-RU" sz="2000"/>
              <a:t>Манипулировать</a:t>
            </a:r>
            <a:endParaRPr/>
          </a:p>
          <a:p>
            <a:pPr>
              <a:defRPr/>
            </a:pPr>
            <a:r>
              <a:rPr lang="ru-RU" sz="2000"/>
              <a:t>Разрабатывать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457200" y="1606798"/>
            <a:ext cx="8194964" cy="3447143"/>
          </a:xfrm>
        </p:spPr>
        <p:txBody>
          <a:bodyPr/>
          <a:lstStyle/>
          <a:p>
            <a:pPr>
              <a:defRPr/>
            </a:pPr>
            <a:r>
              <a:rPr lang="ru-RU" sz="1600"/>
              <a:t>1. Язы́к программи́рования — формальный язык, _________________ для записи компьютерных программ. </a:t>
            </a:r>
            <a:endParaRPr/>
          </a:p>
          <a:p>
            <a:pPr>
              <a:defRPr/>
            </a:pPr>
            <a:r>
              <a:rPr lang="ru-RU" sz="1600"/>
              <a:t>2. Некоторыми языками умеет _________________ только небольшое число их собственных разработчиков, другие становятся известны миллионам людей. </a:t>
            </a:r>
            <a:endParaRPr/>
          </a:p>
          <a:p>
            <a:pPr>
              <a:defRPr/>
            </a:pPr>
            <a:r>
              <a:rPr lang="ru-RU" sz="1600"/>
              <a:t>3. Профессиональные программисты могут _________________ несколькими языками программирования.</a:t>
            </a:r>
            <a:endParaRPr/>
          </a:p>
          <a:p>
            <a:pPr>
              <a:defRPr/>
            </a:pPr>
            <a:r>
              <a:rPr lang="ru-RU" sz="1600"/>
              <a:t>4. Язык программирования _________________  от естественных языков тем, что _________________ для управления ЭВМ, в то время как естественные языки _________________, прежде всего, для общения людей между собой. 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457200" y="1211263"/>
            <a:ext cx="4450451" cy="3448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Python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457200" y="934852"/>
            <a:ext cx="7467600" cy="3447143"/>
          </a:xfrm>
        </p:spPr>
        <p:txBody>
          <a:bodyPr>
            <a:normAutofit/>
          </a:bodyPr>
          <a:lstStyle/>
          <a:p>
            <a:pPr algn="just">
              <a:defRPr/>
            </a:pPr>
            <a:br>
              <a:rPr lang="ru-RU" sz="1600"/>
            </a:br>
            <a:r>
              <a:rPr lang="ru-RU" sz="1600"/>
              <a:t>Python</a:t>
            </a:r>
            <a:r>
              <a:rPr lang="ru-RU" sz="1600"/>
              <a:t> — это высокоуровневый интерпретируемый язык программирования, который известен своей простотой и читаемостью кода. Он широко используется для разработки веб-приложений, научных и математических вычислений, анализа данных, искусственного интеллекта и других областей. </a:t>
            </a:r>
            <a:r>
              <a:rPr lang="ru-RU" sz="1600"/>
              <a:t>Python</a:t>
            </a:r>
            <a:r>
              <a:rPr lang="ru-RU" sz="1600"/>
              <a:t> поддерживает различные парадигмы программирования, такие как процедурное, объектно-ориентированное и функциональное программирование.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40582" y="3288961"/>
            <a:ext cx="2286000" cy="12852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JavaScript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457199" y="1211943"/>
            <a:ext cx="7910945" cy="3447143"/>
          </a:xfrm>
        </p:spPr>
        <p:txBody>
          <a:bodyPr>
            <a:normAutofit/>
          </a:bodyPr>
          <a:lstStyle/>
          <a:p>
            <a:pPr>
              <a:defRPr/>
            </a:pPr>
            <a:br>
              <a:rPr lang="ru-RU" sz="1800"/>
            </a:br>
            <a:r>
              <a:rPr lang="ru-RU" sz="1800"/>
              <a:t>Это язык программирования, который применяется в основном для создания интерактивных веб-страниц. Он поддерживается всеми современными браузерами и позволяет добавлять динамическое поведение на веб-сайтах. </a:t>
            </a:r>
            <a:r>
              <a:rPr lang="ru-RU" sz="1800"/>
              <a:t>JavaScript</a:t>
            </a:r>
            <a:r>
              <a:rPr lang="ru-RU" sz="1800"/>
              <a:t> также используется для разработки серверных приложений с использованием платформы Node.js. Он имеет широкое сообщество разработчиков и большое количество библиотек и </a:t>
            </a:r>
            <a:r>
              <a:rPr lang="ru-RU" sz="1800"/>
              <a:t>фреймворков</a:t>
            </a:r>
            <a:r>
              <a:rPr lang="ru-RU" sz="1800"/>
              <a:t>.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361958" y="3436423"/>
            <a:ext cx="1222663" cy="12226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Java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algn="just">
              <a:defRPr/>
            </a:pPr>
            <a:br>
              <a:rPr lang="ru-RU" sz="1600"/>
            </a:br>
            <a:r>
              <a:rPr lang="ru-RU" sz="1600"/>
              <a:t>Java</a:t>
            </a:r>
            <a:r>
              <a:rPr lang="ru-RU" sz="1600"/>
              <a:t> — это объектно-ориентированный язык программирования, который известен своей </a:t>
            </a:r>
            <a:r>
              <a:rPr lang="ru-RU" sz="1600"/>
              <a:t>платформонезависимостью</a:t>
            </a:r>
            <a:r>
              <a:rPr lang="ru-RU" sz="1600"/>
              <a:t> благодаря виртуальной машине </a:t>
            </a:r>
            <a:r>
              <a:rPr lang="ru-RU" sz="1600"/>
              <a:t>Java</a:t>
            </a:r>
            <a:r>
              <a:rPr lang="ru-RU" sz="1600"/>
              <a:t> (JVM). </a:t>
            </a:r>
            <a:r>
              <a:rPr lang="ru-RU" sz="1600"/>
              <a:t>Java</a:t>
            </a:r>
            <a:r>
              <a:rPr lang="ru-RU" sz="1600"/>
              <a:t> широко применяется для создания крупных корпоративных приложений, мобильных приложений (</a:t>
            </a:r>
            <a:r>
              <a:rPr lang="ru-RU" sz="1600"/>
              <a:t>Android</a:t>
            </a:r>
            <a:r>
              <a:rPr lang="ru-RU" sz="1600"/>
              <a:t>), игр, веб-приложений и других программных продуктов. Он обладает строгой системой типов и обширным набором стандартных библиотек, что делает его популярным выбором для разработчиков.</a:t>
            </a:r>
            <a:endParaRPr sz="1600"/>
          </a:p>
          <a:p>
            <a:pPr algn="just">
              <a:defRPr/>
            </a:pPr>
            <a:endParaRPr lang="ru-RU" sz="1600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26381" y="3041343"/>
            <a:ext cx="1816677" cy="1401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C#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Си-</a:t>
            </a:r>
            <a:r>
              <a:rPr lang="ru-RU" b="1"/>
              <a:t>шарп</a:t>
            </a:r>
            <a:endParaRPr lang="en-US" b="1"/>
          </a:p>
          <a:p>
            <a:pPr>
              <a:defRPr/>
            </a:pPr>
            <a:r>
              <a:rPr lang="en-US" b="1" u="sng">
                <a:hlinkClick r:id="rId2" tooltip="https://skillbox.ru/media/code/yazyk-s-gde-ispolzuyut-chto-pishut-kak-poyavilsya-i-chem-khorosh/"/>
              </a:rPr>
              <a:t>https://skillbox.ru/media/code/yazyk-s-gde-ispolzuyut-chto-pishut-kak-poyavilsya-i-chem-khorosh/</a:t>
            </a:r>
            <a:r>
              <a:rPr lang="en-US" b="1"/>
              <a:t> </a:t>
            </a:r>
            <a:endParaRPr lang="ru-RU" b="1"/>
          </a:p>
          <a:p>
            <a:pPr>
              <a:defRPr/>
            </a:pPr>
            <a:r>
              <a:rPr lang="en-US" b="1" u="sng">
                <a:hlinkClick r:id="rId3" tooltip="https://habr.com/ru/articles/722586/"/>
              </a:rPr>
              <a:t>https://habr.com/ru/articles/722586/</a:t>
            </a:r>
            <a:r>
              <a:rPr lang="ru-RU" b="1"/>
              <a:t>  </a:t>
            </a:r>
            <a:endParaRPr/>
          </a:p>
          <a:p>
            <a:pPr>
              <a:defRPr/>
            </a:pPr>
            <a:endParaRPr lang="ru-RU"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Определение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Характеристика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Функции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Преимущества и недостатки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Уровень зарплаты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18873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Язык программирования</a:t>
            </a:r>
            <a:endParaRPr/>
          </a:p>
        </p:txBody>
      </p:sp>
      <p:sp>
        <p:nvSpPr>
          <p:cNvPr id="1279087908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 sz="1400"/>
          </a:p>
          <a:p>
            <a:pPr marL="285750" indent="-285750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Название 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Характеристика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Функции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Преимущества и недостатки </a:t>
            </a:r>
            <a:endParaRPr sz="2000"/>
          </a:p>
          <a:p>
            <a:pPr marL="285750" indent="-285750">
              <a:buFont typeface="Arial"/>
              <a:buChar char="•"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Golos Text"/>
                <a:ea typeface="+mn-ea"/>
                <a:cs typeface="Golos Text"/>
              </a:rPr>
              <a:t>Уровень зарплаты </a:t>
            </a:r>
            <a:endParaRPr sz="2000"/>
          </a:p>
          <a:p>
            <a:pPr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u="sng">
                <a:hlinkClick r:id="rId2" tooltip="https://www.liveworksheets.com/w/ru/russkiy-yazyk-kak-inostrannyy-rki/7012601"/>
              </a:rPr>
              <a:t>https://www.liveworksheets.com/w/ru/russkiy-yazyk-kak-inostrannyy-rki/7012601</a:t>
            </a:r>
            <a:r>
              <a:rPr lang="ru-RU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lang="en-US" sz="44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649035" y="4468762"/>
            <a:ext cx="214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>
                <a:solidFill>
                  <a:schemeClr val="bg2"/>
                </a:solidFill>
              </a:rPr>
              <a:t>oakolegova@itmo.ru</a:t>
            </a:r>
            <a:endParaRPr lang="ru-RU">
              <a:solidFill>
                <a:schemeClr val="bg2"/>
              </a:solidFill>
              <a:latin typeface="Golos Text"/>
              <a:cs typeface="Golos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dc:identifier/>
  <dc:language/>
  <cp:lastModifiedBy>Оксана Колегова</cp:lastModifiedBy>
  <cp:revision>178</cp:revision>
  <dcterms:created xsi:type="dcterms:W3CDTF">2014-06-27T12:30:22Z</dcterms:created>
  <dcterms:modified xsi:type="dcterms:W3CDTF">2025-05-13T12:49:06Z</dcterms:modified>
  <cp:category/>
  <cp:contentStatus/>
  <cp:version/>
</cp:coreProperties>
</file>