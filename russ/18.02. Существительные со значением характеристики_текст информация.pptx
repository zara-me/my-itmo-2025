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6" d="100"/>
          <a:sy n="116" d="100"/>
        </p:scale>
        <p:origin x="696" y="7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615731" y="2745132"/>
            <a:ext cx="8167254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Существительные со значением качество / характеристика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Существительные со значением процесс</a:t>
            </a:r>
            <a:endParaRPr lang="ru-RU"/>
          </a:p>
        </p:txBody>
      </p:sp>
      <p:cxnSp>
        <p:nvCxnSpPr>
          <p:cNvPr id="5" name="Прямая со стрелкой 4"/>
          <p:cNvCxnSpPr>
            <a:cxnSpLocks/>
          </p:cNvCxnSpPr>
          <p:nvPr/>
        </p:nvCxnSpPr>
        <p:spPr bwMode="auto">
          <a:xfrm flipH="1">
            <a:off x="723626" y="1098596"/>
            <a:ext cx="2210348" cy="315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cxnSpLocks/>
          </p:cNvCxnSpPr>
          <p:nvPr/>
        </p:nvCxnSpPr>
        <p:spPr bwMode="auto">
          <a:xfrm flipH="1">
            <a:off x="2802406" y="1098596"/>
            <a:ext cx="342077" cy="920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>
            <a:off x="3841796" y="1098596"/>
            <a:ext cx="986762" cy="763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cxnSpLocks/>
          </p:cNvCxnSpPr>
          <p:nvPr/>
        </p:nvCxnSpPr>
        <p:spPr bwMode="auto">
          <a:xfrm>
            <a:off x="4479902" y="1098596"/>
            <a:ext cx="1611712" cy="467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cxnSpLocks/>
          </p:cNvCxnSpPr>
          <p:nvPr/>
        </p:nvCxnSpPr>
        <p:spPr bwMode="auto">
          <a:xfrm>
            <a:off x="4683832" y="894665"/>
            <a:ext cx="3243160" cy="572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 bwMode="auto">
          <a:xfrm>
            <a:off x="388127" y="1480144"/>
            <a:ext cx="1374889" cy="7236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-</a:t>
            </a:r>
            <a:r>
              <a:rPr lang="ru-RU" b="1"/>
              <a:t>ени</a:t>
            </a:r>
            <a:r>
              <a:rPr lang="ru-RU" b="1"/>
              <a:t>-(е)</a:t>
            </a:r>
            <a:endParaRPr/>
          </a:p>
          <a:p>
            <a:pPr algn="ctr">
              <a:defRPr/>
            </a:pPr>
            <a:r>
              <a:rPr lang="ru-RU" b="1"/>
              <a:t>-</a:t>
            </a:r>
            <a:r>
              <a:rPr lang="ru-RU" b="1"/>
              <a:t>ани</a:t>
            </a:r>
            <a:r>
              <a:rPr lang="ru-RU" b="1"/>
              <a:t>-(е)</a:t>
            </a:r>
            <a:endParaRPr lang="ru-RU" b="1"/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2174166" y="2112769"/>
            <a:ext cx="1374889" cy="7236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-к-(а)</a:t>
            </a:r>
            <a:endParaRPr lang="ru-RU" b="1"/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4141113" y="1935151"/>
            <a:ext cx="1374889" cy="7236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-ч-(а)</a:t>
            </a:r>
            <a:endParaRPr lang="ru-RU" b="1"/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5711163" y="1620484"/>
            <a:ext cx="1374889" cy="7236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-</a:t>
            </a:r>
            <a:r>
              <a:rPr lang="ru-RU" b="1"/>
              <a:t>ци</a:t>
            </a:r>
            <a:r>
              <a:rPr lang="ru-RU" b="1"/>
              <a:t>(я)</a:t>
            </a:r>
            <a:endParaRPr lang="ru-RU" b="1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7395237" y="1527933"/>
            <a:ext cx="1374889" cy="7236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Без суффикса</a:t>
            </a:r>
            <a:endParaRPr lang="ru-RU" b="1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388127" y="2578740"/>
            <a:ext cx="1374889" cy="1848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rgbClr val="FF0000"/>
                </a:solidFill>
              </a:rPr>
              <a:t>Сообщ</a:t>
            </a:r>
            <a:r>
              <a:rPr lang="ru-RU" sz="1400"/>
              <a:t>ить – </a:t>
            </a:r>
            <a:r>
              <a:rPr lang="ru-RU" sz="1400">
                <a:solidFill>
                  <a:srgbClr val="FF0000"/>
                </a:solidFill>
              </a:rPr>
              <a:t>сообщ</a:t>
            </a:r>
            <a:r>
              <a:rPr lang="ru-RU" sz="1400" b="1">
                <a:solidFill>
                  <a:srgbClr val="7030A0"/>
                </a:solidFill>
              </a:rPr>
              <a:t>ени</a:t>
            </a:r>
            <a:r>
              <a:rPr lang="ru-RU" sz="1400">
                <a:solidFill>
                  <a:srgbClr val="7030A0"/>
                </a:solidFill>
              </a:rPr>
              <a:t>е</a:t>
            </a:r>
            <a:endParaRPr/>
          </a:p>
          <a:p>
            <a:pPr algn="ctr">
              <a:defRPr/>
            </a:pPr>
            <a:r>
              <a:rPr lang="ru-RU" sz="1400">
                <a:solidFill>
                  <a:schemeClr val="accent1"/>
                </a:solidFill>
              </a:rPr>
              <a:t>Использова</a:t>
            </a:r>
            <a:r>
              <a:rPr lang="ru-RU" sz="1400"/>
              <a:t>ть – </a:t>
            </a:r>
            <a:r>
              <a:rPr lang="ru-RU" sz="1400">
                <a:solidFill>
                  <a:schemeClr val="accent1"/>
                </a:solidFill>
              </a:rPr>
              <a:t>использов</a:t>
            </a:r>
            <a:r>
              <a:rPr lang="ru-RU" sz="1400" b="1">
                <a:solidFill>
                  <a:srgbClr val="7030A0"/>
                </a:solidFill>
              </a:rPr>
              <a:t>ани</a:t>
            </a:r>
            <a:r>
              <a:rPr lang="ru-RU" sz="1400">
                <a:solidFill>
                  <a:srgbClr val="7030A0"/>
                </a:solidFill>
              </a:rPr>
              <a:t>е</a:t>
            </a:r>
            <a:r>
              <a:rPr lang="ru-RU" sz="1400"/>
              <a:t> </a:t>
            </a:r>
            <a:endParaRPr lang="ru-RU" sz="1400"/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2174165" y="3033747"/>
            <a:ext cx="1374889" cy="15382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chemeClr val="accent1"/>
                </a:solidFill>
              </a:rPr>
              <a:t>Обработ</a:t>
            </a:r>
            <a:r>
              <a:rPr lang="ru-RU" sz="1400">
                <a:solidFill>
                  <a:schemeClr val="tx1"/>
                </a:solidFill>
              </a:rPr>
              <a:t>ать – </a:t>
            </a:r>
            <a:r>
              <a:rPr lang="ru-RU" sz="1400">
                <a:solidFill>
                  <a:schemeClr val="accent1"/>
                </a:solidFill>
              </a:rPr>
              <a:t>обработ</a:t>
            </a:r>
            <a:r>
              <a:rPr lang="ru-RU" sz="1400" b="1">
                <a:solidFill>
                  <a:srgbClr val="7030A0"/>
                </a:solidFill>
              </a:rPr>
              <a:t>к</a:t>
            </a:r>
            <a:r>
              <a:rPr lang="ru-RU" sz="1400">
                <a:solidFill>
                  <a:srgbClr val="7030A0"/>
                </a:solidFill>
              </a:rPr>
              <a:t>а</a:t>
            </a:r>
            <a:r>
              <a:rPr lang="ru-RU" sz="1400">
                <a:solidFill>
                  <a:schemeClr val="tx1"/>
                </a:solidFill>
              </a:rPr>
              <a:t> 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4141113" y="2836394"/>
            <a:ext cx="1374889" cy="15382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chemeClr val="accent1"/>
                </a:solidFill>
              </a:rPr>
              <a:t>Сда</a:t>
            </a:r>
            <a:r>
              <a:rPr lang="ru-RU" sz="1400">
                <a:solidFill>
                  <a:schemeClr val="tx1"/>
                </a:solidFill>
              </a:rPr>
              <a:t>ть - </a:t>
            </a:r>
            <a:r>
              <a:rPr lang="ru-RU" sz="1400">
                <a:solidFill>
                  <a:schemeClr val="accent1"/>
                </a:solidFill>
              </a:rPr>
              <a:t>сда</a:t>
            </a:r>
            <a:r>
              <a:rPr lang="ru-RU" sz="1400" b="1">
                <a:solidFill>
                  <a:srgbClr val="7030A0"/>
                </a:solidFill>
              </a:rPr>
              <a:t>ч</a:t>
            </a:r>
            <a:r>
              <a:rPr lang="ru-RU" sz="1400">
                <a:solidFill>
                  <a:srgbClr val="7030A0"/>
                </a:solidFill>
              </a:rPr>
              <a:t>а</a:t>
            </a:r>
            <a:endParaRPr lang="ru-RU" sz="1400">
              <a:solidFill>
                <a:srgbClr val="7030A0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 bwMode="auto">
          <a:xfrm>
            <a:off x="5711163" y="2654392"/>
            <a:ext cx="1374889" cy="15382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chemeClr val="accent1"/>
                </a:solidFill>
              </a:rPr>
              <a:t>Организ</a:t>
            </a:r>
            <a:r>
              <a:rPr lang="ru-RU" sz="1400">
                <a:solidFill>
                  <a:schemeClr val="tx1"/>
                </a:solidFill>
              </a:rPr>
              <a:t>овать – </a:t>
            </a:r>
            <a:r>
              <a:rPr lang="ru-RU" sz="1400">
                <a:solidFill>
                  <a:schemeClr val="accent1"/>
                </a:solidFill>
              </a:rPr>
              <a:t>организ</a:t>
            </a:r>
            <a:r>
              <a:rPr lang="ru-RU" sz="1400">
                <a:solidFill>
                  <a:schemeClr val="tx1"/>
                </a:solidFill>
              </a:rPr>
              <a:t>а</a:t>
            </a:r>
            <a:r>
              <a:rPr lang="ru-RU" sz="1400" b="1">
                <a:solidFill>
                  <a:srgbClr val="7030A0"/>
                </a:solidFill>
              </a:rPr>
              <a:t>ция</a:t>
            </a:r>
            <a:r>
              <a:rPr lang="ru-RU" sz="1400">
                <a:solidFill>
                  <a:schemeClr val="tx1"/>
                </a:solidFill>
              </a:rPr>
              <a:t> 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7395236" y="2344110"/>
            <a:ext cx="1374889" cy="15382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chemeClr val="accent1"/>
                </a:solidFill>
              </a:rPr>
              <a:t>Обмен</a:t>
            </a:r>
            <a:r>
              <a:rPr lang="ru-RU" sz="1400">
                <a:solidFill>
                  <a:schemeClr val="tx1"/>
                </a:solidFill>
              </a:rPr>
              <a:t>ять</a:t>
            </a:r>
            <a:r>
              <a:rPr lang="ru-RU" sz="1400">
                <a:solidFill>
                  <a:schemeClr val="accent1"/>
                </a:solidFill>
              </a:rPr>
              <a:t> - </a:t>
            </a:r>
            <a:r>
              <a:rPr lang="ru-RU" sz="1400" b="1">
                <a:solidFill>
                  <a:srgbClr val="7030A0"/>
                </a:solidFill>
              </a:rPr>
              <a:t>обмен</a:t>
            </a:r>
            <a:endParaRPr lang="ru-RU" sz="1400" b="1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Качество, характеристика, атрибут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Прилагательное </a:t>
            </a:r>
            <a:r>
              <a:rPr lang="en-US" sz="2800"/>
              <a:t> </a:t>
            </a:r>
            <a:r>
              <a:rPr lang="ru-RU" sz="2800"/>
              <a:t>существительное </a:t>
            </a:r>
            <a:endParaRPr/>
          </a:p>
          <a:p>
            <a:pPr>
              <a:defRPr/>
            </a:pPr>
            <a:endParaRPr lang="ru-RU" sz="28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41956" y="1896330"/>
            <a:ext cx="4193434" cy="3140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1838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Конструкции характеристики объект</a:t>
            </a:r>
            <a:endParaRPr/>
          </a:p>
        </p:txBody>
      </p:sp>
      <p:sp>
        <p:nvSpPr>
          <p:cNvPr id="1304095001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2"/>
            <a:ext cx="7467599" cy="3447142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05908" indent="-305908">
              <a:buSzPct val="100000"/>
              <a:buFont typeface="Arial"/>
              <a:buAutoNum type="arabicPeriod"/>
              <a:defRPr/>
            </a:pPr>
            <a:r>
              <a:rPr sz="2000"/>
              <a:t>Что + какой = Ноутбук мощный, компактный, красивый.</a:t>
            </a:r>
            <a:endParaRPr sz="2000"/>
          </a:p>
          <a:p>
            <a:pPr marL="305908" indent="-305908">
              <a:buSzPct val="100000"/>
              <a:buFont typeface="Arial"/>
              <a:buAutoNum type="arabicPeriod"/>
              <a:defRPr/>
            </a:pPr>
            <a:r>
              <a:rPr sz="2000"/>
              <a:t>Что (п1) + обладает / характеризуется / отличается + чем (п5). = Ноутбук обладает мощностью, компактностью, красотой. 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Жёсткий</a:t>
            </a:r>
            <a:endParaRPr lang="ru-RU"/>
          </a:p>
        </p:txBody>
      </p:sp>
      <p:pic>
        <p:nvPicPr>
          <p:cNvPr id="6" name="Объект 5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217323"/>
            <a:ext cx="2095792" cy="2514951"/>
          </a:xfrm>
          <a:prstGeom prst="rect">
            <a:avLst/>
          </a:prstGeom>
        </p:spPr>
      </p:pic>
      <p:sp>
        <p:nvSpPr>
          <p:cNvPr id="134524026" name=""/>
          <p:cNvSpPr txBox="1"/>
          <p:nvPr/>
        </p:nvSpPr>
        <p:spPr bwMode="auto">
          <a:xfrm flipH="0" flipV="0">
            <a:off x="3674299" y="2012949"/>
            <a:ext cx="2108927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жёсткость пружины </a:t>
            </a:r>
            <a:endParaRPr/>
          </a:p>
          <a:p>
            <a:pPr>
              <a:defRPr/>
            </a:pPr>
            <a:r>
              <a:rPr/>
              <a:t>жёсткость матраса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Зависимый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282790"/>
            <a:ext cx="3918344" cy="2448965"/>
          </a:xfrm>
          <a:prstGeom prst="rect">
            <a:avLst/>
          </a:prstGeom>
        </p:spPr>
      </p:pic>
      <p:sp>
        <p:nvSpPr>
          <p:cNvPr id="1771155800" name=""/>
          <p:cNvSpPr txBox="1"/>
          <p:nvPr/>
        </p:nvSpPr>
        <p:spPr bwMode="auto">
          <a:xfrm flipH="0" flipV="0">
            <a:off x="5103049" y="2038349"/>
            <a:ext cx="141074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зависимость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Мощный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624949" y="1573939"/>
            <a:ext cx="2482586" cy="2138081"/>
          </a:xfrm>
          <a:prstGeom prst="rect">
            <a:avLst/>
          </a:prstGeom>
        </p:spPr>
      </p:pic>
      <p:sp>
        <p:nvSpPr>
          <p:cNvPr id="1200664652" name=""/>
          <p:cNvSpPr txBox="1"/>
          <p:nvPr/>
        </p:nvSpPr>
        <p:spPr bwMode="auto">
          <a:xfrm flipH="0" flipV="0">
            <a:off x="4252149" y="1682749"/>
            <a:ext cx="344278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мощность процессора, двигателя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Пластичный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164378"/>
            <a:ext cx="2416073" cy="2416073"/>
          </a:xfrm>
          <a:prstGeom prst="rect">
            <a:avLst/>
          </a:prstGeom>
        </p:spPr>
      </p:pic>
      <p:sp>
        <p:nvSpPr>
          <p:cNvPr id="590168602" name=""/>
          <p:cNvSpPr txBox="1"/>
          <p:nvPr/>
        </p:nvSpPr>
        <p:spPr bwMode="auto">
          <a:xfrm flipH="0" flipV="0">
            <a:off x="4969699" y="1873249"/>
            <a:ext cx="21253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пластичность глины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Плоский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597628" y="1552506"/>
            <a:ext cx="3592461" cy="2106887"/>
          </a:xfrm>
          <a:prstGeom prst="rect">
            <a:avLst/>
          </a:prstGeom>
        </p:spPr>
      </p:pic>
      <p:sp>
        <p:nvSpPr>
          <p:cNvPr id="517169652" name=""/>
          <p:cNvSpPr txBox="1"/>
          <p:nvPr/>
        </p:nvSpPr>
        <p:spPr bwMode="auto">
          <a:xfrm flipH="0" flipV="0">
            <a:off x="5306249" y="1962149"/>
            <a:ext cx="115558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плоскость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Плотный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236742"/>
            <a:ext cx="1491357" cy="19884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05177" y="1381468"/>
            <a:ext cx="3221777" cy="2043078"/>
          </a:xfrm>
          <a:prstGeom prst="rect">
            <a:avLst/>
          </a:prstGeom>
        </p:spPr>
      </p:pic>
      <p:sp>
        <p:nvSpPr>
          <p:cNvPr id="162554216" name=""/>
          <p:cNvSpPr txBox="1"/>
          <p:nvPr/>
        </p:nvSpPr>
        <p:spPr bwMode="auto">
          <a:xfrm flipH="0" flipV="0">
            <a:off x="6665149" y="2260599"/>
            <a:ext cx="116361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плотность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Поверхностный 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647974" y="1266562"/>
            <a:ext cx="3810000" cy="3048000"/>
          </a:xfrm>
          <a:prstGeom prst="rect">
            <a:avLst/>
          </a:prstGeom>
        </p:spPr>
      </p:pic>
      <p:sp>
        <p:nvSpPr>
          <p:cNvPr id="841578826" name=""/>
          <p:cNvSpPr txBox="1"/>
          <p:nvPr/>
        </p:nvSpPr>
        <p:spPr bwMode="auto">
          <a:xfrm flipH="0" flipV="0">
            <a:off x="5687249" y="1930399"/>
            <a:ext cx="196236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поверхность воды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Погрешный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365102" y="1651271"/>
            <a:ext cx="7467600" cy="3383755"/>
          </a:xfrm>
          <a:prstGeom prst="rect">
            <a:avLst/>
          </a:prstGeom>
        </p:spPr>
      </p:pic>
      <p:sp>
        <p:nvSpPr>
          <p:cNvPr id="133823608" name=""/>
          <p:cNvSpPr txBox="1"/>
          <p:nvPr/>
        </p:nvSpPr>
        <p:spPr bwMode="auto">
          <a:xfrm flipH="0" flipV="0">
            <a:off x="3096449" y="1174749"/>
            <a:ext cx="256612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погрешность измерения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Прочный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572241"/>
            <a:ext cx="2225299" cy="2225299"/>
          </a:xfrm>
          <a:prstGeom prst="rect">
            <a:avLst/>
          </a:prstGeom>
        </p:spPr>
      </p:pic>
      <p:sp>
        <p:nvSpPr>
          <p:cNvPr id="416470362" name=""/>
          <p:cNvSpPr txBox="1"/>
          <p:nvPr/>
        </p:nvSpPr>
        <p:spPr bwMode="auto">
          <a:xfrm flipH="0" flipV="0">
            <a:off x="3426649" y="1765299"/>
            <a:ext cx="266041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прочность титана, стали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Точный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605214" y="1319458"/>
            <a:ext cx="3354442" cy="2931994"/>
          </a:xfrm>
          <a:prstGeom prst="rect">
            <a:avLst/>
          </a:prstGeom>
        </p:spPr>
      </p:pic>
      <p:sp>
        <p:nvSpPr>
          <p:cNvPr id="669770609" name=""/>
          <p:cNvSpPr txBox="1"/>
          <p:nvPr/>
        </p:nvSpPr>
        <p:spPr bwMode="auto">
          <a:xfrm flipH="0" flipV="0">
            <a:off x="5179249" y="2139949"/>
            <a:ext cx="216339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точность измерения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Упругий 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361576" y="1749859"/>
            <a:ext cx="3735134" cy="2334459"/>
          </a:xfrm>
          <a:prstGeom prst="rect">
            <a:avLst/>
          </a:prstGeom>
        </p:spPr>
      </p:pic>
      <p:sp>
        <p:nvSpPr>
          <p:cNvPr id="1101533972" name=""/>
          <p:cNvSpPr txBox="1"/>
          <p:nvPr/>
        </p:nvSpPr>
        <p:spPr bwMode="auto">
          <a:xfrm flipH="0" flipV="0">
            <a:off x="4677599" y="2216149"/>
            <a:ext cx="25397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упругость губки, кожи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Активный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Хрупкий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227685" y="1513036"/>
            <a:ext cx="2843670" cy="2843670"/>
          </a:xfrm>
          <a:prstGeom prst="rect">
            <a:avLst/>
          </a:prstGeom>
        </p:spPr>
      </p:pic>
      <p:sp>
        <p:nvSpPr>
          <p:cNvPr id="227430634" name=""/>
          <p:cNvSpPr txBox="1"/>
          <p:nvPr/>
        </p:nvSpPr>
        <p:spPr bwMode="auto">
          <a:xfrm flipH="0" flipV="0">
            <a:off x="5230049" y="2520949"/>
            <a:ext cx="3583644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хрупкость стекла, экрана телефона</a:t>
            </a:r>
            <a:endParaRPr/>
          </a:p>
          <a:p>
            <a:pPr>
              <a:defRPr/>
            </a:pPr>
            <a:r>
              <a:rPr/>
              <a:t>зеркала, посуды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обладает чем</a:t>
            </a:r>
            <a:br>
              <a:rPr lang="ru-RU"/>
            </a:br>
            <a:br>
              <a:rPr lang="ru-RU"/>
            </a:br>
            <a:r>
              <a:rPr lang="ru-RU"/>
              <a:t>Материал обладает прочностью.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Что отличается чем.</a:t>
            </a:r>
            <a:endParaRPr/>
          </a:p>
          <a:p>
            <a:pPr>
              <a:defRPr/>
            </a:pPr>
            <a:r>
              <a:rPr lang="ru-RU"/>
              <a:t>Материал отличается прочностью.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208</cp:revision>
  <dcterms:created xsi:type="dcterms:W3CDTF">2014-06-27T12:30:22Z</dcterms:created>
  <dcterms:modified xsi:type="dcterms:W3CDTF">2025-02-18T13:58:41Z</dcterms:modified>
  <cp:category/>
  <cp:contentStatus/>
  <cp:version/>
</cp:coreProperties>
</file>