
<file path=[Content_Types].xml><?xml version="1.0" encoding="utf-8"?>
<Types xmlns="http://schemas.openxmlformats.org/package/2006/content-types">
  <Default Extension="wmf" ContentType="image/x-wmf"/>
  <Default Extension="png" ContentType="image/png"/>
  <Default Extension="jpg" ContentType="image/jpeg"/>
  <Default Extension="jpeg" ContentType="image/jpeg"/>
  <Default Extension="xml" ContentType="application/xml"/>
  <Default Extension="rels" ContentType="application/vnd.openxmlformats-package.relationships+xml"/>
  <Default Extension="bin" ContentType="application/vnd.openxmlformats-officedocument.oleObject"/>
  <Override PartName="/ppt/slides/slide13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8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3.xml" ContentType="application/vnd.openxmlformats-officedocument.presentationml.slide+xml"/>
  <Override PartName="/ppt/slideLayouts/slideLayout22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s/slide7.xml" ContentType="application/vnd.openxmlformats-officedocument.presentationml.slide+xml"/>
  <Override PartName="/ppt/slideLayouts/slideLayout13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4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s/slide1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5.xml" ContentType="application/vnd.openxmlformats-officedocument.presentationml.slide+xml"/>
  <Override PartName="/ppt/slideLayouts/slideLayout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4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1.xml" ContentType="application/vnd.openxmlformats-officedocument.presentationml.slideLayout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s/slide2.xml" ContentType="application/vnd.openxmlformats-officedocument.presentationml.slide+xml"/>
  <Override PartName="/ppt/viewProps.xml" ContentType="application/vnd.openxmlformats-officedocument.presentationml.viewProps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slideLayouts/slideLayout18.xml" ContentType="application/vnd.openxmlformats-officedocument.presentationml.slideLayout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autoCompressPictures="0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9144000" cy="5143500" type="screen16x9"/>
  <p:notesSz cx="9144000" cy="5143500"/>
  <p:defaultTextStyle>
    <a:defPPr>
      <a:defRPr lang="en-US"/>
    </a:defPPr>
    <a:lvl1pPr marL="0" algn="l" defTabSz="45720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howGuides="1" snapToGrid="0" snapToObjects="1">
      <p:cViewPr varScale="1">
        <p:scale>
          <a:sx n="116" d="100"/>
          <a:sy n="116" d="100"/>
        </p:scale>
        <p:origin x="696" y="77"/>
      </p:cViewPr>
      <p:guideLst>
        <p:guide pos="1611" orient="horz"/>
        <p:guide pos="2874"/>
      </p:guideLst>
    </p:cSldViewPr>
  </p:slideViewPr>
  <p:gridSpacing cx="72008" cy="72008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presProps" Target="presProps.xml" /><Relationship Id="rId18" Type="http://schemas.openxmlformats.org/officeDocument/2006/relationships/tableStyles" Target="tableStyles.xml" /><Relationship Id="rId19" Type="http://schemas.openxmlformats.org/officeDocument/2006/relationships/viewProps" Target="viewProps.xml" 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g"/></Relationships>
</file>

<file path=ppt/slideLayouts/_rels/slideLayout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/Relationships>
</file>

<file path=ppt/slideLayouts/_rels/slideLayout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g"/></Relationships>
</file>

<file path=ppt/slideLayouts/_rels/slideLayout1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/Relationships>
</file>

<file path=ppt/slideLayouts/_rels/slideLayout1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jpg"/></Relationships>
</file>

<file path=ppt/slideLayouts/_rels/slideLayout1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jpg"/></Relationships>
</file>

<file path=ppt/slideLayouts/_rels/slideLayout1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jpg"/></Relationships>
</file>

<file path=ppt/slideLayouts/_rels/slideLayout1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jpg"/></Relationships>
</file>

<file path=ppt/slideLayouts/_rels/slideLayout16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jpg"/></Relationships>
</file>

<file path=ppt/slideLayouts/_rels/slideLayout17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18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jpg"/></Relationships>
</file>

<file path=ppt/slideLayouts/_rels/slideLayout19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0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jpg"/></Relationships>
</file>

<file path=ppt/slideLayouts/_rels/slideLayout2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1_Title Slide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8" name="TextBox 7"/>
          <p:cNvSpPr txBox="1"/>
          <p:nvPr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2" name="TextBox 1"/>
          <p:cNvSpPr txBox="1"/>
          <p:nvPr userDrawn="1"/>
        </p:nvSpPr>
        <p:spPr bwMode="auto">
          <a:xfrm>
            <a:off x="5098416" y="49027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3" name="TextBox 2"/>
          <p:cNvSpPr txBox="1"/>
          <p:nvPr userDrawn="1"/>
        </p:nvSpPr>
        <p:spPr bwMode="auto">
          <a:xfrm>
            <a:off x="5910801" y="42723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2000"/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0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0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8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8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Ckfql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1211943"/>
            <a:ext cx="7467600" cy="3447143"/>
          </a:xfrm>
        </p:spPr>
        <p:txBody>
          <a:bodyPr/>
          <a:lstStyle>
            <a:lvl1pPr marL="0" indent="0">
              <a:buFont typeface="Arial"/>
              <a:buNone/>
              <a:defRPr sz="1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>
              <a:defRPr/>
            </a:pPr>
            <a:r>
              <a:rPr lang="ru-RU" sz="2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24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20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20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  <p:hf dt="0" ftr="1" hdr="0" sldNum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784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16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95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3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4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5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6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895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199" y="1040162"/>
            <a:ext cx="8389257" cy="3735038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800" b="0">
                <a:solidFill>
                  <a:schemeClr val="bg1"/>
                </a:solidFill>
              </a:defRPr>
            </a:lvl1pPr>
            <a:lvl2pPr marL="457200" indent="0">
              <a:buFont typeface="Arial"/>
              <a:buNone/>
              <a:defRPr sz="2400"/>
            </a:lvl2pPr>
            <a:lvl3pPr marL="914400" indent="0">
              <a:buFont typeface="Arial"/>
              <a:buNone/>
              <a:defRPr sz="2000"/>
            </a:lvl3pPr>
            <a:lvl4pPr marL="1371600" indent="0">
              <a:buFont typeface="Arial"/>
              <a:buNone/>
              <a:defRPr sz="1800"/>
            </a:lvl4pPr>
            <a:lvl5pPr marL="1828800" indent="0">
              <a:buFont typeface="Arial"/>
              <a:buNone/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2000">
                <a:latin typeface="Golos Text"/>
              </a:rPr>
              <a:t>Основной текст слайда, ключевая формулировка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0" showMasterPhAnim="0" userDrawn="1">
  <p:cSld name="Финал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624113" y="1233715"/>
            <a:ext cx="7170057" cy="3410856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600"/>
            </a:lvl1pPr>
            <a:lvl2pPr marL="457200" indent="0">
              <a:buFontTx/>
              <a:buNone/>
              <a:defRPr sz="1600"/>
            </a:lvl2pPr>
            <a:lvl3pPr marL="914400" indent="0">
              <a:buFontTx/>
              <a:buNone/>
              <a:defRPr sz="1600"/>
            </a:lvl3pPr>
            <a:lvl4pPr marL="1371600" indent="0">
              <a:buFontTx/>
              <a:buNone/>
              <a:defRPr sz="1600"/>
            </a:lvl4pPr>
            <a:lvl5pPr>
              <a:buFontTx/>
              <a:buNone/>
              <a:defRPr sz="1600"/>
            </a:lvl5pPr>
          </a:lstStyle>
          <a:p>
            <a:pPr>
              <a:defRPr/>
            </a:pPr>
            <a:r>
              <a:rPr lang="ru-RU" sz="1600">
                <a:latin typeface="Golos Text"/>
              </a:rPr>
              <a:t>Здесь при необходимости располагается основной текст слайда, ключевая формулировка</a:t>
            </a:r>
            <a:endParaRPr/>
          </a:p>
          <a:p>
            <a:pPr>
              <a:defRPr/>
            </a:pPr>
            <a:endParaRPr lang="ru-RU" sz="1600"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6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600" b="0" i="0">
                <a:solidFill>
                  <a:srgbClr val="2C2D2E"/>
                </a:solidFill>
                <a:latin typeface="Golos Text"/>
              </a:rPr>
              <a:t>конец списка.</a:t>
            </a:r>
            <a:endParaRPr/>
          </a:p>
          <a:p>
            <a:pPr lvl="0">
              <a:defRPr/>
            </a:pPr>
            <a:endParaRPr lang="ru-RU"/>
          </a:p>
          <a:p>
            <a:pPr lvl="0">
              <a:defRPr/>
            </a:pPr>
            <a:endParaRPr lang="ru-RU"/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2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7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507999" y="17922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>
              <a:defRPr/>
            </a:pPr>
            <a:r>
              <a:rPr lang="ru-RU" sz="12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5" name="Текст 13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507999" y="11824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6" name="Текст 7"/>
          <p:cNvSpPr>
            <a:spLocks noGrp="1"/>
          </p:cNvSpPr>
          <p:nvPr>
            <p:ph type="body" sz="quarter" idx="14" hasCustomPrompt="1"/>
          </p:nvPr>
        </p:nvSpPr>
        <p:spPr bwMode="auto">
          <a:xfrm>
            <a:off x="5000171" y="3011486"/>
            <a:ext cx="3635830" cy="1573670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Font typeface="Arial"/>
              <a:buNone/>
              <a:defRPr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2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2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2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2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  <p:sp>
        <p:nvSpPr>
          <p:cNvPr id="7" name="Текст 13"/>
          <p:cNvSpPr>
            <a:spLocks noGrp="1"/>
          </p:cNvSpPr>
          <p:nvPr>
            <p:ph type="body" sz="quarter" idx="15" hasCustomPrompt="1"/>
          </p:nvPr>
        </p:nvSpPr>
        <p:spPr bwMode="auto">
          <a:xfrm>
            <a:off x="5000171" y="2401659"/>
            <a:ext cx="2960913" cy="595085"/>
          </a:xfrm>
        </p:spPr>
        <p:txBody>
          <a:bodyPr>
            <a:normAutofit/>
          </a:bodyPr>
          <a:lstStyle>
            <a:lvl1pPr marL="0" indent="0">
              <a:buNone/>
              <a:defRPr sz="1600" u="sng">
                <a:latin typeface="Golos Text DemiBold"/>
              </a:defRPr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5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Рисунок 2"/>
          <p:cNvSpPr>
            <a:spLocks noGrp="1"/>
          </p:cNvSpPr>
          <p:nvPr>
            <p:ph type="pic" sz="quarter" idx="10"/>
          </p:nvPr>
        </p:nvSpPr>
        <p:spPr bwMode="auto">
          <a:xfrm>
            <a:off x="457200" y="936852"/>
            <a:ext cx="4608513" cy="3842155"/>
          </a:xfrm>
          <a:prstGeom prst="roundRect">
            <a:avLst>
              <a:gd name="adj" fmla="val 761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4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824382" cy="527284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bg1"/>
                </a:solidFill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508171" y="1153886"/>
            <a:ext cx="2532743" cy="3425371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marL="0" marR="0" lvl="0" indent="0" algn="l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 typeface="Arial"/>
              <a:buNone/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  <a:p>
            <a:pPr marL="0" indent="0" algn="l">
              <a:buNone/>
              <a:defRPr/>
            </a:pPr>
            <a:endParaRPr lang="en-US" sz="1400" b="1" i="0">
              <a:solidFill>
                <a:srgbClr val="2C2D2E"/>
              </a:solidFill>
              <a:latin typeface="Golos Text"/>
            </a:endParaRPr>
          </a:p>
          <a:p>
            <a:pPr marL="0" indent="0" algn="l">
              <a:buNone/>
              <a:defRPr/>
            </a:pPr>
            <a:r>
              <a:rPr lang="ru-RU" sz="1400" b="1" i="0">
                <a:solidFill>
                  <a:srgbClr val="2C2D2E"/>
                </a:solidFill>
                <a:latin typeface="Golos Text"/>
              </a:rPr>
              <a:t>Начало списка: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список;</a:t>
            </a:r>
            <a:endParaRPr/>
          </a:p>
          <a:p>
            <a:pPr algn="l">
              <a:buFont typeface="Arial"/>
              <a:buChar char="•"/>
              <a:defRPr/>
            </a:pPr>
            <a:r>
              <a:rPr lang="ru-RU" sz="1400" b="0" i="0">
                <a:solidFill>
                  <a:srgbClr val="2C2D2E"/>
                </a:solidFill>
                <a:latin typeface="Golos Text"/>
              </a:rPr>
              <a:t> конец списка.</a:t>
            </a:r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6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3102428" y="943208"/>
            <a:ext cx="5526315" cy="387553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Здесь при необходимости располагается основной текст слайда, ключевая формулировка.</a:t>
            </a:r>
            <a:endParaRPr/>
          </a:p>
        </p:txBody>
      </p:sp>
      <p:sp>
        <p:nvSpPr>
          <p:cNvPr id="6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3208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4"/>
          </p:nvPr>
        </p:nvSpPr>
        <p:spPr bwMode="auto">
          <a:xfrm>
            <a:off x="457200" y="2935720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9_Пользовательский макет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57201" y="1059322"/>
            <a:ext cx="3897086" cy="1734678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57202" y="3105836"/>
            <a:ext cx="3897084" cy="1640335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5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789714" y="1059322"/>
            <a:ext cx="3632201" cy="3686849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>
              <a:defRPr/>
            </a:pPr>
            <a:r>
              <a:rPr lang="ru-RU" sz="1400">
                <a:latin typeface="Golos Text"/>
              </a:rPr>
              <a:t>Основной текст слайда, ключевая формулировка.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4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0945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969804" y="2933902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9" name="Content Placeholder 2"/>
          <p:cNvSpPr>
            <a:spLocks noGrp="1"/>
          </p:cNvSpPr>
          <p:nvPr>
            <p:ph sz="half" idx="1" hasCustomPrompt="1"/>
          </p:nvPr>
        </p:nvSpPr>
        <p:spPr bwMode="auto">
          <a:xfrm>
            <a:off x="457200" y="3287828"/>
            <a:ext cx="2588883" cy="139554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0" name="Content Placeholder 3"/>
          <p:cNvSpPr>
            <a:spLocks noGrp="1"/>
          </p:cNvSpPr>
          <p:nvPr>
            <p:ph sz="half" idx="2" hasCustomPrompt="1"/>
          </p:nvPr>
        </p:nvSpPr>
        <p:spPr bwMode="auto">
          <a:xfrm>
            <a:off x="3207251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0" name="Content Placeholder 3"/>
          <p:cNvSpPr>
            <a:spLocks noGrp="1"/>
          </p:cNvSpPr>
          <p:nvPr>
            <p:ph sz="half" idx="26" hasCustomPrompt="1"/>
          </p:nvPr>
        </p:nvSpPr>
        <p:spPr bwMode="auto">
          <a:xfrm>
            <a:off x="5967600" y="3299578"/>
            <a:ext cx="2591416" cy="1395548"/>
          </a:xfrm>
        </p:spPr>
        <p:txBody>
          <a:bodyPr>
            <a:noAutofit/>
          </a:bodyPr>
          <a:lstStyle>
            <a:lvl1pPr marL="0" indent="0">
              <a:buNone/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69081" y="944463"/>
            <a:ext cx="2577001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7"/>
          </p:nvPr>
        </p:nvSpPr>
        <p:spPr bwMode="auto">
          <a:xfrm>
            <a:off x="3221666" y="944462"/>
            <a:ext cx="2577001" cy="1883023"/>
          </a:xfrm>
          <a:prstGeom prst="roundRect">
            <a:avLst>
              <a:gd name="adj" fmla="val 12905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6" name="Рисунок 2"/>
          <p:cNvSpPr>
            <a:spLocks noGrp="1"/>
          </p:cNvSpPr>
          <p:nvPr>
            <p:ph type="pic" sz="quarter" idx="28"/>
          </p:nvPr>
        </p:nvSpPr>
        <p:spPr bwMode="auto">
          <a:xfrm>
            <a:off x="5980690" y="944463"/>
            <a:ext cx="2577001" cy="1883023"/>
          </a:xfrm>
          <a:prstGeom prst="roundRect">
            <a:avLst>
              <a:gd name="adj" fmla="val 1051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  <p:hf dt="0" ftr="1" hdr="0" sldNum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7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5733143" y="949329"/>
            <a:ext cx="2895600" cy="3895723"/>
          </a:xfrm>
        </p:spPr>
        <p:txBody>
          <a:bodyPr>
            <a:normAutofit/>
          </a:bodyPr>
          <a:lstStyle>
            <a:lvl1pPr marL="0" indent="0">
              <a:buNone/>
              <a:defRPr sz="1400" b="0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Текст</a:t>
            </a:r>
            <a:endParaRPr/>
          </a:p>
        </p:txBody>
      </p:sp>
      <p:sp>
        <p:nvSpPr>
          <p:cNvPr id="4" name="Рисунок 2"/>
          <p:cNvSpPr>
            <a:spLocks noGrp="1"/>
          </p:cNvSpPr>
          <p:nvPr>
            <p:ph type="pic" sz="quarter" idx="13"/>
          </p:nvPr>
        </p:nvSpPr>
        <p:spPr bwMode="auto">
          <a:xfrm>
            <a:off x="457200" y="949329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8" name="Рисунок 2"/>
          <p:cNvSpPr>
            <a:spLocks noGrp="1"/>
          </p:cNvSpPr>
          <p:nvPr>
            <p:ph type="pic" sz="quarter" idx="16"/>
          </p:nvPr>
        </p:nvSpPr>
        <p:spPr bwMode="auto">
          <a:xfrm>
            <a:off x="3095170" y="949328"/>
            <a:ext cx="2532744" cy="1883023"/>
          </a:xfrm>
          <a:prstGeom prst="roundRect">
            <a:avLst>
              <a:gd name="adj" fmla="val 1187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457199" y="2962031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8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4" name="Текст 6"/>
          <p:cNvSpPr>
            <a:spLocks noGrp="1"/>
          </p:cNvSpPr>
          <p:nvPr>
            <p:ph type="body" sz="quarter" idx="13" hasCustomPrompt="1"/>
          </p:nvPr>
        </p:nvSpPr>
        <p:spPr bwMode="auto">
          <a:xfrm>
            <a:off x="457201" y="963397"/>
            <a:ext cx="2532744" cy="1883023"/>
          </a:xfrm>
        </p:spPr>
        <p:txBody>
          <a:bodyPr>
            <a:normAutofit/>
          </a:bodyPr>
          <a:lstStyle>
            <a:lvl1pPr marL="0" indent="0">
              <a:buNone/>
              <a:defRPr sz="1800" b="1" i="0"/>
            </a:lvl1pPr>
            <a:lvl2pPr marL="457200" indent="0">
              <a:buNone/>
              <a:defRPr sz="1400"/>
            </a:lvl2pPr>
            <a:lvl3pPr marL="914400" indent="0">
              <a:buNone/>
              <a:defRPr sz="1400"/>
            </a:lvl3pPr>
            <a:lvl4pPr marL="1371600" indent="0">
              <a:buNone/>
              <a:defRPr sz="1400"/>
            </a:lvl4pPr>
            <a:lvl5pPr marL="1828800" indent="0">
              <a:buFont typeface="Arial"/>
              <a:buNone/>
              <a:defRPr sz="1400"/>
            </a:lvl5pPr>
          </a:lstStyle>
          <a:p>
            <a:pPr lvl="0">
              <a:defRPr/>
            </a:pPr>
            <a:r>
              <a:rPr lang="ru-RU"/>
              <a:t>Ключевая фраза слайда</a:t>
            </a:r>
            <a:endParaRPr/>
          </a:p>
        </p:txBody>
      </p:sp>
      <p:sp>
        <p:nvSpPr>
          <p:cNvPr id="7" name="Рисунок 2"/>
          <p:cNvSpPr>
            <a:spLocks noGrp="1"/>
          </p:cNvSpPr>
          <p:nvPr>
            <p:ph type="pic" sz="quarter" idx="17"/>
          </p:nvPr>
        </p:nvSpPr>
        <p:spPr bwMode="auto">
          <a:xfrm>
            <a:off x="3095170" y="963397"/>
            <a:ext cx="2532744" cy="1883023"/>
          </a:xfrm>
          <a:prstGeom prst="roundRect">
            <a:avLst>
              <a:gd name="adj" fmla="val 11537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0" name="Рисунок 2"/>
          <p:cNvSpPr>
            <a:spLocks noGrp="1"/>
          </p:cNvSpPr>
          <p:nvPr>
            <p:ph type="pic" sz="quarter" idx="18"/>
          </p:nvPr>
        </p:nvSpPr>
        <p:spPr bwMode="auto">
          <a:xfrm>
            <a:off x="5733141" y="966928"/>
            <a:ext cx="2532744" cy="1883023"/>
          </a:xfrm>
          <a:prstGeom prst="roundRect">
            <a:avLst>
              <a:gd name="adj" fmla="val 11196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19"/>
          </p:nvPr>
        </p:nvSpPr>
        <p:spPr bwMode="auto">
          <a:xfrm>
            <a:off x="5733141" y="2954042"/>
            <a:ext cx="2532744" cy="1883023"/>
          </a:xfrm>
          <a:prstGeom prst="roundRect">
            <a:avLst>
              <a:gd name="adj" fmla="val 8802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20"/>
          </p:nvPr>
        </p:nvSpPr>
        <p:spPr bwMode="auto">
          <a:xfrm>
            <a:off x="3095170" y="2960314"/>
            <a:ext cx="2532744" cy="1883023"/>
          </a:xfrm>
          <a:prstGeom prst="roundRect">
            <a:avLst>
              <a:gd name="adj" fmla="val 845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21"/>
          </p:nvPr>
        </p:nvSpPr>
        <p:spPr bwMode="auto">
          <a:xfrm>
            <a:off x="457200" y="2960314"/>
            <a:ext cx="2532744" cy="1883023"/>
          </a:xfrm>
          <a:prstGeom prst="roundRect">
            <a:avLst>
              <a:gd name="adj" fmla="val 10169"/>
            </a:avLst>
          </a:prstGeom>
        </p:spPr>
        <p:txBody>
          <a:bodyPr/>
          <a:lstStyle/>
          <a:p>
            <a:pPr>
              <a:defRPr/>
            </a:pPr>
            <a:endParaRPr lang="ru-RU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userDrawn="1">
  <p:cSld name="10_Custom Layout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" name="Text Placeholder 24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457201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6" name="Text Placeholder 2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75819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7" name="Text Placeholder 24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6085706" y="2367645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5"/>
            <a:ext cx="6291943" cy="527284"/>
          </a:xfrm>
        </p:spPr>
        <p:txBody>
          <a:bodyPr>
            <a:normAutofit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11" name="Рисунок 2"/>
          <p:cNvSpPr>
            <a:spLocks noGrp="1"/>
          </p:cNvSpPr>
          <p:nvPr>
            <p:ph type="pic" sz="quarter" idx="31" hasCustomPrompt="1"/>
          </p:nvPr>
        </p:nvSpPr>
        <p:spPr bwMode="auto">
          <a:xfrm>
            <a:off x="454050" y="952607"/>
            <a:ext cx="2589213" cy="1304294"/>
          </a:xfrm>
          <a:prstGeom prst="roundRect">
            <a:avLst>
              <a:gd name="adj" fmla="val 9261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2" name="Рисунок 2"/>
          <p:cNvSpPr>
            <a:spLocks noGrp="1"/>
          </p:cNvSpPr>
          <p:nvPr>
            <p:ph type="pic" sz="quarter" idx="32" hasCustomPrompt="1"/>
          </p:nvPr>
        </p:nvSpPr>
        <p:spPr bwMode="auto">
          <a:xfrm>
            <a:off x="3275818" y="952607"/>
            <a:ext cx="2589213" cy="1304294"/>
          </a:xfrm>
          <a:prstGeom prst="roundRect">
            <a:avLst>
              <a:gd name="adj" fmla="val 11730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3" name="Рисунок 2"/>
          <p:cNvSpPr>
            <a:spLocks noGrp="1"/>
          </p:cNvSpPr>
          <p:nvPr>
            <p:ph type="pic" sz="quarter" idx="33" hasCustomPrompt="1"/>
          </p:nvPr>
        </p:nvSpPr>
        <p:spPr bwMode="auto">
          <a:xfrm>
            <a:off x="6089789" y="952607"/>
            <a:ext cx="2589213" cy="1304294"/>
          </a:xfrm>
          <a:prstGeom prst="roundRect">
            <a:avLst>
              <a:gd name="adj" fmla="val 10249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14" name="Text Placeholder 24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460351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5" name="Text Placeholder 24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3278970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17" name="Text Placeholder 24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088857" y="4281396"/>
            <a:ext cx="2589213" cy="269081"/>
          </a:xfrm>
        </p:spPr>
        <p:txBody>
          <a:bodyPr>
            <a:normAutofit/>
          </a:bodyPr>
          <a:lstStyle>
            <a:lvl1pPr marL="0" indent="0">
              <a:buFont typeface="Arial"/>
              <a:buNone/>
              <a:defRPr sz="1200" b="1" i="0"/>
            </a:lvl1pPr>
          </a:lstStyle>
          <a:p>
            <a:pPr lvl="0">
              <a:defRPr/>
            </a:pPr>
            <a:r>
              <a:rPr lang="ru-RU"/>
              <a:t>Подзаголовок</a:t>
            </a:r>
            <a:endParaRPr/>
          </a:p>
        </p:txBody>
      </p:sp>
      <p:sp>
        <p:nvSpPr>
          <p:cNvPr id="23" name="Рисунок 2"/>
          <p:cNvSpPr>
            <a:spLocks noGrp="1"/>
          </p:cNvSpPr>
          <p:nvPr>
            <p:ph type="pic" sz="quarter" idx="37" hasCustomPrompt="1"/>
          </p:nvPr>
        </p:nvSpPr>
        <p:spPr bwMode="auto">
          <a:xfrm>
            <a:off x="457201" y="2866358"/>
            <a:ext cx="2589213" cy="1304294"/>
          </a:xfrm>
          <a:prstGeom prst="roundRect">
            <a:avLst>
              <a:gd name="adj" fmla="val 12224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24" name="Рисунок 2"/>
          <p:cNvSpPr>
            <a:spLocks noGrp="1"/>
          </p:cNvSpPr>
          <p:nvPr>
            <p:ph type="pic" sz="quarter" idx="38" hasCustomPrompt="1"/>
          </p:nvPr>
        </p:nvSpPr>
        <p:spPr bwMode="auto">
          <a:xfrm>
            <a:off x="3278969" y="2866358"/>
            <a:ext cx="2589213" cy="1304294"/>
          </a:xfrm>
          <a:prstGeom prst="roundRect">
            <a:avLst>
              <a:gd name="adj" fmla="val 11236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  <p:sp>
        <p:nvSpPr>
          <p:cNvPr id="31" name="Рисунок 2"/>
          <p:cNvSpPr>
            <a:spLocks noGrp="1"/>
          </p:cNvSpPr>
          <p:nvPr>
            <p:ph type="pic" sz="quarter" idx="39" hasCustomPrompt="1"/>
          </p:nvPr>
        </p:nvSpPr>
        <p:spPr bwMode="auto">
          <a:xfrm>
            <a:off x="6092940" y="2866358"/>
            <a:ext cx="2589213" cy="1304294"/>
          </a:xfrm>
          <a:prstGeom prst="roundRect">
            <a:avLst>
              <a:gd name="adj" fmla="val 9755"/>
            </a:avLst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ru-RU"/>
              <a:t>Изображение</a:t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306434"/>
            <a:ext cx="8229600" cy="6204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ru-RU"/>
              <a:t>Заголовок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121912"/>
            <a:ext cx="8229600" cy="289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ru-RU"/>
              <a:t>Образец текста</a:t>
            </a:r>
            <a:endParaRPr/>
          </a:p>
        </p:txBody>
      </p:sp>
      <p:sp>
        <p:nvSpPr>
          <p:cNvPr id="4" name="TextBox 3"/>
          <p:cNvSpPr txBox="1"/>
          <p:nvPr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  <p:sp>
        <p:nvSpPr>
          <p:cNvPr id="5" name="TextBox 4"/>
          <p:cNvSpPr txBox="1"/>
          <p:nvPr userDrawn="1"/>
        </p:nvSpPr>
        <p:spPr bwMode="auto">
          <a:xfrm>
            <a:off x="-865051" y="413412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hf dt="0" ftr="1" hdr="0" sldNum="0"/>
  <p:txStyles>
    <p:titleStyle>
      <a:lvl1pPr algn="l" defTabSz="457200">
        <a:spcBef>
          <a:spcPts val="0"/>
        </a:spcBef>
        <a:buNone/>
        <a:defRPr sz="3600" b="1" i="0">
          <a:solidFill>
            <a:schemeClr val="tx1"/>
          </a:solidFill>
          <a:latin typeface="ALS Gorizont Bold Expanded"/>
          <a:ea typeface="+mj-ea"/>
          <a:cs typeface="+mj-cs"/>
        </a:defRPr>
      </a:lvl1pPr>
    </p:titleStyle>
    <p:bodyStyle>
      <a:lvl1pPr marL="0" indent="0" algn="l" defTabSz="457200">
        <a:spcBef>
          <a:spcPts val="0"/>
        </a:spcBef>
        <a:buSzPct val="100000"/>
        <a:buFont typeface="Arial"/>
        <a:buNone/>
        <a:defRPr sz="2000">
          <a:solidFill>
            <a:schemeClr val="tx1"/>
          </a:solidFill>
          <a:latin typeface="Golos Text"/>
          <a:ea typeface="+mn-ea"/>
          <a:cs typeface="Golos Text"/>
        </a:defRPr>
      </a:lvl1pPr>
      <a:lvl2pPr marL="742950" indent="-28575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Golos Text"/>
          <a:ea typeface="+mn-ea"/>
          <a:cs typeface="Golos Text"/>
        </a:defRPr>
      </a:lvl2pPr>
      <a:lvl3pPr marL="11430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3pPr>
      <a:lvl4pPr marL="1600200" indent="-228600" algn="l" defTabSz="457200">
        <a:spcBef>
          <a:spcPts val="0"/>
        </a:spcBef>
        <a:buFont typeface="Arial"/>
        <a:buChar char="•"/>
        <a:defRPr sz="1600">
          <a:solidFill>
            <a:schemeClr val="tx1"/>
          </a:solidFill>
          <a:latin typeface="Golos Text"/>
          <a:ea typeface="+mn-ea"/>
          <a:cs typeface="Golos Text"/>
        </a:defRPr>
      </a:lvl4pPr>
      <a:lvl5pPr marL="1828800" indent="0" algn="l" defTabSz="457200">
        <a:spcBef>
          <a:spcPts val="0"/>
        </a:spcBef>
        <a:buFont typeface="Arial"/>
        <a:buNone/>
        <a:defRPr sz="1600">
          <a:solidFill>
            <a:schemeClr val="tx1"/>
          </a:solidFill>
          <a:latin typeface="Golos Text"/>
          <a:ea typeface="+mn-ea"/>
          <a:cs typeface="Golos Text"/>
        </a:defRPr>
      </a:lvl5pPr>
      <a:lvl6pPr marL="25146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>
        <a:spcBef>
          <a:spcPts val="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9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image" Target="../media/image24.png"/><Relationship Id="rId7" Type="http://schemas.openxmlformats.org/officeDocument/2006/relationships/image" Target="../media/image25.png"/><Relationship Id="rId8" Type="http://schemas.openxmlformats.org/officeDocument/2006/relationships/image" Target="../media/image26.jpg"/><Relationship Id="rId9" Type="http://schemas.openxmlformats.org/officeDocument/2006/relationships/image" Target="../media/image27.png"/><Relationship Id="rId10" Type="http://schemas.openxmlformats.org/officeDocument/2006/relationships/image" Target="../media/image28.jpg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9.jpg"/><Relationship Id="rId3" Type="http://schemas.openxmlformats.org/officeDocument/2006/relationships/image" Target="../media/image30.jpg"/><Relationship Id="rId4" Type="http://schemas.openxmlformats.org/officeDocument/2006/relationships/image" Target="../media/image31.png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GjZPDdWx3w?si=0Q3YJ8r0qpavi3dH" TargetMode="Externa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33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 bwMode="auto">
          <a:xfrm>
            <a:off x="339437" y="2843807"/>
            <a:ext cx="8167254" cy="704850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>
                <a:solidFill>
                  <a:schemeClr val="bg1"/>
                </a:solidFill>
              </a:rPr>
              <a:t>Язык специальность</a:t>
            </a:r>
            <a:br>
              <a:rPr lang="ru-RU" sz="4400">
                <a:solidFill>
                  <a:schemeClr val="bg1"/>
                </a:solidFill>
              </a:rPr>
            </a:br>
            <a:r>
              <a:rPr lang="ru-RU" sz="4400">
                <a:solidFill>
                  <a:schemeClr val="bg1"/>
                </a:solidFill>
              </a:rPr>
              <a:t>Профессия. </a:t>
            </a:r>
            <a:br>
              <a:rPr lang="ru-RU" sz="4400">
                <a:solidFill>
                  <a:schemeClr val="bg1"/>
                </a:solidFill>
              </a:rPr>
            </a:br>
            <a:r>
              <a:rPr lang="ru-RU" sz="4400">
                <a:solidFill>
                  <a:schemeClr val="bg1"/>
                </a:solidFill>
              </a:rPr>
              <a:t>Выбор профессии.</a:t>
            </a:r>
            <a:br>
              <a:rPr lang="ru-RU" sz="4400">
                <a:solidFill>
                  <a:schemeClr val="bg1"/>
                </a:solidFill>
              </a:rPr>
            </a:br>
            <a:endParaRPr lang="en-US" sz="440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 algn="ctr">
              <a:defRPr/>
            </a:pPr>
            <a:r>
              <a:rPr lang="ru-RU"/>
              <a:t>Факультет и специальность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ru-RU" sz="2000"/>
              <a:t>На каком факультете вы учитесь? На каком направлении?</a:t>
            </a:r>
            <a:endParaRPr/>
          </a:p>
          <a:p>
            <a:pPr marL="342900" indent="-342900">
              <a:buFontTx/>
              <a:buChar char="-"/>
              <a:defRPr/>
            </a:pPr>
            <a:r>
              <a:rPr lang="ru-RU" sz="2000"/>
              <a:t>Факультет информационных технологий и программирования (Направление – разработка программного обеспечения)</a:t>
            </a:r>
            <a:endParaRPr/>
          </a:p>
          <a:p>
            <a:pPr marL="342900" indent="-342900">
              <a:buFontTx/>
              <a:buChar char="-"/>
              <a:defRPr/>
            </a:pPr>
            <a:r>
              <a:rPr lang="ru-RU" sz="2000"/>
              <a:t>Факультет программной инженерии и компьютерной техники</a:t>
            </a:r>
            <a:endParaRPr lang="ru-RU" sz="2000"/>
          </a:p>
          <a:p>
            <a:pPr marL="342900" indent="-342900">
              <a:buFontTx/>
              <a:buChar char="-"/>
              <a:defRPr/>
            </a:pPr>
            <a:r>
              <a:rPr lang="ru-RU" sz="2000"/>
              <a:t>Факультет систем управления и робототехники (направление – робототехника и искусственный интеллект</a:t>
            </a:r>
            <a:r>
              <a:rPr lang="ru-RU" sz="2000"/>
              <a:t>)</a:t>
            </a:r>
            <a:endParaRPr/>
          </a:p>
          <a:p>
            <a:pPr marL="342900" indent="-342900">
              <a:buFontTx/>
              <a:buChar char="-"/>
              <a:defRPr/>
            </a:pPr>
            <a:r>
              <a:rPr lang="ru-RU" sz="2000"/>
              <a:t>Факультет безопасности информационных технологий</a:t>
            </a:r>
            <a:endParaRPr/>
          </a:p>
          <a:p>
            <a:pPr marL="342900" indent="-342900">
              <a:buFontTx/>
              <a:buChar char="-"/>
              <a:defRPr/>
            </a:pPr>
            <a:r>
              <a:rPr lang="ru-RU" sz="2000"/>
              <a:t>Факультет </a:t>
            </a:r>
            <a:r>
              <a:rPr lang="ru-RU" sz="2000"/>
              <a:t>фотоники</a:t>
            </a:r>
            <a:endParaRPr lang="ru-RU" sz="2000"/>
          </a:p>
          <a:p>
            <a:pPr marL="342900" indent="-342900">
              <a:buFontTx/>
              <a:buChar char="-"/>
              <a:defRPr/>
            </a:pPr>
            <a:endParaRPr lang="ru-RU" sz="2000"/>
          </a:p>
          <a:p>
            <a:pPr>
              <a:defRPr/>
            </a:pPr>
            <a:endParaRPr lang="ru-RU" sz="20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Какие </a:t>
            </a:r>
            <a:r>
              <a:rPr lang="en-US"/>
              <a:t>IT</a:t>
            </a:r>
            <a:r>
              <a:rPr lang="ru-RU"/>
              <a:t>-профессии вы знаете?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normAutofit fontScale="95000" lnSpcReduction="1000"/>
          </a:bodyPr>
          <a:lstStyle/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Нейротехнолог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Веб-дизайнер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Белый хакер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Бэк-энд разрабочтик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Фрон-энд разработчик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Фулстак разработчик  +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Дата сайнетист +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Инженер сетей +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Специалист техподдержки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Тимлид 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Девопс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Специалист / аналитик данных 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Специалист по информ. Безопасности («кибербезопасник») +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Разработчик +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 Администратор баз данных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Системный аналитик</a:t>
            </a:r>
            <a:endParaRPr lang="ru-RU"/>
          </a:p>
          <a:p>
            <a:pPr marL="239821" indent="-239821">
              <a:buSzPct val="100000"/>
              <a:buFont typeface="Arial"/>
              <a:buChar char="•"/>
              <a:defRPr/>
            </a:pPr>
            <a:r>
              <a:rPr lang="ru-RU"/>
              <a:t>Архитектор баз данных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000"/>
              <a:t>Как называется ваша будущая профессия? На кого вы учитесь? Где вы можете работать?</a:t>
            </a:r>
            <a:endParaRPr lang="ru-RU" sz="2000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>
            <a:normAutofit/>
          </a:bodyPr>
          <a:lstStyle/>
          <a:p>
            <a:pPr>
              <a:defRPr/>
            </a:pPr>
            <a:r>
              <a:rPr lang="ru-RU" sz="2400"/>
              <a:t>Моя будущая профессия называется …</a:t>
            </a:r>
            <a:endParaRPr/>
          </a:p>
          <a:p>
            <a:pPr>
              <a:defRPr/>
            </a:pPr>
            <a:r>
              <a:rPr lang="ru-RU" sz="2400"/>
              <a:t>Я учусь на + П4</a:t>
            </a:r>
            <a:endParaRPr lang="ru-RU" sz="2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Почему </a:t>
            </a:r>
            <a:r>
              <a:rPr lang="ru-RU"/>
              <a:t>люди выбирают </a:t>
            </a:r>
            <a:r>
              <a:rPr lang="en-US"/>
              <a:t>IT</a:t>
            </a:r>
            <a:r>
              <a:rPr lang="ru-RU"/>
              <a:t>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285750" indent="-285750">
              <a:buFont typeface="Arial"/>
              <a:buChar char="•"/>
              <a:defRPr/>
            </a:pPr>
            <a:r>
              <a:rPr lang="ru-RU"/>
              <a:t>Профессия будущего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Легко найти работу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Перспективная и современная профессия  – карьерный рост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Смогу получать высокую зарплату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Смогу работать в крупных компаниях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Есть возможность для саморазвития </a:t>
            </a:r>
            <a:endParaRPr/>
          </a:p>
          <a:p>
            <a:pPr marL="285750" indent="-285750">
              <a:buFont typeface="Arial"/>
              <a:buChar char="•"/>
              <a:defRPr/>
            </a:pPr>
            <a:r>
              <a:rPr lang="ru-RU"/>
              <a:t>Мало хороших специалистов в этой сфере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Какие навыки необходимо развивать?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Развивать – развить </a:t>
            </a:r>
            <a:endParaRPr/>
          </a:p>
          <a:p>
            <a:pPr>
              <a:defRPr/>
            </a:pPr>
            <a:endParaRPr lang="ru-RU"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Программирование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Работа в команде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Тайм-менеджмент</a:t>
            </a:r>
            <a:endParaRPr lang="ru-RU">
              <a:solidFill>
                <a:schemeClr val="accent1"/>
              </a:solidFill>
            </a:endParaRPr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Обучаемость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Математика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Алгоритмы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Структура данных</a:t>
            </a:r>
            <a:endParaRPr/>
          </a:p>
          <a:p>
            <a:pPr marL="285750" indent="-285750">
              <a:buFontTx/>
              <a:buChar char="-"/>
              <a:defRPr/>
            </a:pPr>
            <a:r>
              <a:rPr lang="ru-RU">
                <a:solidFill>
                  <a:schemeClr val="accent1"/>
                </a:solidFill>
              </a:rPr>
              <a:t>Аналитическое мышление </a:t>
            </a:r>
            <a:endParaRPr lang="ru-RU">
              <a:solidFill>
                <a:schemeClr val="accent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Текст 1"/>
          <p:cNvSpPr>
            <a:spLocks noGrp="1"/>
          </p:cNvSpPr>
          <p:nvPr>
            <p:ph type="body" sz="quarter" idx="11"/>
          </p:nvPr>
        </p:nvSpPr>
        <p:spPr bwMode="auto"/>
        <p:txBody>
          <a:bodyPr>
            <a:normAutofit/>
          </a:bodyPr>
          <a:lstStyle/>
          <a:p>
            <a:pPr marL="342900" indent="-342900">
              <a:buFont typeface="Arial"/>
              <a:buChar char="•"/>
              <a:defRPr/>
            </a:pPr>
            <a:r>
              <a:rPr lang="ru-RU" sz="2000"/>
              <a:t>Компьютерные игры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 sz="2000"/>
              <a:t>Медицина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 sz="2000"/>
              <a:t>Дорожное движение; логистика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 sz="2000"/>
              <a:t>Умный дом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 sz="2000"/>
              <a:t>Робототехника</a:t>
            </a:r>
            <a:endParaRPr/>
          </a:p>
          <a:p>
            <a:pPr marL="342900" indent="-342900">
              <a:buFont typeface="Arial"/>
              <a:buChar char="•"/>
              <a:defRPr/>
            </a:pPr>
            <a:r>
              <a:rPr lang="ru-RU" sz="2000"/>
              <a:t>Беспилотные автомобили </a:t>
            </a:r>
            <a:endParaRPr lang="ru-RU" sz="200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В какой сфере </a:t>
            </a:r>
            <a:r>
              <a:rPr lang="ru-RU"/>
              <a:t>нужны программисты?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Autofit/>
          </a:bodyPr>
          <a:lstStyle/>
          <a:p>
            <a:pPr>
              <a:defRPr/>
            </a:pPr>
            <a:r>
              <a:rPr lang="ru-RU" sz="2000"/>
              <a:t>Российские компании, в которых </a:t>
            </a:r>
            <a:r>
              <a:rPr lang="en-US" sz="2000"/>
              <a:t>IT</a:t>
            </a:r>
            <a:r>
              <a:rPr lang="ru-RU" sz="2000"/>
              <a:t>-специалисты получают самую высокую зарплату</a:t>
            </a:r>
            <a:endParaRPr lang="ru-RU" sz="2000"/>
          </a:p>
        </p:txBody>
      </p:sp>
      <p:pic>
        <p:nvPicPr>
          <p:cNvPr id="4" name="Объект 3"/>
          <p:cNvPicPr>
            <a:picLocks noChangeAspect="1" noGrp="1"/>
          </p:cNvPicPr>
          <p:nvPr>
            <p:ph sz="half" idx="1"/>
          </p:nvPr>
        </p:nvPicPr>
        <p:blipFill>
          <a:blip r:embed="rId2"/>
          <a:stretch/>
        </p:blipFill>
        <p:spPr bwMode="auto">
          <a:xfrm>
            <a:off x="457200" y="1203850"/>
            <a:ext cx="2842912" cy="1087414"/>
          </a:xfrm>
          <a:prstGeom prst="rect">
            <a:avLst/>
          </a:prstGeom>
        </p:spPr>
      </p:pic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526031" y="977305"/>
            <a:ext cx="3203689" cy="102618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752342" y="2498019"/>
            <a:ext cx="2473485" cy="714026"/>
          </a:xfrm>
          <a:prstGeom prst="rect">
            <a:avLst/>
          </a:prstGeom>
        </p:spPr>
      </p:pic>
      <p:pic>
        <p:nvPicPr>
          <p:cNvPr id="3" name="Рисунок 2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>
            <a:off x="3526031" y="1904917"/>
            <a:ext cx="1916786" cy="1469536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/>
        </p:nvPicPr>
        <p:blipFill>
          <a:blip r:embed="rId6"/>
          <a:stretch/>
        </p:blipFill>
        <p:spPr bwMode="auto">
          <a:xfrm>
            <a:off x="752342" y="3418800"/>
            <a:ext cx="1845037" cy="728304"/>
          </a:xfrm>
          <a:prstGeom prst="rect">
            <a:avLst/>
          </a:prstGeom>
        </p:spPr>
      </p:pic>
      <p:pic>
        <p:nvPicPr>
          <p:cNvPr id="10" name="Рисунок 9"/>
          <p:cNvPicPr>
            <a:picLocks noChangeAspect="1"/>
          </p:cNvPicPr>
          <p:nvPr/>
        </p:nvPicPr>
        <p:blipFill>
          <a:blip r:embed="rId7"/>
          <a:stretch/>
        </p:blipFill>
        <p:spPr bwMode="auto">
          <a:xfrm>
            <a:off x="6729720" y="1114036"/>
            <a:ext cx="1958377" cy="1102067"/>
          </a:xfrm>
          <a:prstGeom prst="rect">
            <a:avLst/>
          </a:prstGeom>
        </p:spPr>
      </p:pic>
      <p:pic>
        <p:nvPicPr>
          <p:cNvPr id="11" name="Рисунок 10"/>
          <p:cNvPicPr>
            <a:picLocks noChangeAspect="1"/>
          </p:cNvPicPr>
          <p:nvPr/>
        </p:nvPicPr>
        <p:blipFill>
          <a:blip r:embed="rId8"/>
          <a:stretch/>
        </p:blipFill>
        <p:spPr bwMode="auto">
          <a:xfrm>
            <a:off x="6220264" y="2429903"/>
            <a:ext cx="2122636" cy="1036442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9"/>
          <a:stretch/>
        </p:blipFill>
        <p:spPr bwMode="auto">
          <a:xfrm>
            <a:off x="3105790" y="3486951"/>
            <a:ext cx="2196413" cy="592002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10"/>
          <a:stretch/>
        </p:blipFill>
        <p:spPr bwMode="auto">
          <a:xfrm>
            <a:off x="6315860" y="3636798"/>
            <a:ext cx="1709810" cy="78914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54492476" name="Title 1"/>
          <p:cNvSpPr>
            <a:spLocks noGrp="1"/>
          </p:cNvSpPr>
          <p:nvPr>
            <p:ph type="title" hasCustomPrompt="1"/>
          </p:nvPr>
        </p:nvSpPr>
        <p:spPr bwMode="auto">
          <a:xfrm>
            <a:off x="457200" y="306434"/>
            <a:ext cx="6824381" cy="527283"/>
          </a:xfrm>
        </p:spPr>
        <p:txBody>
          <a:bodyPr>
            <a:normAutofit fontScale="90000"/>
          </a:bodyPr>
          <a:lstStyle>
            <a:lvl1pPr>
              <a:defRPr sz="3200">
                <a:latin typeface="Golos Text DemiBold"/>
              </a:defRPr>
            </a:lvl1pPr>
          </a:lstStyle>
          <a:p>
            <a:pPr>
              <a:defRPr/>
            </a:pPr>
            <a:r>
              <a:rPr/>
              <a:t>Идеальное рабочее место</a:t>
            </a:r>
            <a:endParaRPr/>
          </a:p>
        </p:txBody>
      </p:sp>
      <p:pic>
        <p:nvPicPr>
          <p:cNvPr id="1719391042" name="Объект 1719391041"/>
          <p:cNvPicPr>
            <a:picLocks noChangeAspect="1" noGrp="1"/>
          </p:cNvPicPr>
          <p:nvPr>
            <p:ph sz="half" idx="1" hasCustomPrompt="1"/>
          </p:nvPr>
        </p:nvPicPr>
        <p:blipFill>
          <a:blip r:embed="rId2"/>
          <a:stretch/>
        </p:blipFill>
        <p:spPr bwMode="auto">
          <a:xfrm>
            <a:off x="457200" y="1104899"/>
            <a:ext cx="2773815" cy="1849210"/>
          </a:xfrm>
          <a:prstGeom prst="rect">
            <a:avLst/>
          </a:prstGeom>
        </p:spPr>
      </p:pic>
      <p:pic>
        <p:nvPicPr>
          <p:cNvPr id="1039990503" name="Рисунок 1039990502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448049" y="1166812"/>
            <a:ext cx="2247899" cy="2809874"/>
          </a:xfrm>
          <a:prstGeom prst="rect">
            <a:avLst/>
          </a:prstGeom>
        </p:spPr>
      </p:pic>
      <p:pic>
        <p:nvPicPr>
          <p:cNvPr id="2023255878" name="Рисунок 2023255877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>
            <a:off x="5899820" y="2339748"/>
            <a:ext cx="2463129" cy="16369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Вопросы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ru-RU"/>
              <a:t>На каком факультете ты учишься?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Какая твоя специальность?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Что ты изучаешь сейчас?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Какой предмет для тебя самый трудный?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Какой предмет, по твоему мнению, самый важный для будущей работы?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Кем ты хочешь работать? В какой сфере?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Где ты хочешь работать?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Какую зарплату ты хочешь получать?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Ты хочешь работать удалённо? Или тебе нравится работать в офисе?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Чему тебе нужно научиться?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ru-RU"/>
              <a:t>Профессия / Работа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ru-RU"/>
              <a:t>Что должен уметь?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Что должен делать?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Какую зарплату получает специалист в этой сфере?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Где работают эти специалисты?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Есть ли карьерный рост?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Как вы думаете, искусственный интеллект может выполнить эту работу?</a:t>
            </a:r>
            <a:endParaRPr/>
          </a:p>
          <a:p>
            <a:pPr marL="342900" indent="-342900">
              <a:buAutoNum type="arabicPeriod"/>
              <a:defRPr/>
            </a:pPr>
            <a:endParaRPr lang="ru-RU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/>
        </p:blipFill>
        <p:spPr bwMode="auto">
          <a:xfrm>
            <a:off x="7000051" y="3315521"/>
            <a:ext cx="1656323" cy="1104215"/>
          </a:xfrm>
          <a:prstGeom prst="rect">
            <a:avLst/>
          </a:prstGeom>
        </p:spPr>
      </p:pic>
      <p:cxnSp>
        <p:nvCxnSpPr>
          <p:cNvPr id="6" name="Прямая со стрелкой 5"/>
          <p:cNvCxnSpPr>
            <a:cxnSpLocks/>
          </p:cNvCxnSpPr>
          <p:nvPr/>
        </p:nvCxnSpPr>
        <p:spPr bwMode="auto">
          <a:xfrm flipH="1" flipV="1">
            <a:off x="3598394" y="2789249"/>
            <a:ext cx="3183954" cy="107837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 marL="342900" indent="-342900">
              <a:buAutoNum type="arabicPeriod"/>
              <a:defRPr/>
            </a:pPr>
            <a:r>
              <a:rPr lang="en-US"/>
              <a:t>Data  Scientist 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Аналитик данных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Инженер машинного обучения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Архитектор больших данных (</a:t>
            </a:r>
            <a:r>
              <a:rPr lang="en-US"/>
              <a:t>Big Data)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Блокчэйн</a:t>
            </a:r>
            <a:r>
              <a:rPr lang="ru-RU"/>
              <a:t>-разработчик</a:t>
            </a:r>
            <a:endParaRPr/>
          </a:p>
          <a:p>
            <a:pPr marL="342900" indent="-342900">
              <a:buAutoNum type="arabicPeriod"/>
              <a:defRPr/>
            </a:pPr>
            <a:r>
              <a:rPr lang="en-US"/>
              <a:t>Scrum-</a:t>
            </a:r>
            <a:r>
              <a:rPr lang="ru-RU"/>
              <a:t>мастер</a:t>
            </a:r>
            <a:endParaRPr/>
          </a:p>
          <a:p>
            <a:pPr marL="342900" indent="-342900">
              <a:buAutoNum type="arabicPeriod"/>
              <a:defRPr/>
            </a:pPr>
            <a:r>
              <a:rPr lang="en-US"/>
              <a:t>DevOps</a:t>
            </a:r>
            <a:endParaRPr/>
          </a:p>
          <a:p>
            <a:pPr marL="342900" indent="-342900">
              <a:buAutoNum type="arabicPeriod"/>
              <a:defRPr/>
            </a:pPr>
            <a:r>
              <a:rPr lang="ru-RU"/>
              <a:t>Специалист по </a:t>
            </a:r>
            <a:r>
              <a:rPr lang="ru-RU"/>
              <a:t>кибер</a:t>
            </a:r>
            <a:r>
              <a:rPr lang="ru-RU"/>
              <a:t>-безопасности</a:t>
            </a:r>
            <a:endParaRPr/>
          </a:p>
          <a:p>
            <a:pPr marL="342900" indent="-342900">
              <a:buAutoNum type="arabicPeriod"/>
              <a:defRPr/>
            </a:pPr>
            <a:r>
              <a:rPr lang="en-US"/>
              <a:t>AR</a:t>
            </a:r>
            <a:r>
              <a:rPr lang="ru-RU"/>
              <a:t>/</a:t>
            </a:r>
            <a:r>
              <a:rPr lang="en-US"/>
              <a:t>VR </a:t>
            </a:r>
            <a:r>
              <a:rPr lang="ru-RU"/>
              <a:t>разработчик</a:t>
            </a:r>
            <a:endParaRPr/>
          </a:p>
          <a:p>
            <a:pPr marL="342900" indent="-342900">
              <a:buAutoNum type="arabicPeriod"/>
              <a:defRPr/>
            </a:pPr>
            <a:r>
              <a:rPr lang="en-US"/>
              <a:t>UI</a:t>
            </a:r>
            <a:r>
              <a:rPr lang="ru-RU"/>
              <a:t>/</a:t>
            </a:r>
            <a:r>
              <a:rPr lang="en-US"/>
              <a:t>UX </a:t>
            </a:r>
            <a:r>
              <a:rPr lang="ru-RU"/>
              <a:t>дизайнер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 bwMode="auto"/>
        <p:txBody>
          <a:bodyPr>
            <a:normAutofit fontScale="90000"/>
          </a:bodyPr>
          <a:lstStyle/>
          <a:p>
            <a:pPr>
              <a:defRPr/>
            </a:pPr>
            <a:r>
              <a:rPr lang="en-US" u="sng">
                <a:hlinkClick r:id="rId2" tooltip="https://youtu.be/eGjZPDdWx3w?si=0Q3YJ8r0qpavi3dH"/>
              </a:rPr>
              <a:t>https://</a:t>
            </a:r>
            <a:r>
              <a:rPr lang="en-US" u="sng">
                <a:hlinkClick r:id="rId2" tooltip="https://youtu.be/eGjZPDdWx3w?si=0Q3YJ8r0qpavi3dH"/>
              </a:rPr>
              <a:t>youtu.be/eGjZPDdWx3w?si=0Q3YJ8r0qpavi3dH</a:t>
            </a:r>
            <a:r>
              <a:rPr lang="ru-RU"/>
              <a:t> 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 bwMode="auto"/>
        <p:txBody>
          <a:bodyPr/>
          <a:lstStyle/>
          <a:p>
            <a:pPr>
              <a:defRPr/>
            </a:pPr>
            <a:r>
              <a:rPr lang="ru-RU"/>
              <a:t>Давайте обсудим профессии, о которых говорят в видео</a:t>
            </a:r>
            <a:endParaRPr lang="ru-RU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howMasterPhAnim="0" show="1">
  <p:cSld name="">
    <p:bg>
      <p:bgPr shadeToTitle="0">
        <a:blipFill>
          <a:blip r:embed="rId2">
            <a:lum/>
          </a:blip>
          <a:stretch/>
        </a:blip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auto">
          <a:xfrm>
            <a:off x="457200" y="1801813"/>
            <a:ext cx="8229600" cy="620712"/>
          </a:xfrm>
        </p:spPr>
        <p:txBody>
          <a:bodyPr>
            <a:noAutofit/>
          </a:bodyPr>
          <a:lstStyle/>
          <a:p>
            <a:pPr algn="ctr">
              <a:defRPr/>
            </a:pPr>
            <a:r>
              <a:rPr lang="ru-RU" sz="4400"/>
              <a:t>Спасибо</a:t>
            </a:r>
            <a:br>
              <a:rPr lang="ru-RU" sz="4400"/>
            </a:br>
            <a:r>
              <a:rPr lang="ru-RU" sz="4400"/>
              <a:t>за внимание!</a:t>
            </a:r>
            <a:endParaRPr lang="en-US" sz="4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Тема1">
  <a:themeElements>
    <a:clrScheme name="Другая 1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Стандартная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Стандартная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R7-Office/2024.1.1.375</Application>
  <DocSecurity>0</DocSecurity>
  <PresentationFormat>Экран (16:9)</PresentationFormat>
  <Paragraphs>0</Paragraphs>
  <Slides>14</Slides>
  <Notes>14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Manager/>
  <Company/>
  <LinksUpToDate>0</LinksUpToDate>
  <SharedDoc>0</SharedDoc>
  <HyperlinkBase/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</dc:creator>
  <cp:keywords/>
  <dc:description/>
  <dc:identifier/>
  <dc:language/>
  <cp:lastModifiedBy>Оксана Колегова</cp:lastModifiedBy>
  <cp:revision>181</cp:revision>
  <dcterms:created xsi:type="dcterms:W3CDTF">2014-06-27T12:30:22Z</dcterms:created>
  <dcterms:modified xsi:type="dcterms:W3CDTF">2024-10-04T11:44:20Z</dcterms:modified>
  <cp:category/>
  <cp:contentStatus/>
  <cp:version/>
</cp:coreProperties>
</file>