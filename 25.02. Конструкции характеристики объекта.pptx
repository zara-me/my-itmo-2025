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0" d="100"/>
          <a:sy n="110" d="100"/>
        </p:scale>
        <p:origin x="682" y="6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 /><Relationship Id="rId23" Type="http://schemas.openxmlformats.org/officeDocument/2006/relationships/tableStyles" Target="tableStyles.xml" /><Relationship Id="rId24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1371600" y="2442525"/>
            <a:ext cx="6400800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Конструкции характеристики объекта</a:t>
            </a: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Первый абзац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ru-RU" sz="2200"/>
              <a:t>Составьте схематическое изображение способов получения информации человеком.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/>
              <a:t>Объясните, как вы понимаете разницу между определением и понятием.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/>
              <a:t>Найдите конструкции определения  и запишите их по-другому.</a:t>
            </a:r>
            <a:endParaRPr sz="2200"/>
          </a:p>
          <a:p>
            <a:pPr>
              <a:defRPr/>
            </a:pPr>
            <a:endParaRPr lang="ru-RU"/>
          </a:p>
          <a:p>
            <a:pPr marL="342900" indent="-342900">
              <a:buAutoNum type="arabicPeriod"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Приведите примеры, какую информацию мы можем получить через разные каналы</a:t>
            </a:r>
            <a:endParaRPr lang="ru-RU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1892300" y="1211263"/>
            <a:ext cx="4597400" cy="344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Второй абзац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ru-RU" sz="2200"/>
              <a:t>Найдите существительные со значением «процесс».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/>
              <a:t>Определите тему абзаца.</a:t>
            </a:r>
            <a:endParaRPr sz="2200"/>
          </a:p>
          <a:p>
            <a:pPr marL="342900" indent="-342900">
              <a:buAutoNum type="arabicPeriod"/>
              <a:defRPr/>
            </a:pPr>
            <a:r>
              <a:rPr lang="ru-RU" sz="2200"/>
              <a:t>Найдите в тексте причастие и замените его на «который»</a:t>
            </a:r>
            <a:endParaRPr lang="ru-RU" sz="2200"/>
          </a:p>
          <a:p>
            <a:pPr marL="342900" indent="-342900">
              <a:buAutoNum type="arabicPeriod"/>
              <a:defRPr/>
            </a:pPr>
            <a:r>
              <a:rPr lang="ru-RU" sz="2200"/>
              <a:t>Найдите в Интернете 2 определения термина «информация»</a:t>
            </a:r>
            <a:endParaRPr lang="ru-RU" sz="2200"/>
          </a:p>
          <a:p>
            <a:pPr marL="342900" indent="-342900">
              <a:buAutoNum type="arabicPeriod"/>
              <a:defRPr/>
            </a:pPr>
            <a:r>
              <a:rPr lang="ru-RU" sz="2200"/>
              <a:t>Как вы думаете, как расширилось определение термина «машина»</a:t>
            </a:r>
            <a:endParaRPr lang="ru-RU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Третий и четвёртый абзац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ru-RU"/>
              <a:t>Какое важное условие для проявления информации?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Дайте синонимы словам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Особенность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Совершаться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Представлять собой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Структура 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Проявиться</a:t>
            </a:r>
            <a:endParaRPr/>
          </a:p>
          <a:p>
            <a:pPr>
              <a:defRPr/>
            </a:pPr>
            <a:r>
              <a:rPr lang="ru-RU"/>
              <a:t>3. Приведите примеры - Обмена информацией между людьми;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В животном мире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В растительном мире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Между живой и неживой природой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/>
              <a:t>Между человеком и устройством.</a:t>
            </a:r>
            <a:endParaRPr/>
          </a:p>
          <a:p>
            <a:pPr>
              <a:defRPr/>
            </a:pPr>
            <a:r>
              <a:rPr lang="ru-RU"/>
              <a:t>4. Оформите в схему </a:t>
            </a:r>
            <a:endParaRPr lang="ru-RU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Какие суффиксы мы используем?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/>
              <a:t>Прилагательное – существительное </a:t>
            </a:r>
            <a:endParaRPr lang="ru-RU" sz="2800"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-ость (мощность)</a:t>
            </a:r>
            <a:endParaRPr lang="ru-RU" sz="2800"/>
          </a:p>
          <a:p>
            <a:pPr>
              <a:defRPr/>
            </a:pPr>
            <a:r>
              <a:rPr lang="ru-RU" sz="2800"/>
              <a:t>-изн- (белизна)</a:t>
            </a:r>
            <a:endParaRPr lang="ru-RU" sz="2800"/>
          </a:p>
          <a:p>
            <a:pPr>
              <a:defRPr/>
            </a:pPr>
            <a:r>
              <a:rPr lang="ru-RU" sz="2800"/>
              <a:t>-от- (красота)</a:t>
            </a:r>
            <a:endParaRPr lang="ru-RU" sz="2800"/>
          </a:p>
          <a:p>
            <a:pPr>
              <a:defRPr/>
            </a:pPr>
            <a:r>
              <a:rPr lang="ru-RU" sz="2800"/>
              <a:t>-ин- (длина, ширина)</a:t>
            </a:r>
            <a:endParaRPr lang="ru-RU" sz="2800"/>
          </a:p>
        </p:txBody>
      </p:sp>
      <p:sp>
        <p:nvSpPr>
          <p:cNvPr id="2105369564" name=""/>
          <p:cNvSpPr txBox="1"/>
          <p:nvPr/>
        </p:nvSpPr>
        <p:spPr bwMode="auto">
          <a:xfrm flipH="0" flipV="0">
            <a:off x="3869390" y="3648807"/>
            <a:ext cx="4835129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/>
              <a:t>обрабатывать информацию</a:t>
            </a:r>
            <a:endParaRPr/>
          </a:p>
          <a:p>
            <a:pPr marL="283879" indent="-283879">
              <a:buFont typeface="Arial"/>
              <a:buChar char="–"/>
              <a:defRPr/>
            </a:pPr>
            <a:r>
              <a:rPr/>
              <a:t>обработка информации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Актуальная проблема - актуальность проблемы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 flipH="0" flipV="0">
            <a:off x="457199" y="1077057"/>
            <a:ext cx="7467599" cy="358202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ru-RU" sz="2200"/>
              <a:t>Точный – точность механизма, времени, измерения </a:t>
            </a:r>
            <a:endParaRPr sz="1800"/>
          </a:p>
          <a:p>
            <a:pPr>
              <a:defRPr/>
            </a:pPr>
            <a:r>
              <a:rPr lang="ru-RU" sz="2200"/>
              <a:t>Белый – белизна бумаги </a:t>
            </a:r>
            <a:endParaRPr sz="1800"/>
          </a:p>
          <a:p>
            <a:pPr>
              <a:defRPr/>
            </a:pPr>
            <a:r>
              <a:rPr lang="ru-RU" sz="2200"/>
              <a:t>Хрупкий – хрупкость стекла, зеркала, чипсов </a:t>
            </a:r>
            <a:endParaRPr sz="1800"/>
          </a:p>
          <a:p>
            <a:pPr>
              <a:defRPr/>
            </a:pPr>
            <a:r>
              <a:rPr lang="ru-RU" sz="2200"/>
              <a:t>Пластичный – пластичность глины, золота, жидкого металла  </a:t>
            </a:r>
            <a:endParaRPr sz="1800"/>
          </a:p>
          <a:p>
            <a:pPr>
              <a:defRPr/>
            </a:pPr>
            <a:r>
              <a:rPr lang="ru-RU" sz="2200"/>
              <a:t>Чистый  – чистота воды, воздуха </a:t>
            </a:r>
            <a:endParaRPr sz="1800"/>
          </a:p>
          <a:p>
            <a:pPr>
              <a:defRPr/>
            </a:pPr>
            <a:r>
              <a:rPr lang="ru-RU" sz="2200"/>
              <a:t>Молодой – молодость </a:t>
            </a:r>
            <a:endParaRPr sz="1800"/>
          </a:p>
          <a:p>
            <a:pPr>
              <a:defRPr/>
            </a:pPr>
            <a:r>
              <a:rPr lang="ru-RU" sz="2200"/>
              <a:t>Современный – современность </a:t>
            </a:r>
            <a:endParaRPr sz="1800"/>
          </a:p>
          <a:p>
            <a:pPr>
              <a:defRPr/>
            </a:pPr>
            <a:r>
              <a:rPr lang="ru-RU" sz="2200"/>
              <a:t>Быстрый - Быстрота машины, работы кода, движения </a:t>
            </a:r>
            <a:endParaRPr sz="1800"/>
          </a:p>
          <a:p>
            <a:pPr>
              <a:defRPr/>
            </a:pPr>
            <a:r>
              <a:rPr lang="ru-RU" sz="2200"/>
              <a:t>Оперативный  – оперативность ответа, действия </a:t>
            </a:r>
            <a:endParaRPr sz="1800"/>
          </a:p>
          <a:p>
            <a:pPr>
              <a:defRPr/>
            </a:pPr>
            <a:r>
              <a:rPr lang="ru-RU" sz="2200"/>
              <a:t>Компактный – компактность ноутбука, телефона, машины </a:t>
            </a:r>
            <a:endParaRPr lang="ru-RU" sz="2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200"/>
              <a:t>Лёгкий – лёгкость сумки, задания </a:t>
            </a:r>
            <a:endParaRPr sz="1800"/>
          </a:p>
          <a:p>
            <a:pPr>
              <a:defRPr/>
            </a:pPr>
            <a:r>
              <a:rPr lang="ru-RU" sz="2200"/>
              <a:t>Прочный – прочность материала, железа, стали </a:t>
            </a:r>
            <a:endParaRPr sz="1800"/>
          </a:p>
          <a:p>
            <a:pPr>
              <a:defRPr/>
            </a:pPr>
            <a:r>
              <a:rPr lang="ru-RU" sz="2200"/>
              <a:t>Чёрный – чернота </a:t>
            </a:r>
            <a:endParaRPr sz="1800"/>
          </a:p>
          <a:p>
            <a:pPr>
              <a:defRPr/>
            </a:pPr>
            <a:r>
              <a:rPr lang="ru-RU" sz="2200"/>
              <a:t>Прямой – прямота линии </a:t>
            </a:r>
            <a:endParaRPr sz="1800"/>
          </a:p>
          <a:p>
            <a:pPr>
              <a:defRPr/>
            </a:pPr>
            <a:r>
              <a:rPr lang="ru-RU" sz="2200"/>
              <a:t>Кривой – кривизна линии </a:t>
            </a:r>
            <a:endParaRPr sz="1800"/>
          </a:p>
          <a:p>
            <a:pPr>
              <a:defRPr/>
            </a:pPr>
            <a:r>
              <a:rPr lang="ru-RU" sz="2200"/>
              <a:t>Грубый – грубость ткани, материала </a:t>
            </a:r>
            <a:endParaRPr sz="1800"/>
          </a:p>
          <a:p>
            <a:pPr>
              <a:defRPr/>
            </a:pPr>
            <a:r>
              <a:rPr lang="ru-RU" sz="2200"/>
              <a:t>Полный - полнота ответа </a:t>
            </a:r>
            <a:endParaRPr sz="1800"/>
          </a:p>
          <a:p>
            <a:pPr>
              <a:defRPr/>
            </a:pPr>
            <a:r>
              <a:rPr lang="ru-RU" sz="2200"/>
              <a:t>Достоверный – достоверность информации </a:t>
            </a:r>
            <a:endParaRPr sz="1800"/>
          </a:p>
          <a:p>
            <a:pPr>
              <a:defRPr/>
            </a:pPr>
            <a:r>
              <a:rPr lang="ru-RU" sz="2200"/>
              <a:t>Сильный – сила гравитации </a:t>
            </a:r>
            <a:endParaRPr sz="1800"/>
          </a:p>
          <a:p>
            <a:pPr>
              <a:defRPr/>
            </a:pPr>
            <a:r>
              <a:rPr lang="ru-RU" sz="2200"/>
              <a:t>Энергичный – энергичность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Водонепроницаемый – водонепроницаемость зонта, чехла, куртки, материала </a:t>
            </a:r>
            <a:endParaRPr/>
          </a:p>
          <a:p>
            <a:pPr>
              <a:defRPr/>
            </a:pPr>
            <a:r>
              <a:rPr lang="ru-RU" sz="2400"/>
              <a:t>Огнеупорный  – огнеупорность материала </a:t>
            </a:r>
            <a:endParaRPr/>
          </a:p>
          <a:p>
            <a:pPr>
              <a:defRPr/>
            </a:pPr>
            <a:r>
              <a:rPr lang="ru-RU" sz="2400"/>
              <a:t>Крепкий – крепкость, крепость камня, материала, сна, кофе, чая, алкоголя </a:t>
            </a:r>
            <a:endParaRPr/>
          </a:p>
          <a:p>
            <a:pPr>
              <a:defRPr/>
            </a:pPr>
            <a:r>
              <a:rPr lang="ru-RU" sz="2400"/>
              <a:t>Дорогой – дороговизна золота, дома </a:t>
            </a:r>
            <a:endParaRPr/>
          </a:p>
          <a:p>
            <a:pPr>
              <a:defRPr/>
            </a:pPr>
            <a:r>
              <a:rPr lang="ru-RU" sz="2400"/>
              <a:t>Старинный – старина </a:t>
            </a:r>
            <a:endParaRPr/>
          </a:p>
          <a:p>
            <a:pPr>
              <a:defRPr/>
            </a:pPr>
            <a:r>
              <a:rPr lang="ru-RU" sz="2400"/>
              <a:t>Длинный – длина </a:t>
            </a:r>
            <a:endParaRPr/>
          </a:p>
          <a:p>
            <a:pPr>
              <a:defRPr/>
            </a:pPr>
            <a:r>
              <a:rPr lang="ru-RU" sz="2400"/>
              <a:t>Трудный – трудность </a:t>
            </a:r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характеристики объекта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>
                <a:solidFill>
                  <a:srgbClr val="7030A0"/>
                </a:solidFill>
              </a:rPr>
              <a:t>1. Существительное + прилагательное </a:t>
            </a:r>
            <a:endParaRPr lang="ru-RU" sz="2000">
              <a:solidFill>
                <a:srgbClr val="7030A0"/>
              </a:solidFill>
            </a:endParaRPr>
          </a:p>
        </p:txBody>
      </p:sp>
      <p:sp>
        <p:nvSpPr>
          <p:cNvPr id="129806165" name=""/>
          <p:cNvSpPr txBox="1"/>
          <p:nvPr/>
        </p:nvSpPr>
        <p:spPr bwMode="auto">
          <a:xfrm flipH="0" flipV="0">
            <a:off x="761999" y="1897673"/>
            <a:ext cx="5216634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1800">
                <a:solidFill>
                  <a:srgbClr val="7030A0"/>
                </a:solidFill>
              </a:rPr>
              <a:t>2. Существительное + краткое прилагательное </a:t>
            </a:r>
            <a:endParaRPr lang="ru-RU" sz="1800">
              <a:solidFill>
                <a:srgbClr val="7030A0"/>
              </a:solidFill>
            </a:endParaRPr>
          </a:p>
        </p:txBody>
      </p:sp>
      <p:sp>
        <p:nvSpPr>
          <p:cNvPr id="701726160" name=""/>
          <p:cNvSpPr txBox="1"/>
          <p:nvPr/>
        </p:nvSpPr>
        <p:spPr bwMode="auto">
          <a:xfrm flipH="0" flipV="0">
            <a:off x="761998" y="1897672"/>
            <a:ext cx="5216634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</a:t>
            </a:r>
            <a:r>
              <a:rPr sz="2400" strike="sngStrike"/>
              <a:t>ой</a:t>
            </a:r>
            <a:r>
              <a:rPr sz="2400"/>
              <a:t>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Алмаз  </a:t>
            </a:r>
            <a:r>
              <a:rPr sz="2400"/>
              <a:t>дорог, твёрд, прозрачЕн.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>
                <a:solidFill>
                  <a:srgbClr val="7030A0"/>
                </a:solidFill>
              </a:rPr>
              <a:t>3. </a:t>
            </a:r>
            <a:r>
              <a:rPr lang="ru-RU" sz="2000" b="1">
                <a:solidFill>
                  <a:srgbClr val="7030A0"/>
                </a:solidFill>
              </a:rPr>
              <a:t>Кого / что (Вин.падеж 4) отличает / характеризует что (имен. 1) .</a:t>
            </a:r>
            <a:endParaRPr/>
          </a:p>
          <a:p>
            <a:pPr>
              <a:defRPr/>
            </a:pPr>
            <a:endParaRPr lang="ru-RU" sz="2000" b="1">
              <a:solidFill>
                <a:srgbClr val="7030A0"/>
              </a:solidFill>
            </a:endParaRPr>
          </a:p>
          <a:p>
            <a:pPr>
              <a:defRPr/>
            </a:pPr>
            <a:endParaRPr lang="ru-RU" sz="2000" b="1">
              <a:solidFill>
                <a:srgbClr val="7030A0"/>
              </a:solidFill>
            </a:endParaRPr>
          </a:p>
          <a:p>
            <a:pPr>
              <a:defRPr/>
            </a:pPr>
            <a:endParaRPr lang="ru-RU" sz="2000" b="1">
              <a:solidFill>
                <a:srgbClr val="7030A0"/>
              </a:solidFill>
            </a:endParaRPr>
          </a:p>
          <a:p>
            <a:pPr>
              <a:defRPr/>
            </a:pPr>
            <a:endParaRPr lang="ru-RU" sz="2000" b="1">
              <a:solidFill>
                <a:srgbClr val="7030A0"/>
              </a:solidFill>
            </a:endParaRPr>
          </a:p>
          <a:p>
            <a:pPr>
              <a:defRPr/>
            </a:pPr>
            <a:endParaRPr lang="ru-RU" sz="2000" b="1">
              <a:solidFill>
                <a:srgbClr val="7030A0"/>
              </a:solidFill>
            </a:endParaRPr>
          </a:p>
        </p:txBody>
      </p:sp>
      <p:sp>
        <p:nvSpPr>
          <p:cNvPr id="966633347" name=""/>
          <p:cNvSpPr txBox="1"/>
          <p:nvPr/>
        </p:nvSpPr>
        <p:spPr bwMode="auto">
          <a:xfrm flipH="0" flipV="0">
            <a:off x="761998" y="1897672"/>
            <a:ext cx="7588191" cy="19206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Алмаз отличает / характеризует дороговизна, твёрдость,</a:t>
            </a:r>
            <a:endParaRPr sz="2400"/>
          </a:p>
          <a:p>
            <a:pPr>
              <a:defRPr/>
            </a:pPr>
            <a:r>
              <a:rPr sz="2400"/>
              <a:t>прозрачность. </a:t>
            </a:r>
            <a:endParaRPr sz="2400"/>
          </a:p>
          <a:p>
            <a:pPr>
              <a:defRPr/>
            </a:pPr>
            <a:r>
              <a:rPr sz="2400"/>
              <a:t>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000" b="1">
                <a:solidFill>
                  <a:srgbClr val="7030A0"/>
                </a:solidFill>
              </a:rPr>
              <a:t>4. Кто / что (Им.1.) отличается / характеризуется чем (тв. 5).</a:t>
            </a:r>
            <a:endParaRPr sz="1600" b="1"/>
          </a:p>
          <a:p>
            <a:pPr>
              <a:defRPr/>
            </a:pPr>
            <a:endParaRPr lang="ru-RU" sz="1800">
              <a:solidFill>
                <a:srgbClr val="7030A0"/>
              </a:solidFill>
            </a:endParaRPr>
          </a:p>
          <a:p>
            <a:pPr>
              <a:defRPr/>
            </a:pPr>
            <a:endParaRPr lang="ru-RU" sz="1800">
              <a:solidFill>
                <a:srgbClr val="7030A0"/>
              </a:solidFill>
            </a:endParaRPr>
          </a:p>
          <a:p>
            <a:pPr>
              <a:defRPr/>
            </a:pPr>
            <a:endParaRPr lang="ru-RU" sz="1800">
              <a:solidFill>
                <a:srgbClr val="7030A0"/>
              </a:solidFill>
            </a:endParaRPr>
          </a:p>
        </p:txBody>
      </p:sp>
      <p:sp>
        <p:nvSpPr>
          <p:cNvPr id="815765137" name=""/>
          <p:cNvSpPr txBox="1"/>
          <p:nvPr/>
        </p:nvSpPr>
        <p:spPr bwMode="auto">
          <a:xfrm flipH="0" flipV="0">
            <a:off x="457200" y="2264019"/>
            <a:ext cx="8285891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Алмаз отличается твёрдостью, дороговизной, прозрачностью.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1800"/>
              <a:t>5. </a:t>
            </a:r>
            <a:r>
              <a:rPr lang="ru-RU" sz="2400">
                <a:solidFill>
                  <a:srgbClr val="7030A0"/>
                </a:solidFill>
              </a:rPr>
              <a:t>Кто / что обладает чем.</a:t>
            </a:r>
            <a:endParaRPr sz="2000"/>
          </a:p>
          <a:p>
            <a:pPr>
              <a:defRPr/>
            </a:pPr>
            <a:endParaRPr lang="ru-RU" sz="1600">
              <a:solidFill>
                <a:srgbClr val="7030A0"/>
              </a:solidFill>
            </a:endParaRPr>
          </a:p>
          <a:p>
            <a:pPr>
              <a:defRPr/>
            </a:pPr>
            <a:endParaRPr lang="ru-RU" sz="1600">
              <a:solidFill>
                <a:srgbClr val="7030A0"/>
              </a:solidFill>
            </a:endParaRPr>
          </a:p>
          <a:p>
            <a:pPr>
              <a:defRPr/>
            </a:pPr>
            <a:endParaRPr lang="ru-RU" sz="1600">
              <a:solidFill>
                <a:srgbClr val="7030A0"/>
              </a:solidFill>
            </a:endParaRPr>
          </a:p>
          <a:p>
            <a:pPr>
              <a:defRPr/>
            </a:pPr>
            <a:endParaRPr lang="ru-RU" sz="1600"/>
          </a:p>
          <a:p>
            <a:pPr>
              <a:defRPr/>
            </a:pPr>
            <a:endParaRPr lang="ru-RU" sz="1600"/>
          </a:p>
          <a:p>
            <a:pPr>
              <a:defRPr/>
            </a:pPr>
            <a:endParaRPr lang="ru-RU" sz="1600"/>
          </a:p>
        </p:txBody>
      </p:sp>
      <p:sp>
        <p:nvSpPr>
          <p:cNvPr id="2009695194" name=""/>
          <p:cNvSpPr txBox="1"/>
          <p:nvPr/>
        </p:nvSpPr>
        <p:spPr bwMode="auto">
          <a:xfrm flipH="0" flipV="0">
            <a:off x="457200" y="2264018"/>
            <a:ext cx="8065332" cy="11890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Алмаз обладает твёрдостью, дороговизной, прозрачностью.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400" b="1">
                <a:solidFill>
                  <a:srgbClr val="7030A0"/>
                </a:solidFill>
              </a:rPr>
              <a:t>6. Для чего характерно/а/ы/_ что (1).</a:t>
            </a:r>
            <a:endParaRPr sz="2400" b="1"/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</p:txBody>
      </p:sp>
      <p:sp>
        <p:nvSpPr>
          <p:cNvPr id="707819485" name=""/>
          <p:cNvSpPr txBox="1"/>
          <p:nvPr/>
        </p:nvSpPr>
        <p:spPr bwMode="auto">
          <a:xfrm flipH="0" flipV="0">
            <a:off x="457200" y="2264018"/>
            <a:ext cx="8506609" cy="192060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Для алмаза  </a:t>
            </a:r>
            <a:r>
              <a:rPr sz="2400"/>
              <a:t>характерн</a:t>
            </a:r>
            <a:r>
              <a:rPr sz="2400">
                <a:solidFill>
                  <a:schemeClr val="accent1"/>
                </a:solidFill>
              </a:rPr>
              <a:t>ы</a:t>
            </a:r>
            <a:r>
              <a:rPr sz="2400"/>
              <a:t> дороговизна, твёрдость, прозрачность.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Для алмаза характерн</a:t>
            </a:r>
            <a:r>
              <a:rPr sz="2400" b="1">
                <a:solidFill>
                  <a:schemeClr val="accent1"/>
                </a:solidFill>
              </a:rPr>
              <a:t>А</a:t>
            </a:r>
            <a:r>
              <a:rPr sz="2400"/>
              <a:t> твёрдость.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lang="ru-RU"/>
              <a:t>Конструкции </a:t>
            </a:r>
            <a:r>
              <a:rPr lang="ru-RU" sz="3200" b="1" i="0" u="none" strike="noStrike" cap="none" spc="0">
                <a:solidFill>
                  <a:schemeClr val="tx1"/>
                </a:solidFill>
                <a:latin typeface="Golos Text DemiBold"/>
                <a:ea typeface="Golos Text DemiBold"/>
                <a:cs typeface="Golos Text DemiBold"/>
              </a:rPr>
              <a:t>характеристики </a:t>
            </a:r>
            <a:r>
              <a:rPr lang="ru-RU"/>
              <a:t>объекта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200">
                <a:solidFill>
                  <a:srgbClr val="7030A0"/>
                </a:solidFill>
              </a:rPr>
              <a:t>7. Кому / чему свойственно / присуще что.</a:t>
            </a:r>
            <a:endParaRPr sz="2200"/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  <a:p>
            <a:pPr>
              <a:defRPr/>
            </a:pPr>
            <a:endParaRPr lang="ru-RU">
              <a:solidFill>
                <a:srgbClr val="7030A0"/>
              </a:solidFill>
            </a:endParaRPr>
          </a:p>
        </p:txBody>
      </p:sp>
      <p:sp>
        <p:nvSpPr>
          <p:cNvPr id="2065806480" name=""/>
          <p:cNvSpPr txBox="1"/>
          <p:nvPr/>
        </p:nvSpPr>
        <p:spPr bwMode="auto">
          <a:xfrm flipH="0" flipV="0">
            <a:off x="457200" y="2264018"/>
            <a:ext cx="7573827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/>
              <a:t>Алмаз дорогой, твёрдый, прозрачный.</a:t>
            </a:r>
            <a:endParaRPr sz="2400"/>
          </a:p>
          <a:p>
            <a:pPr>
              <a:defRPr/>
            </a:pPr>
            <a:endParaRPr sz="2400"/>
          </a:p>
          <a:p>
            <a:pPr>
              <a:defRPr/>
            </a:pPr>
            <a:r>
              <a:rPr sz="2400"/>
              <a:t>Алмазу свойственны / присущи дороговизна, твёрдость, прозрачность. 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59273" y="73169"/>
            <a:ext cx="4531382" cy="343124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9273" y="3504412"/>
            <a:ext cx="4531382" cy="12064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1800"/>
              <a:t>1. Алмазу присуща твёрдость.</a:t>
            </a:r>
            <a:endParaRPr/>
          </a:p>
          <a:p>
            <a:pPr>
              <a:defRPr/>
            </a:pPr>
            <a:r>
              <a:rPr lang="ru-RU" sz="1800"/>
              <a:t>2. Данная работа характеризуется самостоятельностью.</a:t>
            </a:r>
            <a:endParaRPr/>
          </a:p>
          <a:p>
            <a:pPr>
              <a:defRPr/>
            </a:pPr>
            <a:r>
              <a:rPr lang="ru-RU" sz="1800"/>
              <a:t>3. Лекарство отличает эффективность.</a:t>
            </a:r>
            <a:endParaRPr/>
          </a:p>
          <a:p>
            <a:pPr>
              <a:defRPr/>
            </a:pPr>
            <a:r>
              <a:rPr lang="ru-RU" sz="1800"/>
              <a:t>4. Этот проект интересен.</a:t>
            </a:r>
            <a:endParaRPr/>
          </a:p>
          <a:p>
            <a:pPr>
              <a:defRPr/>
            </a:pPr>
            <a:r>
              <a:rPr lang="ru-RU" sz="1800"/>
              <a:t>5. Для этого продукта характерен лёгкий запах.</a:t>
            </a:r>
            <a:endParaRPr/>
          </a:p>
          <a:p>
            <a:pPr>
              <a:defRPr/>
            </a:pPr>
            <a:r>
              <a:rPr lang="ru-RU" sz="1800"/>
              <a:t>6. Информация достоверная.</a:t>
            </a:r>
            <a:endParaRPr/>
          </a:p>
          <a:p>
            <a:pPr>
              <a:defRPr/>
            </a:pPr>
            <a:r>
              <a:rPr lang="ru-RU" sz="1800"/>
              <a:t>7. Интернет обладает глобальностью. </a:t>
            </a:r>
            <a:endParaRPr/>
          </a:p>
          <a:p>
            <a:pPr>
              <a:defRPr/>
            </a:pPr>
            <a:r>
              <a:rPr lang="ru-RU" sz="1800"/>
              <a:t>8. Для данного языка программирования характера универсальность.</a:t>
            </a:r>
            <a:endParaRPr/>
          </a:p>
          <a:p>
            <a:pPr>
              <a:defRPr/>
            </a:pPr>
            <a:r>
              <a:rPr lang="ru-RU" sz="1800"/>
              <a:t>9. Этому процессору присуща мощность.</a:t>
            </a:r>
            <a:endParaRPr/>
          </a:p>
          <a:p>
            <a:pPr>
              <a:defRPr/>
            </a:pPr>
            <a:endParaRPr lang="ru-RU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  <p:sp>
        <p:nvSpPr>
          <p:cNvPr id="3" name="TextBox 2"/>
          <p:cNvSpPr txBox="1"/>
          <p:nvPr/>
        </p:nvSpPr>
        <p:spPr bwMode="auto">
          <a:xfrm>
            <a:off x="6649035" y="4468762"/>
            <a:ext cx="214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defRPr/>
            </a:pPr>
            <a:r>
              <a:rPr lang="en-US">
                <a:solidFill>
                  <a:schemeClr val="bg2"/>
                </a:solidFill>
              </a:rPr>
              <a:t>oakolegova@itmo.ru</a:t>
            </a:r>
            <a:endParaRPr lang="ru-RU">
              <a:solidFill>
                <a:schemeClr val="bg2"/>
              </a:solidFill>
              <a:latin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19</Slides>
  <Notes>19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177</cp:revision>
  <dcterms:created xsi:type="dcterms:W3CDTF">2014-06-27T12:30:22Z</dcterms:created>
  <dcterms:modified xsi:type="dcterms:W3CDTF">2025-02-25T13:58:32Z</dcterms:modified>
  <cp:category/>
  <cp:contentStatus/>
  <cp:version/>
</cp:coreProperties>
</file>