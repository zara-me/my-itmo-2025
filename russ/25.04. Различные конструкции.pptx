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9144000" cy="51435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110" d="100"/>
          <a:sy n="110" d="100"/>
        </p:scale>
        <p:origin x="667" y="67"/>
      </p:cViewPr>
      <p:guideLst>
        <p:guide pos="1611" orient="horz"/>
        <p:guide pos="2874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TextBox 1"/>
          <p:cNvSpPr txBox="1"/>
          <p:nvPr userDrawn="1"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2000"/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0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0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8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kfql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4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0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  <p:hf dt="0" ftr="1" hdr="0" sldNu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Финал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6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конец списка.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 bwMode="auto"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hf dt="0" ftr="1" hdr="0" sldNum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733143" y="949329"/>
            <a:ext cx="2895600" cy="3895723"/>
          </a:xfr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Ключевая фраза слайда</a:t>
            </a:r>
            <a:endParaRPr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0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60351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TextBox 4"/>
          <p:cNvSpPr txBox="1"/>
          <p:nvPr userDrawn="1"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1" hdr="0" sldNum="0"/>
  <p:txStyles>
    <p:titleStyle>
      <a:lvl1pPr algn="l" defTabSz="457200">
        <a:spcBef>
          <a:spcPts val="0"/>
        </a:spcBef>
        <a:buNone/>
        <a:defRPr sz="3600" b="1" i="0">
          <a:solidFill>
            <a:schemeClr val="tx1"/>
          </a:solidFill>
          <a:latin typeface="ALS Gorizont Bold Expanded"/>
          <a:ea typeface="+mj-ea"/>
          <a:cs typeface="+mj-cs"/>
        </a:defRPr>
      </a:lvl1pPr>
    </p:titleStyle>
    <p:bodyStyle>
      <a:lvl1pPr marL="0" indent="0" algn="l" defTabSz="457200">
        <a:spcBef>
          <a:spcPts val="0"/>
        </a:spcBef>
        <a:buSzPct val="100000"/>
        <a:buFont typeface="Arial"/>
        <a:buNone/>
        <a:defRPr sz="2000">
          <a:solidFill>
            <a:schemeClr val="tx1"/>
          </a:solidFill>
          <a:latin typeface="Golos Text"/>
          <a:ea typeface="+mn-ea"/>
          <a:cs typeface="Golos Text"/>
        </a:defRPr>
      </a:lvl1pPr>
      <a:lvl2pPr marL="742950" indent="-28575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Golos Text"/>
          <a:ea typeface="+mn-ea"/>
          <a:cs typeface="Golos Text"/>
        </a:defRPr>
      </a:lvl2pPr>
      <a:lvl3pPr marL="11430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3pPr>
      <a:lvl4pPr marL="16002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4pPr>
      <a:lvl5pPr marL="1828800" indent="0" algn="l" defTabSz="457200">
        <a:spcBef>
          <a:spcPts val="0"/>
        </a:spcBef>
        <a:buFont typeface="Arial"/>
        <a:buNone/>
        <a:defRPr sz="1600">
          <a:solidFill>
            <a:schemeClr val="tx1"/>
          </a:solidFill>
          <a:latin typeface="Golos Text"/>
          <a:ea typeface="+mn-ea"/>
          <a:cs typeface="Golos Text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0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 bwMode="auto"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>
                <a:solidFill>
                  <a:schemeClr val="bg1"/>
                </a:solidFill>
              </a:rPr>
              <a:t>Модели функции.</a:t>
            </a:r>
            <a:br>
              <a:rPr lang="ru-RU" sz="4400">
                <a:solidFill>
                  <a:schemeClr val="bg1"/>
                </a:solidFill>
              </a:rPr>
            </a:br>
            <a:r>
              <a:rPr lang="ru-RU" sz="4400">
                <a:solidFill>
                  <a:schemeClr val="bg1"/>
                </a:solidFill>
              </a:rPr>
              <a:t>Языки программирования.</a:t>
            </a:r>
            <a:endParaRPr lang="en-US" sz="4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Модели функции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 marL="342900" indent="-342900">
              <a:buAutoNum type="arabicPeriod"/>
              <a:defRPr/>
            </a:pPr>
            <a:r>
              <a:rPr lang="ru-RU" sz="2800"/>
              <a:t>Что нужно для чего? </a:t>
            </a:r>
            <a:endParaRPr sz="2800">
              <a:latin typeface="Arial Rounded MT Bold"/>
            </a:endParaRPr>
          </a:p>
          <a:p>
            <a:pPr marL="342900" indent="-342900">
              <a:buAutoNum type="arabicPeriod"/>
              <a:defRPr/>
            </a:pPr>
            <a:r>
              <a:rPr lang="ru-RU" sz="2800"/>
              <a:t>Что предназначено</a:t>
            </a:r>
            <a:r>
              <a:rPr lang="ru-RU" sz="2800" b="1"/>
              <a:t> </a:t>
            </a:r>
            <a:r>
              <a:rPr lang="ru-RU" sz="2800"/>
              <a:t>для чего? 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2800"/>
              <a:t>Что позволяет что делать? </a:t>
            </a:r>
            <a:endParaRPr sz="2800">
              <a:latin typeface="Arial Rounded MT Bold"/>
            </a:endParaRPr>
          </a:p>
          <a:p>
            <a:pPr marL="342900" indent="-342900">
              <a:buAutoNum type="arabicPeriod"/>
              <a:defRPr/>
            </a:pPr>
            <a:r>
              <a:rPr lang="ru-RU" sz="2800"/>
              <a:t>Что служит для чего? </a:t>
            </a:r>
            <a:endParaRPr sz="2800">
              <a:latin typeface="Arial Rounded MT Bold"/>
            </a:endParaRPr>
          </a:p>
          <a:p>
            <a:pPr marL="342900" indent="-342900">
              <a:buAutoNum type="arabicPeriod"/>
              <a:defRPr/>
            </a:pPr>
            <a:r>
              <a:rPr lang="ru-RU" sz="2800"/>
              <a:t>Что используется для чего?  </a:t>
            </a:r>
            <a:endParaRPr sz="2800">
              <a:latin typeface="Arial Rounded MT Bold"/>
            </a:endParaRPr>
          </a:p>
          <a:p>
            <a:pPr marL="342900" indent="-342900">
              <a:buAutoNum type="arabicPeriod"/>
              <a:defRPr/>
            </a:pPr>
            <a:r>
              <a:rPr lang="ru-RU" sz="2800"/>
              <a:t>Чтобы + инфинитив</a:t>
            </a:r>
            <a:endParaRPr sz="2800">
              <a:latin typeface="Arial Rounded MT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92127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2662672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sz="2400"/>
              <a:t>Это устройство нужно для ввода информации.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sz="2400"/>
              <a:t>Это место, которое предназначено для проведения занятий.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Для </a:t>
            </a:r>
            <a:r>
              <a:rPr lang="ru-RU"/>
              <a:t>чего </a:t>
            </a:r>
            <a:r>
              <a:rPr lang="en-US"/>
              <a:t> </a:t>
            </a:r>
            <a:r>
              <a:rPr lang="ru-RU"/>
              <a:t>Для того, чтобы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Термометр</a:t>
            </a:r>
            <a:endParaRPr/>
          </a:p>
          <a:p>
            <a:pPr>
              <a:defRPr/>
            </a:pPr>
            <a:r>
              <a:rPr lang="ru-RU"/>
              <a:t>Секундомер</a:t>
            </a:r>
            <a:endParaRPr/>
          </a:p>
          <a:p>
            <a:pPr>
              <a:defRPr/>
            </a:pPr>
            <a:r>
              <a:rPr lang="ru-RU"/>
              <a:t>Амперметр</a:t>
            </a:r>
            <a:endParaRPr/>
          </a:p>
          <a:p>
            <a:pPr>
              <a:defRPr/>
            </a:pPr>
            <a:r>
              <a:rPr lang="ru-RU"/>
              <a:t>Динамометр</a:t>
            </a:r>
            <a:endParaRPr/>
          </a:p>
          <a:p>
            <a:pPr>
              <a:defRPr/>
            </a:pPr>
            <a:r>
              <a:rPr lang="ru-RU"/>
              <a:t>Часы </a:t>
            </a:r>
            <a:endParaRPr/>
          </a:p>
          <a:p>
            <a:pPr>
              <a:defRPr/>
            </a:pPr>
            <a:r>
              <a:rPr lang="ru-RU"/>
              <a:t>Барометр</a:t>
            </a:r>
            <a:endParaRPr/>
          </a:p>
          <a:p>
            <a:pPr>
              <a:defRPr/>
            </a:pPr>
            <a:r>
              <a:rPr lang="ru-RU"/>
              <a:t>Рулетка</a:t>
            </a:r>
            <a:endParaRPr/>
          </a:p>
          <a:p>
            <a:pPr>
              <a:defRPr/>
            </a:pPr>
            <a:r>
              <a:rPr lang="ru-RU"/>
              <a:t>Манометр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Стр. 102 № 5</a:t>
            </a:r>
            <a:endParaRPr/>
          </a:p>
          <a:p>
            <a:pPr>
              <a:defRPr/>
            </a:pPr>
            <a:r>
              <a:rPr lang="ru-RU"/>
              <a:t>Стр. 126 № 5</a:t>
            </a:r>
            <a:endParaRPr/>
          </a:p>
          <a:p>
            <a:pPr>
              <a:defRPr/>
            </a:pPr>
            <a:r>
              <a:rPr lang="ru-RU"/>
              <a:t>Стр. 116 № 27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59315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Что + уступать / уступить + чему + по чему / в чём</a:t>
            </a:r>
            <a:endParaRPr/>
          </a:p>
        </p:txBody>
      </p:sp>
      <p:sp>
        <p:nvSpPr>
          <p:cNvPr id="1807691300" name="Content Placeholder 2"/>
          <p:cNvSpPr>
            <a:spLocks noGrp="1"/>
          </p:cNvSpPr>
          <p:nvPr>
            <p:ph sz="half" idx="1" hasCustomPrompt="1"/>
          </p:nvPr>
        </p:nvSpPr>
        <p:spPr bwMode="auto">
          <a:xfrm flipH="0" flipV="0">
            <a:off x="457200" y="1211941"/>
            <a:ext cx="7962899" cy="344714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61849" indent="-261849">
              <a:buSzPct val="100000"/>
              <a:buFontTx/>
              <a:buAutoNum type="arabicPeriod"/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Электромобиль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/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автомобиль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/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популярность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.</a:t>
            </a:r>
            <a:endParaRPr lang="en-US" sz="2200" b="0" i="0" u="none" strike="noStrike" cap="none" spc="0">
              <a:solidFill>
                <a:schemeClr val="tx1"/>
              </a:solidFill>
              <a:latin typeface="Golos Text"/>
              <a:ea typeface="Arial"/>
              <a:cs typeface="Golos Text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Электромобиль уступает автомобилю по популярности. </a:t>
            </a:r>
            <a:endParaRPr sz="2200"/>
          </a:p>
          <a:p>
            <a:pPr marL="261849" indent="-261849">
              <a:buSzPct val="100000"/>
              <a:buFontTx/>
              <a:buAutoNum type="arabicPeriod"/>
              <a:defRPr/>
            </a:pPr>
            <a:endParaRPr sz="2200"/>
          </a:p>
          <a:p>
            <a:pPr marL="261849" indent="-261849">
              <a:buSzPct val="100000"/>
              <a:buFontTx/>
              <a:buAutoNum type="arabicPeriod"/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Железо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/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золото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/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пластичность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.</a:t>
            </a:r>
            <a:endParaRPr lang="en-US" sz="2200" b="0" i="0" u="none" strike="noStrike" cap="none" spc="0">
              <a:solidFill>
                <a:schemeClr val="tx1"/>
              </a:solidFill>
              <a:latin typeface="Golos Text"/>
              <a:ea typeface="Arial"/>
              <a:cs typeface="Golos Text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Железо уступает золоту по пластичности. </a:t>
            </a:r>
            <a:endParaRPr lang="en-US" sz="2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endParaRPr sz="2200"/>
          </a:p>
          <a:p>
            <a:pPr>
              <a:defRPr/>
            </a:pPr>
            <a:r>
              <a:rPr sz="2200"/>
              <a:t>Реал Мадрид уступил Барселоне в матче. </a:t>
            </a:r>
            <a:endParaRPr sz="2200"/>
          </a:p>
          <a:p>
            <a:pPr>
              <a:defRPr/>
            </a:pPr>
            <a:r>
              <a:rPr sz="2200"/>
              <a:t>Москва / Санкт-Петербург / количество населения</a:t>
            </a:r>
            <a:endParaRPr sz="2200"/>
          </a:p>
          <a:p>
            <a:pPr>
              <a:defRPr/>
            </a:pPr>
            <a:r>
              <a:rPr sz="2200"/>
              <a:t>Санкт-Петербург уступает Москве по количеству населния. </a:t>
            </a:r>
            <a:endParaRPr sz="2200"/>
          </a:p>
          <a:p>
            <a:pPr>
              <a:defRPr/>
            </a:pPr>
            <a:r>
              <a:rPr sz="2200"/>
              <a:t>Яблоко уступает лимону по количеству витамина С. </a:t>
            </a:r>
            <a:endParaRPr sz="2200"/>
          </a:p>
          <a:p>
            <a:pPr>
              <a:defRPr/>
            </a:pPr>
            <a:r>
              <a:rPr sz="2200"/>
              <a:t>Лимон уступает яблоку по популярности. 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17037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Что + превосходит / превзошёл + что </a:t>
            </a:r>
            <a:endParaRPr/>
          </a:p>
        </p:txBody>
      </p:sp>
      <p:sp>
        <p:nvSpPr>
          <p:cNvPr id="1717544491" name="Content Placeholder 2"/>
          <p:cNvSpPr>
            <a:spLocks noGrp="1"/>
          </p:cNvSpPr>
          <p:nvPr>
            <p:ph sz="half" idx="1" hasCustomPrompt="1"/>
          </p:nvPr>
        </p:nvSpPr>
        <p:spPr bwMode="auto">
          <a:xfrm flipH="0" flipV="0">
            <a:off x="457200" y="1211941"/>
            <a:ext cx="7886700" cy="3447141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61849" indent="-261849">
              <a:buSzPct val="100000"/>
              <a:buFontTx/>
              <a:buAutoNum type="arabicPeriod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Золото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/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железо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/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пластичность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.</a:t>
            </a:r>
            <a:endParaRPr sz="2000"/>
          </a:p>
          <a:p>
            <a:pPr>
              <a:defRPr/>
            </a:pPr>
            <a:r>
              <a:rPr sz="2000"/>
              <a:t>Золото превосходит железо по пластичности. 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sz="2000"/>
              <a:t>Россия превосходит другие страны по территории.</a:t>
            </a:r>
            <a:endParaRPr sz="2000"/>
          </a:p>
          <a:p>
            <a:pPr>
              <a:defRPr/>
            </a:pPr>
            <a:endParaRPr sz="2000"/>
          </a:p>
          <a:p>
            <a:pPr marL="261849" indent="-261849">
              <a:buSzPct val="100000"/>
              <a:buFontTx/>
              <a:buAutoNum type="arabicPeriod"/>
              <a:defRPr/>
            </a:pPr>
            <a:endParaRPr sz="2000"/>
          </a:p>
          <a:p>
            <a:pPr marL="261849" indent="-261849">
              <a:buSzPct val="100000"/>
              <a:buFontTx/>
              <a:buAutoNum type="arabicPeriod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Электромобиль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/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автомобиль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/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экол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о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гические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показатели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.</a:t>
            </a:r>
            <a:endParaRPr sz="2000"/>
          </a:p>
          <a:p>
            <a:pPr marL="261848" indent="-261848">
              <a:buSzPct val="100000"/>
              <a:buFontTx/>
              <a:buAutoNum type="arabicPeriod"/>
              <a:defRPr/>
            </a:pPr>
            <a:endParaRPr sz="20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7025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Связано / привести к чему</a:t>
            </a:r>
            <a:endParaRPr/>
          </a:p>
        </p:txBody>
      </p:sp>
      <p:sp>
        <p:nvSpPr>
          <p:cNvPr id="1513742485" name="Content Placeholder 2"/>
          <p:cNvSpPr>
            <a:spLocks noGrp="1"/>
          </p:cNvSpPr>
          <p:nvPr>
            <p:ph sz="half" idx="1" hasCustomPrompt="1"/>
          </p:nvPr>
        </p:nvSpPr>
        <p:spPr bwMode="auto">
          <a:xfrm flipH="0" flipV="0">
            <a:off x="457200" y="1211941"/>
            <a:ext cx="8312149" cy="344714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Загрязнение воздуха / заболевания дыхательной системы 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Golos Text"/>
              <a:ea typeface="Arial"/>
              <a:cs typeface="Golos Text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Golos Text"/>
              <a:ea typeface="Arial"/>
              <a:cs typeface="Golos Text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Использование железа / необходимость повышения прочности материала.</a:t>
            </a:r>
            <a:endParaRPr lang="en-US" sz="2000" b="0" i="0" u="none" strike="noStrike" cap="none" spc="0">
              <a:solidFill>
                <a:schemeClr val="tx1"/>
              </a:solidFill>
              <a:latin typeface="Golos Text"/>
              <a:ea typeface="Arial"/>
              <a:cs typeface="Golos Text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Использование железа связано с необходимостью повышения прочности. </a:t>
            </a:r>
            <a:endParaRPr lang="en-US" sz="2000" b="0" i="0" u="none" strike="noStrike" cap="none" spc="0">
              <a:solidFill>
                <a:schemeClr val="tx1"/>
              </a:solidFill>
              <a:latin typeface="Golos Text"/>
              <a:ea typeface="Arial"/>
              <a:cs typeface="Golos Text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Необходимость  ... Приводит / привела к использованию железа.</a:t>
            </a:r>
            <a:endParaRPr lang="en-US" sz="2000" b="0" i="0" u="none" strike="noStrike" cap="none" spc="0">
              <a:solidFill>
                <a:schemeClr val="tx1"/>
              </a:solidFill>
              <a:latin typeface="Golos Text"/>
              <a:ea typeface="Arial"/>
              <a:cs typeface="Golos Text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Golos Text"/>
              <a:ea typeface="Arial"/>
              <a:cs typeface="Golos Text"/>
            </a:endParaRPr>
          </a:p>
          <a:p>
            <a:pPr>
              <a:defRPr/>
            </a:pPr>
            <a:endParaRPr/>
          </a:p>
          <a:p>
            <a:pPr>
              <a:defRPr/>
            </a:pPr>
            <a:endParaRPr sz="2400"/>
          </a:p>
        </p:txBody>
      </p:sp>
      <p:sp>
        <p:nvSpPr>
          <p:cNvPr id="1413474982" name=""/>
          <p:cNvSpPr txBox="1"/>
          <p:nvPr/>
        </p:nvSpPr>
        <p:spPr bwMode="auto">
          <a:xfrm flipH="0" flipV="0">
            <a:off x="507999" y="1714499"/>
            <a:ext cx="7087056" cy="9147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Заболевания дыхательной системы связаны с загрязнением воздуха.</a:t>
            </a:r>
            <a:endParaRPr/>
          </a:p>
          <a:p>
            <a:pPr>
              <a:defRPr/>
            </a:pPr>
            <a:r>
              <a:rPr/>
              <a:t>Загрязнение воздуха приводит к заболеваниям дыхательной системы.  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83148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 Что (результат) обусловлено чем (причина) </a:t>
            </a:r>
            <a:endParaRPr/>
          </a:p>
        </p:txBody>
      </p:sp>
      <p:sp>
        <p:nvSpPr>
          <p:cNvPr id="63471950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Глобальное потепление / частые перепады температуры.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sz="2000"/>
              <a:t>Частые перепады температуры обусловлены глобальным потеплением. </a:t>
            </a: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Использование стали / необходимость снизить цены при производстве продукта.</a:t>
            </a:r>
            <a:endParaRPr sz="2000"/>
          </a:p>
          <a:p>
            <a:pPr>
              <a:defRPr/>
            </a:pPr>
            <a:r>
              <a:rPr/>
              <a:t>Использование стали обусловлено необходимостью .... . 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2600"/>
              <a:t>Повышение продажи мороженого / жаркая погода 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55667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Подходит / позволяет </a:t>
            </a:r>
            <a:endParaRPr/>
          </a:p>
        </p:txBody>
      </p:sp>
      <p:sp>
        <p:nvSpPr>
          <p:cNvPr id="125283452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27936" indent="-327936">
              <a:buSzPct val="100000"/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Программа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 /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обрабатывать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фотографии = </a:t>
            </a:r>
            <a:endParaRPr sz="2200"/>
          </a:p>
          <a:p>
            <a:pPr marL="327936" indent="-327936">
              <a:buSzPct val="100000"/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Силикон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/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уменьшение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трения = </a:t>
            </a:r>
            <a:endParaRPr sz="2200"/>
          </a:p>
          <a:p>
            <a:pPr marL="327936" indent="-327936">
              <a:buSzPct val="100000"/>
              <a:buFont typeface="Arial"/>
              <a:buChar char="•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Прочность углепластика / использовать при производстве летательных аппаратов. </a:t>
            </a:r>
            <a:endParaRPr sz="14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2428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Что Способствовать  </a:t>
            </a:r>
            <a:br>
              <a:rPr/>
            </a:br>
            <a:r>
              <a:rPr/>
              <a:t> чему </a:t>
            </a:r>
            <a:endParaRPr/>
          </a:p>
        </p:txBody>
      </p:sp>
      <p:sp>
        <p:nvSpPr>
          <p:cNvPr id="328280851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Использование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пластика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помогает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снизить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цену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.</a:t>
            </a:r>
            <a:endParaRPr lang="en-US" sz="2200" b="0" i="0" u="none" strike="noStrike" cap="none" spc="0">
              <a:solidFill>
                <a:schemeClr val="tx1"/>
              </a:solidFill>
              <a:latin typeface="Golos Text"/>
              <a:ea typeface="Arial"/>
              <a:cs typeface="Golos Text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Использование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пластика</a:t>
            </a:r>
            <a:r>
              <a:rPr sz="2200"/>
              <a:t> способствует снижению цены. </a:t>
            </a:r>
            <a:endParaRPr sz="2200"/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Регулярное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употребление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овощей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и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фруктов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помогает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улучшить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здоровье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.</a:t>
            </a:r>
            <a:endParaRPr sz="2200"/>
          </a:p>
          <a:p>
            <a:pPr>
              <a:defRPr/>
            </a:pPr>
            <a:endParaRPr sz="2200"/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Регулярное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употребление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овощей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 и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Golos Text"/>
                <a:ea typeface="Arial"/>
                <a:cs typeface="Golos Text"/>
              </a:rPr>
              <a:t>фруктов</a:t>
            </a:r>
            <a:r>
              <a:rPr sz="2200"/>
              <a:t> способствует улучшению здоровья. </a:t>
            </a:r>
            <a:endParaRPr sz="2200"/>
          </a:p>
          <a:p>
            <a:pPr>
              <a:defRPr/>
            </a:pPr>
            <a:r>
              <a:rPr sz="2200"/>
              <a:t>Регулярные занятия спортом способствуют улучшению здоровья. </a:t>
            </a:r>
            <a:endParaRPr sz="2200"/>
          </a:p>
          <a:p>
            <a:pPr>
              <a:defRPr/>
            </a:pP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48294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endParaRPr/>
          </a:p>
        </p:txBody>
      </p:sp>
      <p:graphicFrame>
        <p:nvGraphicFramePr>
          <p:cNvPr id="2" name="Объект 1"/>
          <p:cNvGraphicFramePr>
            <a:graphicFrameLocks xmlns:a="http://schemas.openxmlformats.org/drawingml/2006/main" noGrp="1"/>
          </p:cNvGraphicFramePr>
          <p:nvPr>
            <p:ph sz="half" idx="1"/>
          </p:nvPr>
        </p:nvGraphicFramePr>
        <p:xfrm>
          <a:off x="457200" y="1211263"/>
          <a:ext cx="7467600" cy="33375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489200"/>
                <a:gridCol w="2489200"/>
                <a:gridCol w="2489200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Глагол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Процесс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Деятель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Программировать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Исполнять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Транслировать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Создать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Выполнять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Вычислять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Использовать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Определять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48294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endParaRPr/>
          </a:p>
        </p:txBody>
      </p:sp>
      <p:graphicFrame>
        <p:nvGraphicFramePr>
          <p:cNvPr id="2" name="Объект 1"/>
          <p:cNvGraphicFramePr>
            <a:graphicFrameLocks xmlns:a="http://schemas.openxmlformats.org/drawingml/2006/main" noGrp="1"/>
          </p:cNvGraphicFramePr>
          <p:nvPr>
            <p:ph sz="half" idx="1"/>
          </p:nvPr>
        </p:nvGraphicFramePr>
        <p:xfrm>
          <a:off x="457200" y="1211263"/>
          <a:ext cx="7467600" cy="14833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489200"/>
                <a:gridCol w="2489200"/>
                <a:gridCol w="2489200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Глагол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Процесс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Деятель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Манипулировать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Разрабатывать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Владеть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46506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/>
              <a:t>Ссылка на вордвол</a:t>
            </a:r>
            <a:endParaRPr/>
          </a:p>
        </p:txBody>
      </p:sp>
      <p:pic>
        <p:nvPicPr>
          <p:cNvPr id="26433379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24112" y="1368357"/>
            <a:ext cx="3656625" cy="33896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lang="en-US" sz="4400"/>
          </a:p>
        </p:txBody>
      </p:sp>
      <p:sp>
        <p:nvSpPr>
          <p:cNvPr id="3" name="TextBox 2"/>
          <p:cNvSpPr txBox="1"/>
          <p:nvPr/>
        </p:nvSpPr>
        <p:spPr bwMode="auto">
          <a:xfrm>
            <a:off x="6649035" y="4468762"/>
            <a:ext cx="214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en-US">
                <a:solidFill>
                  <a:schemeClr val="bg2"/>
                </a:solidFill>
              </a:rPr>
              <a:t>oakolegova@itmo.ru</a:t>
            </a:r>
            <a:endParaRPr lang="ru-RU">
              <a:solidFill>
                <a:schemeClr val="bg2"/>
              </a:solidFill>
              <a:latin typeface="Golos Text"/>
              <a:cs typeface="Golos Tex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Экран (16:9)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cp:keywords/>
  <dc:description/>
  <dc:identifier/>
  <dc:language/>
  <cp:lastModifiedBy>Оксана Колегова</cp:lastModifiedBy>
  <cp:revision>175</cp:revision>
  <dcterms:created xsi:type="dcterms:W3CDTF">2014-06-27T12:30:22Z</dcterms:created>
  <dcterms:modified xsi:type="dcterms:W3CDTF">2025-04-29T11:57:35Z</dcterms:modified>
  <cp:category/>
  <cp:contentStatus/>
  <cp:version/>
</cp:coreProperties>
</file>