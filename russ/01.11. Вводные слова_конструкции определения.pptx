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33"/>
  </p:notesMasterIdLst>
  <p:handoutMasterIdLst>
    <p:handoutMasterId r:id="rId34"/>
  </p:handoutMasterIdLst>
  <p:sldIdLst>
    <p:sldId id="265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289" r:id="rId17"/>
    <p:sldId id="291" r:id="rId18"/>
    <p:sldId id="292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95" r:id="rId27"/>
    <p:sldId id="296" r:id="rId28"/>
    <p:sldId id="297" r:id="rId29"/>
    <p:sldId id="312" r:id="rId30"/>
    <p:sldId id="287" r:id="rId31"/>
    <p:sldId id="263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56" autoAdjust="0"/>
    <p:restoredTop sz="94672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1164" y="10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%D0%A0%D0%BE%D0%B1%D0%BE%D1%82%D0%BE%D1%82%D0%B5%D1%85%D0%BD%D0%B8%D0%BA%D0%B0#cite_note-_55f98952b36af6bb-3" TargetMode="Externa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A0%D0%BE%D0%B1%D0%BE%D1%82%D0%BE%D1%82%D0%B5%D1%85%D0%BD%D0%B8%D0%BA%D0%B0#cite_note-_55f98952b36af6bb-3" TargetMode="External"/><Relationship Id="rId13" Type="http://schemas.openxmlformats.org/officeDocument/2006/relationships/hyperlink" Target="https://ru.wikipedia.org/wiki/%D0%9C%D0%B5%D1%85%D0%B0%D1%82%D1%80%D0%BE%D0%BD%D0%B8%D0%BA%D0%B0" TargetMode="External"/><Relationship Id="rId3" Type="http://schemas.openxmlformats.org/officeDocument/2006/relationships/hyperlink" Target="https://ru.wikipedia.org/wiki/%D0%A2%D0%B5%D1%85%D0%BD%D0%B8%D0%BA%D0%B0" TargetMode="External"/><Relationship Id="rId7" Type="http://schemas.openxmlformats.org/officeDocument/2006/relationships/hyperlink" Target="https://ru.wikipedia.org/wiki/%D0%9F%D1%80%D0%B8%D0%BA%D0%BB%D0%B0%D0%B4%D0%BD%D0%B0%D1%8F_%D0%BD%D0%B0%D1%83%D0%BA%D0%B0" TargetMode="External"/><Relationship Id="rId12" Type="http://schemas.openxmlformats.org/officeDocument/2006/relationships/hyperlink" Target="https://ru.wikipedia.org/wiki/%D0%A2%D0%B5%D0%BB%D0%B5%D0%BC%D0%B5%D1%85%D0%B0%D0%BD%D0%B8%D0%BA%D0%B0" TargetMode="External"/><Relationship Id="rId17" Type="http://schemas.openxmlformats.org/officeDocument/2006/relationships/hyperlink" Target="https://ru.wikipedia.org/wiki/%D0%AD%D0%BB%D0%B5%D0%BA%D1%82%D1%80%D0%BE%D1%82%D0%B5%D1%85%D0%BD%D0%B8%D0%BA%D0%B0" TargetMode="External"/><Relationship Id="rId2" Type="http://schemas.openxmlformats.org/officeDocument/2006/relationships/hyperlink" Target="https://ru.wikipedia.org/wiki/%D0%A0%D0%BE%D0%B1%D0%BE%D1%82" TargetMode="External"/><Relationship Id="rId16" Type="http://schemas.openxmlformats.org/officeDocument/2006/relationships/hyperlink" Target="https://ru.wikipedia.org/wiki/%D0%A0%D0%B0%D0%B4%D0%B8%D0%BE%D1%82%D0%B5%D1%85%D0%BD%D0%B8%D0%BA%D0%B0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ru.wikipedia.org/wiki/%D0%A0%D0%BE%D0%B1%D0%BE%D1%82%D0%BE%D1%82%D0%B5%D1%85%D0%BD%D0%B8%D0%BA%D0%B0#cite_note-2" TargetMode="External"/><Relationship Id="rId11" Type="http://schemas.openxmlformats.org/officeDocument/2006/relationships/hyperlink" Target="https://ru.wikipedia.org/wiki/%D0%9A%D0%B8%D0%B1%D0%B5%D1%80%D0%BD%D0%B5%D1%82%D0%B8%D0%BA%D0%B0" TargetMode="External"/><Relationship Id="rId5" Type="http://schemas.openxmlformats.org/officeDocument/2006/relationships/hyperlink" Target="https://ru.wikipedia.org/wiki/%D0%A0%D0%BE%D0%B1%D0%BE%D1%82%D0%BE%D1%82%D0%B5%D1%85%D0%BD%D0%B8%D0%BA%D0%B0#cite_note-1" TargetMode="External"/><Relationship Id="rId15" Type="http://schemas.openxmlformats.org/officeDocument/2006/relationships/hyperlink" Target="https://ru.wikipedia.org/wiki/%D0%98%D0%BD%D1%84%D0%BE%D1%80%D0%BC%D0%B0%D1%82%D0%B8%D0%BA%D0%B0" TargetMode="External"/><Relationship Id="rId10" Type="http://schemas.openxmlformats.org/officeDocument/2006/relationships/hyperlink" Target="https://ru.wikipedia.org/wiki/%D0%9C%D0%B5%D1%85%D0%B0%D0%BD%D0%B8%D0%BA%D0%B0" TargetMode="External"/><Relationship Id="rId4" Type="http://schemas.openxmlformats.org/officeDocument/2006/relationships/hyperlink" Target="https://ru.wikipedia.org/wiki/%D0%90%D0%BD%D0%B3%D0%BB%D0%B8%D0%B9%D1%81%D0%BA%D0%B8%D0%B9_%D1%8F%D0%B7%D1%8B%D0%BA" TargetMode="External"/><Relationship Id="rId9" Type="http://schemas.openxmlformats.org/officeDocument/2006/relationships/hyperlink" Target="https://ru.wikipedia.org/wiki/%D0%AD%D0%BB%D0%B5%D0%BA%D1%82%D1%80%D0%BE%D0%BD%D0%B8%D0%BA%D0%B0" TargetMode="External"/><Relationship Id="rId14" Type="http://schemas.openxmlformats.org/officeDocument/2006/relationships/hyperlink" Target="https://ru.wikipedia.org/wiki/%D0%A0%D0%BE%D0%B1%D0%BE%D1%82%D0%BE%D1%82%D0%B5%D1%85%D0%BD%D0%B8%D0%BA%D0%B0#cite_note-_83f784eefdd9fba8-4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3103" y="2035636"/>
            <a:ext cx="8167254" cy="704850"/>
          </a:xfrm>
        </p:spPr>
        <p:txBody>
          <a:bodyPr>
            <a:noAutofit/>
          </a:bodyPr>
          <a:lstStyle/>
          <a:p>
            <a:pPr algn="ctr"/>
            <a:br>
              <a:rPr lang="ru-RU" sz="4400" dirty="0">
                <a:solidFill>
                  <a:schemeClr val="bg1"/>
                </a:solidFill>
              </a:rPr>
            </a:br>
            <a:r>
              <a:rPr lang="ru-RU" sz="4400" dirty="0">
                <a:solidFill>
                  <a:schemeClr val="bg1"/>
                </a:solidFill>
              </a:rPr>
              <a:t>Конструкции определения объекта.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9715" y="4664098"/>
            <a:ext cx="3026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Колегова Оксана Алексеевна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Вводные конструкции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7030A0"/>
                </a:solidFill>
              </a:rPr>
              <a:t>Большая степень уверенности: </a:t>
            </a:r>
          </a:p>
          <a:p>
            <a:r>
              <a:rPr lang="ru-RU" sz="1800" dirty="0"/>
              <a:t>Конечно, разумеется, без сомнения, действительно.</a:t>
            </a:r>
          </a:p>
          <a:p>
            <a:endParaRPr lang="ru-RU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7030A0"/>
                </a:solidFill>
              </a:rPr>
              <a:t>Небольшая степень уверенности:</a:t>
            </a:r>
          </a:p>
          <a:p>
            <a:r>
              <a:rPr lang="ru-RU" sz="1600" dirty="0"/>
              <a:t>Кажется, вероятно, может быть, пожалуй</a:t>
            </a:r>
          </a:p>
        </p:txBody>
      </p:sp>
    </p:spTree>
    <p:extLst>
      <p:ext uri="{BB962C8B-B14F-4D97-AF65-F5344CB8AC3E}">
        <p14:creationId xmlns:p14="http://schemas.microsoft.com/office/powerpoint/2010/main" val="141276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847" y="21433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Отреагируйте, используйте вводные конструкции.</a:t>
            </a:r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 rot="20721876">
            <a:off x="550157" y="1359214"/>
            <a:ext cx="2417685" cy="1046283"/>
          </a:xfrm>
          <a:prstGeom prst="wedgeRoundRect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- </a:t>
            </a:r>
            <a:r>
              <a:rPr lang="en-US" dirty="0"/>
              <a:t>IT-</a:t>
            </a:r>
            <a:r>
              <a:rPr lang="ru-RU" dirty="0"/>
              <a:t>профессии – это профессии будущего.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5699428" y="1125148"/>
            <a:ext cx="2638629" cy="1143267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r>
              <a:rPr lang="ru-RU" sz="1800" b="1" dirty="0"/>
              <a:t>Чтобы стать успешным, необходимо постоянно развиваться. </a:t>
            </a: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 rot="486065">
            <a:off x="3130287" y="2311066"/>
            <a:ext cx="2499653" cy="1163206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tx1"/>
                </a:solidFill>
              </a:rPr>
              <a:t>Для того чтобы найти работу в сфере </a:t>
            </a:r>
            <a:r>
              <a:rPr lang="en-US" sz="1600" dirty="0">
                <a:solidFill>
                  <a:schemeClr val="tx1"/>
                </a:solidFill>
              </a:rPr>
              <a:t>IT</a:t>
            </a:r>
            <a:r>
              <a:rPr lang="ru-RU" sz="1600" dirty="0">
                <a:solidFill>
                  <a:schemeClr val="tx1"/>
                </a:solidFill>
              </a:rPr>
              <a:t>, образования недостаточно.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B1EC3-4A4B-E3E9-F18B-9FA583D2EC05}"/>
              </a:ext>
            </a:extLst>
          </p:cNvPr>
          <p:cNvSpPr txBox="1"/>
          <p:nvPr/>
        </p:nvSpPr>
        <p:spPr>
          <a:xfrm>
            <a:off x="457200" y="2892669"/>
            <a:ext cx="19167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Разумеется</a:t>
            </a:r>
            <a:r>
              <a:rPr lang="ru-RU" dirty="0"/>
              <a:t>, это так, потому что</a:t>
            </a:r>
          </a:p>
          <a:p>
            <a:r>
              <a:rPr lang="ru-RU" dirty="0"/>
              <a:t>Сейчас в мире везде есть электронные устройства.</a:t>
            </a:r>
          </a:p>
          <a:p>
            <a:r>
              <a:rPr lang="ru-RU" dirty="0"/>
              <a:t> 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51B6C-480F-5F3A-B4AF-5BA62E2DE84A}"/>
              </a:ext>
            </a:extLst>
          </p:cNvPr>
          <p:cNvSpPr txBox="1"/>
          <p:nvPr/>
        </p:nvSpPr>
        <p:spPr>
          <a:xfrm>
            <a:off x="2690446" y="3746365"/>
            <a:ext cx="4237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Без сомнения, ещё нужен опыт.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F6860-AF4D-9447-BA8E-452585F0C8A5}"/>
              </a:ext>
            </a:extLst>
          </p:cNvPr>
          <p:cNvSpPr txBox="1"/>
          <p:nvPr/>
        </p:nvSpPr>
        <p:spPr>
          <a:xfrm>
            <a:off x="5699428" y="2413421"/>
            <a:ext cx="3603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Действительно, </a:t>
            </a:r>
          </a:p>
          <a:p>
            <a:r>
              <a:rPr lang="ru-RU" dirty="0"/>
              <a:t>Постоянное развитие </a:t>
            </a:r>
          </a:p>
          <a:p>
            <a:r>
              <a:rPr lang="ru-RU" dirty="0"/>
              <a:t>Поможет в условиях конкуренции.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3B2A6-2CE6-E101-2597-107A5D041F91}"/>
              </a:ext>
            </a:extLst>
          </p:cNvPr>
          <p:cNvSpPr txBox="1"/>
          <p:nvPr/>
        </p:nvSpPr>
        <p:spPr>
          <a:xfrm>
            <a:off x="5874786" y="3369351"/>
            <a:ext cx="2855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Вероятно, это так, но не для всех людей.</a:t>
            </a:r>
          </a:p>
        </p:txBody>
      </p:sp>
    </p:spTree>
    <p:extLst>
      <p:ext uri="{BB962C8B-B14F-4D97-AF65-F5344CB8AC3E}">
        <p14:creationId xmlns:p14="http://schemas.microsoft.com/office/powerpoint/2010/main" val="154543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Вводные конструкции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7030A0"/>
                </a:solidFill>
              </a:rPr>
              <a:t>Чувства</a:t>
            </a:r>
          </a:p>
          <a:p>
            <a:r>
              <a:rPr lang="ru-RU" sz="1600" dirty="0"/>
              <a:t>К счастью, к сожалению, к несчастью, к удивлению. </a:t>
            </a:r>
          </a:p>
        </p:txBody>
      </p:sp>
      <p:sp>
        <p:nvSpPr>
          <p:cNvPr id="4" name="Объект 4"/>
          <p:cNvSpPr txBox="1">
            <a:spLocks/>
          </p:cNvSpPr>
          <p:nvPr/>
        </p:nvSpPr>
        <p:spPr>
          <a:xfrm rot="486065">
            <a:off x="5745437" y="2442484"/>
            <a:ext cx="2499653" cy="1163206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В некоторых странах сфера </a:t>
            </a:r>
            <a:r>
              <a:rPr lang="en-US" dirty="0">
                <a:solidFill>
                  <a:schemeClr val="tx1"/>
                </a:solidFill>
              </a:rPr>
              <a:t>IT </a:t>
            </a:r>
            <a:r>
              <a:rPr lang="ru-RU" dirty="0">
                <a:solidFill>
                  <a:schemeClr val="tx1"/>
                </a:solidFill>
              </a:rPr>
              <a:t>ещё недостаточно развита.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 rot="21004997">
            <a:off x="1146255" y="2600535"/>
            <a:ext cx="2568270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В университете ИТМО студенты получают достаточно практических знаний.</a:t>
            </a:r>
          </a:p>
        </p:txBody>
      </p:sp>
    </p:spTree>
    <p:extLst>
      <p:ext uri="{BB962C8B-B14F-4D97-AF65-F5344CB8AC3E}">
        <p14:creationId xmlns:p14="http://schemas.microsoft.com/office/powerpoint/2010/main" val="167512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Вводные конструкции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7030A0"/>
                </a:solidFill>
              </a:rPr>
              <a:t>Источники сообщений (чьи слова вы передаёте)</a:t>
            </a:r>
          </a:p>
          <a:p>
            <a:r>
              <a:rPr lang="ru-RU" dirty="0"/>
              <a:t>По словам; по мнению; как сообщают; говорят.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Объект 4"/>
          <p:cNvSpPr txBox="1">
            <a:spLocks/>
          </p:cNvSpPr>
          <p:nvPr/>
        </p:nvSpPr>
        <p:spPr>
          <a:xfrm rot="21004997">
            <a:off x="1150319" y="2647374"/>
            <a:ext cx="2024313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Век живи – век учись. (философ Сенека).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 rot="311074">
            <a:off x="5848466" y="1696951"/>
            <a:ext cx="2658788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В Петербурге повысился интерес к иностранным языкам (телеканал «Санкт-Петербург»).</a:t>
            </a: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4261944" y="3348306"/>
            <a:ext cx="2024313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В этой фирме все сотрудники получают высокую зарплату. </a:t>
            </a:r>
          </a:p>
        </p:txBody>
      </p:sp>
    </p:spTree>
    <p:extLst>
      <p:ext uri="{BB962C8B-B14F-4D97-AF65-F5344CB8AC3E}">
        <p14:creationId xmlns:p14="http://schemas.microsoft.com/office/powerpoint/2010/main" val="2392085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Вводные конструкции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7030A0"/>
                </a:solidFill>
              </a:rPr>
              <a:t>Способы оформления мысли</a:t>
            </a:r>
          </a:p>
          <a:p>
            <a:r>
              <a:rPr lang="ru-RU" dirty="0"/>
              <a:t>Одним словом; проще говоря; лучше сказать; иначе говоря; правильнее сказать.</a:t>
            </a:r>
          </a:p>
          <a:p>
            <a:endParaRPr lang="ru-RU" dirty="0"/>
          </a:p>
          <a:p>
            <a:r>
              <a:rPr lang="ru-RU" dirty="0"/>
              <a:t>Одним словом, это высокооплачиваемая профессия.</a:t>
            </a:r>
          </a:p>
          <a:p>
            <a:endParaRPr lang="ru-RU" dirty="0"/>
          </a:p>
        </p:txBody>
      </p:sp>
      <p:sp>
        <p:nvSpPr>
          <p:cNvPr id="4" name="Объект 4"/>
          <p:cNvSpPr txBox="1">
            <a:spLocks/>
          </p:cNvSpPr>
          <p:nvPr/>
        </p:nvSpPr>
        <p:spPr>
          <a:xfrm rot="21004997">
            <a:off x="420558" y="2813383"/>
            <a:ext cx="2024313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Зарплата специалиста по базам данных – 300 тысяч рублей в месяц.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 rot="382259">
            <a:off x="6131277" y="1980777"/>
            <a:ext cx="2024313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Молодые специалисты часто не могут найти работу из-за отсутствия опыта. </a:t>
            </a: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 rot="543918">
            <a:off x="3230761" y="2813384"/>
            <a:ext cx="2682478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Чтобы начать говорить по-русски свободно, нужно много времени потратить на запоминание.</a:t>
            </a:r>
          </a:p>
        </p:txBody>
      </p:sp>
    </p:spTree>
    <p:extLst>
      <p:ext uri="{BB962C8B-B14F-4D97-AF65-F5344CB8AC3E}">
        <p14:creationId xmlns:p14="http://schemas.microsoft.com/office/powerpoint/2010/main" val="121369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Вводные конструкции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7030A0"/>
                </a:solidFill>
              </a:rPr>
              <a:t>Порядок мыслей</a:t>
            </a:r>
          </a:p>
          <a:p>
            <a:r>
              <a:rPr lang="ru-RU" dirty="0"/>
              <a:t>Во-первых; во-вторых; в-третьих; наконец; следовательно; значит; итак; напротив; например; таким образом; с одной стороны; с другой стороны.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Объект 4"/>
          <p:cNvSpPr txBox="1">
            <a:spLocks/>
          </p:cNvSpPr>
          <p:nvPr/>
        </p:nvSpPr>
        <p:spPr>
          <a:xfrm rot="21004997">
            <a:off x="1150319" y="2647374"/>
            <a:ext cx="2024313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IT-</a:t>
            </a:r>
            <a:r>
              <a:rPr lang="ru-RU" dirty="0">
                <a:solidFill>
                  <a:schemeClr val="tx1"/>
                </a:solidFill>
              </a:rPr>
              <a:t>специалисты нужны каждой фирме и компании.</a:t>
            </a:r>
          </a:p>
        </p:txBody>
      </p:sp>
      <p:sp>
        <p:nvSpPr>
          <p:cNvPr id="5" name="Объект 4"/>
          <p:cNvSpPr txBox="1">
            <a:spLocks/>
          </p:cNvSpPr>
          <p:nvPr/>
        </p:nvSpPr>
        <p:spPr>
          <a:xfrm rot="382259">
            <a:off x="6131277" y="1980777"/>
            <a:ext cx="2024313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Многие люди бросили свою работу и ушли в </a:t>
            </a:r>
            <a:r>
              <a:rPr lang="en-US" dirty="0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 rot="543918">
            <a:off x="3647557" y="3518220"/>
            <a:ext cx="2682478" cy="999504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4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Из-за долгой работы за компьютером у </a:t>
            </a:r>
            <a:r>
              <a:rPr lang="en-US" dirty="0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-специалистов возникают проблемы со здоровьем. </a:t>
            </a:r>
          </a:p>
        </p:txBody>
      </p:sp>
    </p:spTree>
    <p:extLst>
      <p:ext uri="{BB962C8B-B14F-4D97-AF65-F5344CB8AC3E}">
        <p14:creationId xmlns:p14="http://schemas.microsoft.com/office/powerpoint/2010/main" val="62307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Структура научного текста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427436" y="990052"/>
            <a:ext cx="3466826" cy="585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Введение (назвать тему, показать её роль в науке и жизни)</a:t>
            </a:r>
          </a:p>
        </p:txBody>
      </p:sp>
      <p:cxnSp>
        <p:nvCxnSpPr>
          <p:cNvPr id="6" name="Прямая со стрелкой 5"/>
          <p:cNvCxnSpPr>
            <a:stCxn id="4" idx="2"/>
          </p:cNvCxnSpPr>
          <p:nvPr/>
        </p:nvCxnSpPr>
        <p:spPr>
          <a:xfrm>
            <a:off x="4160849" y="1575532"/>
            <a:ext cx="0" cy="641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Текст 6"/>
          <p:cNvSpPr>
            <a:spLocks noGrp="1"/>
          </p:cNvSpPr>
          <p:nvPr>
            <p:ph type="body" sz="quarter" idx="11"/>
          </p:nvPr>
        </p:nvSpPr>
        <p:spPr>
          <a:xfrm>
            <a:off x="2344188" y="2216927"/>
            <a:ext cx="3633321" cy="6348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Основная часть (главная идея, </a:t>
            </a:r>
            <a:r>
              <a:rPr lang="ru-RU" dirty="0" err="1"/>
              <a:t>подтемы</a:t>
            </a:r>
            <a:r>
              <a:rPr lang="ru-RU" dirty="0"/>
              <a:t>) </a:t>
            </a: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4160848" y="2851745"/>
            <a:ext cx="0" cy="641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Текст 6"/>
          <p:cNvSpPr txBox="1">
            <a:spLocks/>
          </p:cNvSpPr>
          <p:nvPr/>
        </p:nvSpPr>
        <p:spPr>
          <a:xfrm>
            <a:off x="2344187" y="3478435"/>
            <a:ext cx="3633321" cy="6348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Заключение  (значение, важность того, о чём говорили в тексте).</a:t>
            </a:r>
          </a:p>
        </p:txBody>
      </p:sp>
    </p:spTree>
    <p:extLst>
      <p:ext uri="{BB962C8B-B14F-4D97-AF65-F5344CB8AC3E}">
        <p14:creationId xmlns:p14="http://schemas.microsoft.com/office/powerpoint/2010/main" val="321277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Структура научного текста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177455" y="1309104"/>
            <a:ext cx="3591816" cy="5723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Тема 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flipH="1">
            <a:off x="1980104" y="1999839"/>
            <a:ext cx="664420" cy="486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3973363" y="1951213"/>
            <a:ext cx="0" cy="5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5302203" y="2081424"/>
            <a:ext cx="848617" cy="486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1045969" y="2525937"/>
            <a:ext cx="1697231" cy="438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Подтема</a:t>
            </a:r>
            <a:r>
              <a:rPr lang="ru-RU" dirty="0"/>
              <a:t> 1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3279967" y="2531089"/>
            <a:ext cx="1386792" cy="427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Подтема</a:t>
            </a:r>
            <a:r>
              <a:rPr lang="ru-RU" dirty="0"/>
              <a:t> 2</a:t>
            </a:r>
          </a:p>
        </p:txBody>
      </p:sp>
      <p:sp>
        <p:nvSpPr>
          <p:cNvPr id="13" name="Текст 11"/>
          <p:cNvSpPr txBox="1">
            <a:spLocks/>
          </p:cNvSpPr>
          <p:nvPr/>
        </p:nvSpPr>
        <p:spPr>
          <a:xfrm>
            <a:off x="5457424" y="2538033"/>
            <a:ext cx="1386792" cy="427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err="1"/>
              <a:t>Подтема</a:t>
            </a:r>
            <a:r>
              <a:rPr lang="ru-RU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784548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47" y="1334347"/>
            <a:ext cx="6246800" cy="3253027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Абзац – одна </a:t>
            </a:r>
            <a:r>
              <a:rPr lang="ru-RU" dirty="0" err="1"/>
              <a:t>подтема</a:t>
            </a:r>
            <a:r>
              <a:rPr lang="ru-RU" dirty="0"/>
              <a:t> </a:t>
            </a:r>
          </a:p>
        </p:txBody>
      </p:sp>
      <p:sp>
        <p:nvSpPr>
          <p:cNvPr id="7" name="Полилиния 6"/>
          <p:cNvSpPr/>
          <p:nvPr/>
        </p:nvSpPr>
        <p:spPr>
          <a:xfrm>
            <a:off x="4744312" y="3243033"/>
            <a:ext cx="3126375" cy="1253442"/>
          </a:xfrm>
          <a:custGeom>
            <a:avLst/>
            <a:gdLst>
              <a:gd name="connsiteX0" fmla="*/ 2553193 w 3297504"/>
              <a:gd name="connsiteY0" fmla="*/ 138124 h 1816751"/>
              <a:gd name="connsiteX1" fmla="*/ 2512553 w 3297504"/>
              <a:gd name="connsiteY1" fmla="*/ 1695991 h 1816751"/>
              <a:gd name="connsiteX2" fmla="*/ 223166 w 3297504"/>
              <a:gd name="connsiteY2" fmla="*/ 1695991 h 1816751"/>
              <a:gd name="connsiteX3" fmla="*/ 67379 w 3297504"/>
              <a:gd name="connsiteY3" fmla="*/ 1682444 h 1816751"/>
              <a:gd name="connsiteX4" fmla="*/ 47059 w 3297504"/>
              <a:gd name="connsiteY4" fmla="*/ 1668897 h 1816751"/>
              <a:gd name="connsiteX5" fmla="*/ 3176339 w 3297504"/>
              <a:gd name="connsiteY5" fmla="*/ 1723084 h 1816751"/>
              <a:gd name="connsiteX6" fmla="*/ 2648019 w 3297504"/>
              <a:gd name="connsiteY6" fmla="*/ 253271 h 1816751"/>
              <a:gd name="connsiteX7" fmla="*/ 2553193 w 3297504"/>
              <a:gd name="connsiteY7" fmla="*/ 138124 h 1816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7504" h="1816751">
                <a:moveTo>
                  <a:pt x="2553193" y="138124"/>
                </a:moveTo>
                <a:cubicBezTo>
                  <a:pt x="2530615" y="378577"/>
                  <a:pt x="2900891" y="1436347"/>
                  <a:pt x="2512553" y="1695991"/>
                </a:cubicBezTo>
                <a:cubicBezTo>
                  <a:pt x="2124215" y="1955636"/>
                  <a:pt x="630695" y="1698249"/>
                  <a:pt x="223166" y="1695991"/>
                </a:cubicBezTo>
                <a:cubicBezTo>
                  <a:pt x="-184363" y="1693733"/>
                  <a:pt x="96730" y="1686960"/>
                  <a:pt x="67379" y="1682444"/>
                </a:cubicBezTo>
                <a:cubicBezTo>
                  <a:pt x="38028" y="1677928"/>
                  <a:pt x="47059" y="1668897"/>
                  <a:pt x="47059" y="1668897"/>
                </a:cubicBezTo>
                <a:cubicBezTo>
                  <a:pt x="565219" y="1675670"/>
                  <a:pt x="2742846" y="1959022"/>
                  <a:pt x="3176339" y="1723084"/>
                </a:cubicBezTo>
                <a:cubicBezTo>
                  <a:pt x="3609832" y="1487146"/>
                  <a:pt x="2748490" y="512916"/>
                  <a:pt x="2648019" y="253271"/>
                </a:cubicBezTo>
                <a:cubicBezTo>
                  <a:pt x="2547548" y="-6374"/>
                  <a:pt x="2575771" y="-102329"/>
                  <a:pt x="2553193" y="138124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7870687" y="205909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 абзац</a:t>
            </a:r>
          </a:p>
        </p:txBody>
      </p:sp>
      <p:sp>
        <p:nvSpPr>
          <p:cNvPr id="9" name="Полилиния 8"/>
          <p:cNvSpPr/>
          <p:nvPr/>
        </p:nvSpPr>
        <p:spPr>
          <a:xfrm>
            <a:off x="4649700" y="1335383"/>
            <a:ext cx="3297504" cy="1816751"/>
          </a:xfrm>
          <a:custGeom>
            <a:avLst/>
            <a:gdLst>
              <a:gd name="connsiteX0" fmla="*/ 2553193 w 3297504"/>
              <a:gd name="connsiteY0" fmla="*/ 138124 h 1816751"/>
              <a:gd name="connsiteX1" fmla="*/ 2512553 w 3297504"/>
              <a:gd name="connsiteY1" fmla="*/ 1695991 h 1816751"/>
              <a:gd name="connsiteX2" fmla="*/ 223166 w 3297504"/>
              <a:gd name="connsiteY2" fmla="*/ 1695991 h 1816751"/>
              <a:gd name="connsiteX3" fmla="*/ 67379 w 3297504"/>
              <a:gd name="connsiteY3" fmla="*/ 1682444 h 1816751"/>
              <a:gd name="connsiteX4" fmla="*/ 47059 w 3297504"/>
              <a:gd name="connsiteY4" fmla="*/ 1668897 h 1816751"/>
              <a:gd name="connsiteX5" fmla="*/ 3176339 w 3297504"/>
              <a:gd name="connsiteY5" fmla="*/ 1723084 h 1816751"/>
              <a:gd name="connsiteX6" fmla="*/ 2648019 w 3297504"/>
              <a:gd name="connsiteY6" fmla="*/ 253271 h 1816751"/>
              <a:gd name="connsiteX7" fmla="*/ 2553193 w 3297504"/>
              <a:gd name="connsiteY7" fmla="*/ 138124 h 1816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7504" h="1816751">
                <a:moveTo>
                  <a:pt x="2553193" y="138124"/>
                </a:moveTo>
                <a:cubicBezTo>
                  <a:pt x="2530615" y="378577"/>
                  <a:pt x="2900891" y="1436347"/>
                  <a:pt x="2512553" y="1695991"/>
                </a:cubicBezTo>
                <a:cubicBezTo>
                  <a:pt x="2124215" y="1955636"/>
                  <a:pt x="630695" y="1698249"/>
                  <a:pt x="223166" y="1695991"/>
                </a:cubicBezTo>
                <a:cubicBezTo>
                  <a:pt x="-184363" y="1693733"/>
                  <a:pt x="96730" y="1686960"/>
                  <a:pt x="67379" y="1682444"/>
                </a:cubicBezTo>
                <a:cubicBezTo>
                  <a:pt x="38028" y="1677928"/>
                  <a:pt x="47059" y="1668897"/>
                  <a:pt x="47059" y="1668897"/>
                </a:cubicBezTo>
                <a:cubicBezTo>
                  <a:pt x="565219" y="1675670"/>
                  <a:pt x="2742846" y="1959022"/>
                  <a:pt x="3176339" y="1723084"/>
                </a:cubicBezTo>
                <a:cubicBezTo>
                  <a:pt x="3609832" y="1487146"/>
                  <a:pt x="2748490" y="512916"/>
                  <a:pt x="2648019" y="253271"/>
                </a:cubicBezTo>
                <a:cubicBezTo>
                  <a:pt x="2547548" y="-6374"/>
                  <a:pt x="2575771" y="-102329"/>
                  <a:pt x="2553193" y="138124"/>
                </a:cubicBez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7794170" y="3572634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 абзац</a:t>
            </a:r>
          </a:p>
        </p:txBody>
      </p:sp>
    </p:spTree>
    <p:extLst>
      <p:ext uri="{BB962C8B-B14F-4D97-AF65-F5344CB8AC3E}">
        <p14:creationId xmlns:p14="http://schemas.microsoft.com/office/powerpoint/2010/main" val="1362163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47" y="1334347"/>
            <a:ext cx="6246800" cy="3253027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Найдите черты научного стиля</a:t>
            </a:r>
          </a:p>
        </p:txBody>
      </p:sp>
    </p:spTree>
    <p:extLst>
      <p:ext uri="{BB962C8B-B14F-4D97-AF65-F5344CB8AC3E}">
        <p14:creationId xmlns:p14="http://schemas.microsoft.com/office/powerpoint/2010/main" val="46895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dirty="0" err="1"/>
              <a:t>Информа́тика</a:t>
            </a:r>
            <a:r>
              <a:rPr lang="ru-RU" dirty="0"/>
              <a:t>  — наука о методах и процессах сбора, хранения, обработки, передачи, анализа и оценки информации с применением компьютерных технологий, обеспечивающих возможность её использования для принятия решений.</a:t>
            </a:r>
          </a:p>
          <a:p>
            <a:pPr algn="just"/>
            <a:r>
              <a:rPr lang="ru-RU" dirty="0"/>
              <a:t>Информатика включает дисциплины, относящиеся к обработке информации в вычислительных машинах и вычислительных сетях: как абстрактные, вроде анализа алгоритмов, так и конкретные, например, разработка языков программирования и протоколов передачи данных.</a:t>
            </a:r>
          </a:p>
          <a:p>
            <a:pPr algn="just"/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Ключевые слова </a:t>
            </a:r>
          </a:p>
        </p:txBody>
      </p:sp>
    </p:spTree>
    <p:extLst>
      <p:ext uri="{BB962C8B-B14F-4D97-AF65-F5344CB8AC3E}">
        <p14:creationId xmlns:p14="http://schemas.microsoft.com/office/powerpoint/2010/main" val="385701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just"/>
            <a:r>
              <a:rPr lang="ru-RU" b="1" dirty="0"/>
              <a:t>Университет ИТМО</a:t>
            </a:r>
            <a:r>
              <a:rPr lang="ru-RU" dirty="0"/>
              <a:t>  — российское федеральное государственное автономное учебное заведение высшего и послевузовского образования, с 2009 года — национальный исследовательский университет (НИУ). Основан в 1900 году в Санкт-Петербурге. Приоритетные направления вуза — информационные технологии, искусственный интеллект, фотоника, робототехника, квантовые коммуникации, трансляционная медицина, науки о жизни (</a:t>
            </a:r>
            <a:r>
              <a:rPr lang="ru-RU" dirty="0" err="1"/>
              <a:t>Life</a:t>
            </a:r>
            <a:r>
              <a:rPr lang="ru-RU" dirty="0"/>
              <a:t> </a:t>
            </a:r>
            <a:r>
              <a:rPr lang="ru-RU" dirty="0" err="1"/>
              <a:t>Sciences</a:t>
            </a:r>
            <a:r>
              <a:rPr lang="ru-RU" dirty="0"/>
              <a:t>), </a:t>
            </a:r>
            <a:r>
              <a:rPr lang="ru-RU" dirty="0" err="1"/>
              <a:t>Art&amp;Science</a:t>
            </a:r>
            <a:r>
              <a:rPr lang="ru-RU" dirty="0"/>
              <a:t>, научная коммуникация. Команда ИТМО по спортивному программированию — единственный в мире семикратный чемпион крупнейшей международной студенческой олимпиады ICPС.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Ключевые слова </a:t>
            </a:r>
          </a:p>
        </p:txBody>
      </p:sp>
    </p:spTree>
    <p:extLst>
      <p:ext uri="{BB962C8B-B14F-4D97-AF65-F5344CB8AC3E}">
        <p14:creationId xmlns:p14="http://schemas.microsoft.com/office/powerpoint/2010/main" val="1416565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24113" y="1233715"/>
            <a:ext cx="8065976" cy="3410856"/>
          </a:xfrm>
        </p:spPr>
        <p:txBody>
          <a:bodyPr/>
          <a:lstStyle/>
          <a:p>
            <a:r>
              <a:rPr lang="ru-RU" b="1" dirty="0" err="1"/>
              <a:t>Робототе́хника</a:t>
            </a:r>
            <a:r>
              <a:rPr lang="ru-RU" dirty="0"/>
              <a:t>  — прикладная наука, занимающаяся разработкой автоматизированных технических систем и являющаяся важнейшей технической основой развития производства</a:t>
            </a:r>
            <a:r>
              <a:rPr lang="ru-RU" baseline="30000" dirty="0">
                <a:hlinkClick r:id="rId2"/>
              </a:rPr>
              <a:t>[3]</a:t>
            </a:r>
            <a:r>
              <a:rPr lang="ru-RU" dirty="0"/>
              <a:t>.</a:t>
            </a:r>
          </a:p>
          <a:p>
            <a:r>
              <a:rPr lang="ru-RU" dirty="0"/>
              <a:t>Робототехника опирается на такие дисциплины, как электроника, механика, кибернетика, телемеханика, мехатроника, информатика, а также радиотехника и электротехника. Выделяют строительную, промышленную, бытовую, медицинскую, авиационную и экстремальную (военную, космическую, подводную) робототехнику.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Ключевые слова </a:t>
            </a:r>
          </a:p>
        </p:txBody>
      </p:sp>
    </p:spTree>
    <p:extLst>
      <p:ext uri="{BB962C8B-B14F-4D97-AF65-F5344CB8AC3E}">
        <p14:creationId xmlns:p14="http://schemas.microsoft.com/office/powerpoint/2010/main" val="1672461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Питон, программирование, Гвидо </a:t>
            </a:r>
            <a:r>
              <a:rPr lang="ru-RU" dirty="0" err="1"/>
              <a:t>ван</a:t>
            </a:r>
            <a:r>
              <a:rPr lang="ru-RU" dirty="0"/>
              <a:t> </a:t>
            </a:r>
            <a:r>
              <a:rPr lang="ru-RU" dirty="0" err="1"/>
              <a:t>Россум</a:t>
            </a:r>
            <a:r>
              <a:rPr lang="ru-RU" dirty="0"/>
              <a:t>, версия.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Иностранные студенты, обучение, русский язык, адаптация.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Приложение, карта, навигация, код, транспорт, логистика.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Ключевые слова</a:t>
            </a:r>
          </a:p>
        </p:txBody>
      </p:sp>
    </p:spTree>
    <p:extLst>
      <p:ext uri="{BB962C8B-B14F-4D97-AF65-F5344CB8AC3E}">
        <p14:creationId xmlns:p14="http://schemas.microsoft.com/office/powerpoint/2010/main" val="4079951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24113" y="1233715"/>
            <a:ext cx="7539703" cy="3410856"/>
          </a:xfrm>
        </p:spPr>
        <p:txBody>
          <a:bodyPr/>
          <a:lstStyle/>
          <a:p>
            <a:r>
              <a:rPr lang="ru-RU" b="1" dirty="0" err="1"/>
              <a:t>Робототе́хника</a:t>
            </a:r>
            <a:r>
              <a:rPr lang="ru-RU" dirty="0"/>
              <a:t> (от </a:t>
            </a:r>
            <a:r>
              <a:rPr lang="ru-RU" dirty="0">
                <a:hlinkClick r:id="rId2" tooltip="Робот"/>
              </a:rPr>
              <a:t>робот</a:t>
            </a:r>
            <a:r>
              <a:rPr lang="ru-RU" dirty="0"/>
              <a:t> и </a:t>
            </a:r>
            <a:r>
              <a:rPr lang="ru-RU" dirty="0">
                <a:hlinkClick r:id="rId3" tooltip="Техника"/>
              </a:rPr>
              <a:t>техника</a:t>
            </a:r>
            <a:r>
              <a:rPr lang="ru-RU" dirty="0"/>
              <a:t>; </a:t>
            </a:r>
            <a:r>
              <a:rPr lang="ru-RU" dirty="0">
                <a:hlinkClick r:id="rId4" tooltip="Английский язык"/>
              </a:rPr>
              <a:t>англ.</a:t>
            </a:r>
            <a:r>
              <a:rPr lang="ru-RU" dirty="0"/>
              <a:t> </a:t>
            </a:r>
            <a:r>
              <a:rPr lang="ru-RU" i="1" dirty="0" err="1"/>
              <a:t>robotics</a:t>
            </a:r>
            <a:r>
              <a:rPr lang="ru-RU" dirty="0"/>
              <a:t> — </a:t>
            </a:r>
            <a:r>
              <a:rPr lang="ru-RU" b="1" dirty="0" err="1"/>
              <a:t>роботика</a:t>
            </a:r>
            <a:r>
              <a:rPr lang="ru-RU" baseline="30000" dirty="0">
                <a:hlinkClick r:id="rId5"/>
              </a:rPr>
              <a:t>[1]</a:t>
            </a:r>
            <a:r>
              <a:rPr lang="ru-RU" dirty="0"/>
              <a:t>, </a:t>
            </a:r>
            <a:r>
              <a:rPr lang="ru-RU" i="1" dirty="0" err="1"/>
              <a:t>роботехника</a:t>
            </a:r>
            <a:r>
              <a:rPr lang="ru-RU" baseline="30000" dirty="0">
                <a:hlinkClick r:id="rId6"/>
              </a:rPr>
              <a:t>[2]</a:t>
            </a:r>
            <a:r>
              <a:rPr lang="ru-RU" dirty="0"/>
              <a:t>) — </a:t>
            </a:r>
            <a:r>
              <a:rPr lang="ru-RU" dirty="0">
                <a:hlinkClick r:id="rId7" tooltip="Прикладная наука"/>
              </a:rPr>
              <a:t>прикладная наука</a:t>
            </a:r>
            <a:r>
              <a:rPr lang="ru-RU" dirty="0"/>
              <a:t>, занимающаяся разработкой автоматизированных технических систем и являющаяся важнейшей технической основой развития производства</a:t>
            </a:r>
            <a:r>
              <a:rPr lang="ru-RU" baseline="30000" dirty="0">
                <a:hlinkClick r:id="rId8"/>
              </a:rPr>
              <a:t>[3]</a:t>
            </a:r>
            <a:r>
              <a:rPr lang="ru-RU" dirty="0"/>
              <a:t>.</a:t>
            </a:r>
          </a:p>
          <a:p>
            <a:r>
              <a:rPr lang="ru-RU" dirty="0"/>
              <a:t>Робототехника опирается на такие дисциплины, как </a:t>
            </a:r>
            <a:r>
              <a:rPr lang="ru-RU" dirty="0">
                <a:hlinkClick r:id="rId9" tooltip="Электроника"/>
              </a:rPr>
              <a:t>электроника</a:t>
            </a:r>
            <a:r>
              <a:rPr lang="ru-RU" dirty="0"/>
              <a:t>, </a:t>
            </a:r>
            <a:r>
              <a:rPr lang="ru-RU" dirty="0">
                <a:hlinkClick r:id="rId10" tooltip="Механика"/>
              </a:rPr>
              <a:t>механика</a:t>
            </a:r>
            <a:r>
              <a:rPr lang="ru-RU" dirty="0"/>
              <a:t>, </a:t>
            </a:r>
            <a:r>
              <a:rPr lang="ru-RU" dirty="0">
                <a:hlinkClick r:id="rId11" tooltip="Кибернетика"/>
              </a:rPr>
              <a:t>кибернетика</a:t>
            </a:r>
            <a:r>
              <a:rPr lang="ru-RU" dirty="0"/>
              <a:t>, </a:t>
            </a:r>
            <a:r>
              <a:rPr lang="ru-RU" dirty="0">
                <a:hlinkClick r:id="rId12" tooltip="Телемеханика"/>
              </a:rPr>
              <a:t>телемеханика</a:t>
            </a:r>
            <a:r>
              <a:rPr lang="ru-RU" dirty="0"/>
              <a:t>, </a:t>
            </a:r>
            <a:r>
              <a:rPr lang="ru-RU" dirty="0" err="1">
                <a:hlinkClick r:id="rId13" tooltip="Мехатроника"/>
              </a:rPr>
              <a:t>мехатроника</a:t>
            </a:r>
            <a:r>
              <a:rPr lang="ru-RU" baseline="30000" dirty="0">
                <a:hlinkClick r:id="rId14"/>
              </a:rPr>
              <a:t>[4]</a:t>
            </a:r>
            <a:r>
              <a:rPr lang="ru-RU" dirty="0"/>
              <a:t>, </a:t>
            </a:r>
            <a:r>
              <a:rPr lang="ru-RU" dirty="0">
                <a:hlinkClick r:id="rId15" tooltip="Информатика"/>
              </a:rPr>
              <a:t>информатика</a:t>
            </a:r>
            <a:r>
              <a:rPr lang="ru-RU" dirty="0"/>
              <a:t>, а также </a:t>
            </a:r>
            <a:r>
              <a:rPr lang="ru-RU" dirty="0">
                <a:hlinkClick r:id="rId16" tooltip="Радиотехника"/>
              </a:rPr>
              <a:t>радиотехника</a:t>
            </a:r>
            <a:r>
              <a:rPr lang="ru-RU" dirty="0"/>
              <a:t> и </a:t>
            </a:r>
            <a:r>
              <a:rPr lang="ru-RU" dirty="0">
                <a:hlinkClick r:id="rId17" tooltip="Электротехника"/>
              </a:rPr>
              <a:t>электротехника</a:t>
            </a:r>
            <a:r>
              <a:rPr lang="ru-RU" dirty="0"/>
              <a:t>. Выделяют строительную, промышленную, бытовую, медицинскую, авиационную и экстремальную (военную, космическую, подводную) робототехнику.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Ключевые слова </a:t>
            </a:r>
          </a:p>
        </p:txBody>
      </p:sp>
    </p:spTree>
    <p:extLst>
      <p:ext uri="{BB962C8B-B14F-4D97-AF65-F5344CB8AC3E}">
        <p14:creationId xmlns:p14="http://schemas.microsoft.com/office/powerpoint/2010/main" val="3753356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ru-RU" sz="1800" b="1" dirty="0"/>
              <a:t>Высокая степень уверенности: </a:t>
            </a:r>
            <a:br>
              <a:rPr lang="ru-RU" sz="1800" b="1" dirty="0"/>
            </a:br>
            <a:r>
              <a:rPr lang="ru-RU" sz="1800" dirty="0"/>
              <a:t>Конечно, разумеется, без сомнения, действительно</a:t>
            </a:r>
          </a:p>
          <a:p>
            <a:r>
              <a:rPr lang="ru-RU" sz="1800" b="1" dirty="0"/>
              <a:t>Низкая степень уверенности: </a:t>
            </a:r>
          </a:p>
          <a:p>
            <a:r>
              <a:rPr lang="ru-RU" sz="1800" dirty="0"/>
              <a:t>Кажется, вероятно, может быть, пожалуй</a:t>
            </a:r>
          </a:p>
          <a:p>
            <a:endParaRPr lang="ru-RU" b="1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/>
          </p:nvPr>
        </p:nvSpPr>
        <p:spPr>
          <a:xfrm>
            <a:off x="457202" y="3105836"/>
            <a:ext cx="4049014" cy="1640335"/>
          </a:xfrm>
        </p:spPr>
        <p:txBody>
          <a:bodyPr>
            <a:normAutofit fontScale="92500" lnSpcReduction="10000"/>
          </a:bodyPr>
          <a:lstStyle/>
          <a:p>
            <a:r>
              <a:rPr lang="ru-RU" sz="1800" b="1" dirty="0"/>
              <a:t>Чувства: </a:t>
            </a:r>
            <a:br>
              <a:rPr lang="ru-RU" sz="1800" dirty="0"/>
            </a:br>
            <a:r>
              <a:rPr lang="ru-RU" sz="1800" dirty="0"/>
              <a:t>К счастью, к сожалению, к несчастью, к удивлению.</a:t>
            </a:r>
          </a:p>
          <a:p>
            <a:r>
              <a:rPr lang="ru-RU" sz="1800" b="1" dirty="0"/>
              <a:t>Источник сообщения (кто сказал): </a:t>
            </a:r>
          </a:p>
          <a:p>
            <a:r>
              <a:rPr lang="ru-RU" sz="1800" dirty="0"/>
              <a:t>По словам; по мнению; как сообщают; говорят.</a:t>
            </a:r>
          </a:p>
          <a:p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800" b="1" dirty="0">
                <a:solidFill>
                  <a:schemeClr val="tx1"/>
                </a:solidFill>
              </a:rPr>
              <a:t>Способы оформления мысли:</a:t>
            </a:r>
          </a:p>
          <a:p>
            <a:r>
              <a:rPr lang="ru-RU" sz="1800" dirty="0"/>
              <a:t>Одним словом; проще говоря; лучше сказать; иначе говоря; правильнее сказать.</a:t>
            </a:r>
          </a:p>
          <a:p>
            <a:r>
              <a:rPr lang="ru-RU" sz="1800" b="1" dirty="0">
                <a:solidFill>
                  <a:schemeClr val="tx1"/>
                </a:solidFill>
              </a:rPr>
              <a:t>Порядок мыслей: </a:t>
            </a:r>
          </a:p>
          <a:p>
            <a:r>
              <a:rPr lang="ru-RU" sz="1800" dirty="0"/>
              <a:t>Во-первых; во-вторых; в-третьих; наконец; следовательно; значит; итак; напротив; например; таким образом; с одной стороны; с другой стороны.</a:t>
            </a:r>
          </a:p>
          <a:p>
            <a:endParaRPr lang="ru-RU" dirty="0">
              <a:solidFill>
                <a:srgbClr val="7030A0"/>
              </a:solidFill>
            </a:endParaRPr>
          </a:p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Вводные конструкции </a:t>
            </a:r>
          </a:p>
        </p:txBody>
      </p:sp>
    </p:spTree>
    <p:extLst>
      <p:ext uri="{BB962C8B-B14F-4D97-AF65-F5344CB8AC3E}">
        <p14:creationId xmlns:p14="http://schemas.microsoft.com/office/powerpoint/2010/main" val="3601473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Искусственный интеллект развивается очень быстро.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А). Разумеется это так, потому что много специалистов. </a:t>
            </a:r>
          </a:p>
          <a:p>
            <a:r>
              <a:rPr lang="ru-RU" sz="2000" dirty="0"/>
              <a:t>Б) К сожалению, люди становятся ленивыми. </a:t>
            </a:r>
          </a:p>
          <a:p>
            <a:r>
              <a:rPr lang="ru-RU" sz="2000" dirty="0"/>
              <a:t>В) Одним словом, ИИ – это будущее. / Проще говоря, сейчас легко найти информацию. / Лучше сказать, это поможет нам сэкономить время. </a:t>
            </a:r>
          </a:p>
          <a:p>
            <a:r>
              <a:rPr lang="ru-RU" sz="2000" dirty="0"/>
              <a:t>Г). С одной стороны, он помогает людям работать продуктивно. С другой стороны, он может забрать рабочие места. 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91066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11791" y="2104067"/>
            <a:ext cx="6998183" cy="401283"/>
          </a:xfrm>
        </p:spPr>
        <p:txBody>
          <a:bodyPr/>
          <a:lstStyle/>
          <a:p>
            <a:r>
              <a:rPr lang="ru-RU" dirty="0"/>
              <a:t>Кто такой? Что такое?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Конструкции определения объекта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30124" y="1233715"/>
            <a:ext cx="4631205" cy="67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Кто / что (Им. П.) – это кто/что (Им. П.)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791" y="2487959"/>
            <a:ext cx="784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Что такое буфер? </a:t>
            </a:r>
            <a:br>
              <a:rPr lang="ru-RU" b="1" dirty="0">
                <a:solidFill>
                  <a:srgbClr val="7030A0"/>
                </a:solidFill>
              </a:rPr>
            </a:br>
            <a:r>
              <a:rPr lang="ru-RU" b="1" dirty="0">
                <a:solidFill>
                  <a:srgbClr val="7030A0"/>
                </a:solidFill>
              </a:rPr>
              <a:t>Буфер – это место промежуточного хранения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4267692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11791" y="2104067"/>
            <a:ext cx="6998183" cy="401283"/>
          </a:xfrm>
        </p:spPr>
        <p:txBody>
          <a:bodyPr/>
          <a:lstStyle/>
          <a:p>
            <a:r>
              <a:rPr lang="ru-RU" dirty="0"/>
              <a:t>Кем является? Чем является?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Конструкции квалификации объекта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30124" y="1233715"/>
            <a:ext cx="4631205" cy="67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Кто / что (Им. П.) является Кем / Чем (</a:t>
            </a:r>
            <a:r>
              <a:rPr lang="ru-RU" b="1" dirty="0" err="1"/>
              <a:t>Тв.п</a:t>
            </a:r>
            <a:r>
              <a:rPr lang="ru-RU" b="1" dirty="0"/>
              <a:t>.).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791" y="2487959"/>
            <a:ext cx="784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Кем является Михаил Ломоносов?</a:t>
            </a:r>
          </a:p>
          <a:p>
            <a:r>
              <a:rPr lang="ru-RU" b="1" dirty="0">
                <a:solidFill>
                  <a:srgbClr val="7030A0"/>
                </a:solidFill>
              </a:rPr>
              <a:t>Михаил Ломоносов является великим русским учёным. </a:t>
            </a:r>
          </a:p>
        </p:txBody>
      </p:sp>
    </p:spTree>
    <p:extLst>
      <p:ext uri="{BB962C8B-B14F-4D97-AF65-F5344CB8AC3E}">
        <p14:creationId xmlns:p14="http://schemas.microsoft.com/office/powerpoint/2010/main" val="3660885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11791" y="2104067"/>
            <a:ext cx="6998183" cy="401283"/>
          </a:xfrm>
        </p:spPr>
        <p:txBody>
          <a:bodyPr/>
          <a:lstStyle/>
          <a:p>
            <a:r>
              <a:rPr lang="ru-RU" dirty="0"/>
              <a:t>Что представляет собой …?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Конструкции квалификации объекта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18459" y="1139628"/>
            <a:ext cx="4631205" cy="67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Что (Им. П.) представляет собой Что (</a:t>
            </a:r>
            <a:r>
              <a:rPr lang="ru-RU" b="1" dirty="0" err="1"/>
              <a:t>В.п</a:t>
            </a:r>
            <a:r>
              <a:rPr lang="ru-RU" b="1" dirty="0"/>
              <a:t>.).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789" y="2487959"/>
            <a:ext cx="784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Что представляет собой Интернет?</a:t>
            </a:r>
          </a:p>
          <a:p>
            <a:r>
              <a:rPr lang="ru-RU" b="1" dirty="0">
                <a:solidFill>
                  <a:srgbClr val="7030A0"/>
                </a:solidFill>
              </a:rPr>
              <a:t>Интернет представляет собой всемирную компьютерную сеть.</a:t>
            </a:r>
          </a:p>
        </p:txBody>
      </p:sp>
    </p:spTree>
    <p:extLst>
      <p:ext uri="{BB962C8B-B14F-4D97-AF65-F5344CB8AC3E}">
        <p14:creationId xmlns:p14="http://schemas.microsoft.com/office/powerpoint/2010/main" val="3269685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11791" y="2104067"/>
            <a:ext cx="6998183" cy="401283"/>
          </a:xfrm>
        </p:spPr>
        <p:txBody>
          <a:bodyPr/>
          <a:lstStyle/>
          <a:p>
            <a:r>
              <a:rPr lang="ru-RU" dirty="0"/>
              <a:t>Что понимается под …?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Конструкции квалификации объекта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18459" y="1139628"/>
            <a:ext cx="4631205" cy="67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Под кем/чем (</a:t>
            </a:r>
            <a:r>
              <a:rPr lang="ru-RU" b="1" dirty="0" err="1"/>
              <a:t>Тв.п</a:t>
            </a:r>
            <a:r>
              <a:rPr lang="ru-RU" b="1" dirty="0"/>
              <a:t>.) понимается Кто/что (</a:t>
            </a:r>
            <a:r>
              <a:rPr lang="ru-RU" b="1" dirty="0" err="1"/>
              <a:t>Им.п</a:t>
            </a:r>
            <a:r>
              <a:rPr lang="ru-RU" b="1" dirty="0"/>
              <a:t>.).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789" y="2487959"/>
            <a:ext cx="7844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Что понимается под информационным процессом?</a:t>
            </a:r>
          </a:p>
          <a:p>
            <a:r>
              <a:rPr lang="ru-RU" b="1" dirty="0">
                <a:solidFill>
                  <a:srgbClr val="7030A0"/>
                </a:solidFill>
              </a:rPr>
              <a:t>Под информационным процессом понимается последовательность действий, выполняемых с информацией. </a:t>
            </a:r>
          </a:p>
        </p:txBody>
      </p:sp>
    </p:spTree>
    <p:extLst>
      <p:ext uri="{BB962C8B-B14F-4D97-AF65-F5344CB8AC3E}">
        <p14:creationId xmlns:p14="http://schemas.microsoft.com/office/powerpoint/2010/main" val="1903001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11791" y="2104067"/>
            <a:ext cx="6998183" cy="401283"/>
          </a:xfrm>
        </p:spPr>
        <p:txBody>
          <a:bodyPr/>
          <a:lstStyle/>
          <a:p>
            <a:r>
              <a:rPr lang="ru-RU" dirty="0"/>
              <a:t>Что понимают под …?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Конструкции квалификации объекта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18459" y="1139628"/>
            <a:ext cx="4631205" cy="67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Под кем/чем (</a:t>
            </a:r>
            <a:r>
              <a:rPr lang="ru-RU" b="1" dirty="0" err="1"/>
              <a:t>Тв.п</a:t>
            </a:r>
            <a:r>
              <a:rPr lang="ru-RU" b="1" dirty="0"/>
              <a:t>.) понимают Кого/что (</a:t>
            </a:r>
            <a:r>
              <a:rPr lang="ru-RU" b="1" dirty="0" err="1"/>
              <a:t>В.п</a:t>
            </a:r>
            <a:r>
              <a:rPr lang="ru-RU" b="1" dirty="0"/>
              <a:t>.).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789" y="2487959"/>
            <a:ext cx="7844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Что понимают под информационным процессом?</a:t>
            </a:r>
          </a:p>
          <a:p>
            <a:r>
              <a:rPr lang="ru-RU" b="1" dirty="0">
                <a:solidFill>
                  <a:srgbClr val="7030A0"/>
                </a:solidFill>
              </a:rPr>
              <a:t>Под информационным процессом понимают последовательность действий, выполняемых с информацией.  </a:t>
            </a:r>
          </a:p>
        </p:txBody>
      </p:sp>
    </p:spTree>
    <p:extLst>
      <p:ext uri="{BB962C8B-B14F-4D97-AF65-F5344CB8AC3E}">
        <p14:creationId xmlns:p14="http://schemas.microsoft.com/office/powerpoint/2010/main" val="410536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11791" y="2104067"/>
            <a:ext cx="6998183" cy="401283"/>
          </a:xfrm>
        </p:spPr>
        <p:txBody>
          <a:bodyPr/>
          <a:lstStyle/>
          <a:p>
            <a:r>
              <a:rPr lang="ru-RU" dirty="0"/>
              <a:t>Что называют …?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Конструкции квалификации объекта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789" y="2487959"/>
            <a:ext cx="784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Что называют кодом?</a:t>
            </a:r>
          </a:p>
          <a:p>
            <a:r>
              <a:rPr lang="ru-RU" b="1" dirty="0">
                <a:solidFill>
                  <a:srgbClr val="7030A0"/>
                </a:solidFill>
              </a:rPr>
              <a:t>Кодом называют систему условных знаков.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982732" y="1144892"/>
            <a:ext cx="4631205" cy="67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Кого / что (</a:t>
            </a:r>
            <a:r>
              <a:rPr lang="ru-RU" b="1" dirty="0" err="1"/>
              <a:t>Вин.п</a:t>
            </a:r>
            <a:r>
              <a:rPr lang="ru-RU" b="1" dirty="0"/>
              <a:t>.) называют кем</a:t>
            </a:r>
            <a:br>
              <a:rPr lang="ru-RU" b="1" dirty="0"/>
            </a:br>
            <a:r>
              <a:rPr lang="ru-RU" b="1" dirty="0"/>
              <a:t>чем? (</a:t>
            </a:r>
            <a:r>
              <a:rPr lang="ru-RU" b="1" dirty="0" err="1"/>
              <a:t>Тв.п</a:t>
            </a:r>
            <a:r>
              <a:rPr lang="ru-RU" b="1" dirty="0"/>
              <a:t>.).</a:t>
            </a:r>
          </a:p>
        </p:txBody>
      </p:sp>
    </p:spTree>
    <p:extLst>
      <p:ext uri="{BB962C8B-B14F-4D97-AF65-F5344CB8AC3E}">
        <p14:creationId xmlns:p14="http://schemas.microsoft.com/office/powerpoint/2010/main" val="4257775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611791" y="2104067"/>
            <a:ext cx="6998183" cy="401283"/>
          </a:xfrm>
        </p:spPr>
        <p:txBody>
          <a:bodyPr/>
          <a:lstStyle/>
          <a:p>
            <a:r>
              <a:rPr lang="ru-RU" dirty="0"/>
              <a:t>Что называется  …?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Конструкции квалификации объекта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789" y="2487959"/>
            <a:ext cx="784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Что называется кодом?</a:t>
            </a:r>
          </a:p>
          <a:p>
            <a:r>
              <a:rPr lang="ru-RU" b="1" dirty="0">
                <a:solidFill>
                  <a:srgbClr val="7030A0"/>
                </a:solidFill>
              </a:rPr>
              <a:t>Кодом называется система условных знаков.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218457" y="1133394"/>
            <a:ext cx="4631205" cy="670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Кем/чем (</a:t>
            </a:r>
            <a:r>
              <a:rPr lang="ru-RU" b="1" dirty="0" err="1"/>
              <a:t>Тв.п</a:t>
            </a:r>
            <a:r>
              <a:rPr lang="ru-RU" b="1" dirty="0"/>
              <a:t>.). называется Кто/что (</a:t>
            </a:r>
            <a:r>
              <a:rPr lang="ru-RU" b="1" dirty="0" err="1"/>
              <a:t>Им.п</a:t>
            </a:r>
            <a:r>
              <a:rPr lang="ru-RU" b="1" dirty="0"/>
              <a:t>.)?</a:t>
            </a:r>
          </a:p>
        </p:txBody>
      </p:sp>
    </p:spTree>
    <p:extLst>
      <p:ext uri="{BB962C8B-B14F-4D97-AF65-F5344CB8AC3E}">
        <p14:creationId xmlns:p14="http://schemas.microsoft.com/office/powerpoint/2010/main" val="2305586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Что такое информатика? </a:t>
            </a:r>
          </a:p>
        </p:txBody>
      </p:sp>
    </p:spTree>
    <p:extLst>
      <p:ext uri="{BB962C8B-B14F-4D97-AF65-F5344CB8AC3E}">
        <p14:creationId xmlns:p14="http://schemas.microsoft.com/office/powerpoint/2010/main" val="1752488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Вопросы (информатика)</a:t>
            </a:r>
          </a:p>
        </p:txBody>
      </p:sp>
    </p:spTree>
    <p:extLst>
      <p:ext uri="{BB962C8B-B14F-4D97-AF65-F5344CB8AC3E}">
        <p14:creationId xmlns:p14="http://schemas.microsoft.com/office/powerpoint/2010/main" val="1642220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ru-RU" sz="2000" dirty="0"/>
              <a:t>Интернет – это всемирная компьютерная сеть.</a:t>
            </a:r>
          </a:p>
          <a:p>
            <a:pPr marL="342900" indent="-342900">
              <a:buAutoNum type="arabicPeriod"/>
            </a:pPr>
            <a:r>
              <a:rPr lang="ru-RU" sz="2000" dirty="0"/>
              <a:t>Интернет является </a:t>
            </a:r>
            <a:r>
              <a:rPr lang="ru-RU" sz="2000" dirty="0" err="1"/>
              <a:t>всемирнОЙ</a:t>
            </a:r>
            <a:r>
              <a:rPr lang="ru-RU" sz="2000" dirty="0"/>
              <a:t> </a:t>
            </a:r>
            <a:r>
              <a:rPr lang="ru-RU" sz="2000" dirty="0" err="1"/>
              <a:t>компьютернОЙ</a:t>
            </a:r>
            <a:r>
              <a:rPr lang="ru-RU" sz="2000" dirty="0"/>
              <a:t> </a:t>
            </a:r>
            <a:r>
              <a:rPr lang="ru-RU" sz="2000" dirty="0" err="1"/>
              <a:t>сеть</a:t>
            </a:r>
            <a:r>
              <a:rPr lang="ru-RU" sz="2000" dirty="0" err="1">
                <a:solidFill>
                  <a:srgbClr val="FF0000"/>
                </a:solidFill>
              </a:rPr>
              <a:t>Ю</a:t>
            </a:r>
            <a:r>
              <a:rPr lang="ru-RU" sz="2000" dirty="0"/>
              <a:t>.</a:t>
            </a:r>
          </a:p>
          <a:p>
            <a:pPr marL="342900" indent="-342900">
              <a:buAutoNum type="arabicPeriod"/>
            </a:pPr>
            <a:r>
              <a:rPr lang="ru-RU" sz="2000" dirty="0"/>
              <a:t>Интернет представляет собой </a:t>
            </a:r>
            <a:r>
              <a:rPr lang="ru-RU" sz="2000" dirty="0" err="1"/>
              <a:t>всемирнУЮ</a:t>
            </a:r>
            <a:r>
              <a:rPr lang="ru-RU" sz="2000" dirty="0"/>
              <a:t> </a:t>
            </a:r>
            <a:r>
              <a:rPr lang="ru-RU" sz="2000" dirty="0" err="1"/>
              <a:t>компьютернУЮ</a:t>
            </a:r>
            <a:r>
              <a:rPr lang="ru-RU" sz="2000" dirty="0"/>
              <a:t> сеть. </a:t>
            </a:r>
          </a:p>
          <a:p>
            <a:pPr marL="342900" indent="-342900">
              <a:buAutoNum type="arabicPeriod"/>
            </a:pPr>
            <a:r>
              <a:rPr lang="ru-RU" sz="2000" dirty="0"/>
              <a:t>Под </a:t>
            </a:r>
            <a:r>
              <a:rPr lang="ru-RU" sz="2000" dirty="0" err="1"/>
              <a:t>интернетОМ</a:t>
            </a:r>
            <a:r>
              <a:rPr lang="ru-RU" sz="2000" dirty="0"/>
              <a:t> понимается всемирная компьютерная сеть </a:t>
            </a:r>
          </a:p>
          <a:p>
            <a:pPr marL="342900" indent="-342900">
              <a:buAutoNum type="arabicPeriod"/>
            </a:pPr>
            <a:r>
              <a:rPr lang="ru-RU" sz="2000" dirty="0"/>
              <a:t>Под </a:t>
            </a:r>
            <a:r>
              <a:rPr lang="ru-RU" sz="2000" dirty="0" err="1"/>
              <a:t>ИнтернетОМ</a:t>
            </a:r>
            <a:r>
              <a:rPr lang="ru-RU" sz="2000" dirty="0"/>
              <a:t> понимают </a:t>
            </a:r>
            <a:r>
              <a:rPr lang="ru-RU" sz="2000" dirty="0" err="1"/>
              <a:t>всемирнУЮ</a:t>
            </a:r>
            <a:r>
              <a:rPr lang="ru-RU" sz="2000" dirty="0"/>
              <a:t> </a:t>
            </a:r>
            <a:r>
              <a:rPr lang="ru-RU" sz="2000" dirty="0" err="1"/>
              <a:t>компьютернУЮ</a:t>
            </a:r>
            <a:r>
              <a:rPr lang="ru-RU" sz="2000" dirty="0"/>
              <a:t> сеть.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 Интернет</a:t>
            </a:r>
          </a:p>
        </p:txBody>
      </p:sp>
    </p:spTree>
    <p:extLst>
      <p:ext uri="{BB962C8B-B14F-4D97-AF65-F5344CB8AC3E}">
        <p14:creationId xmlns:p14="http://schemas.microsoft.com/office/powerpoint/2010/main" val="3898441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A55A528-DA99-9D23-89C0-1E1BDDB0A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sz="2000" dirty="0"/>
              <a:t>Кухня – это комната, в которой мы готовим и едим.</a:t>
            </a:r>
          </a:p>
          <a:p>
            <a:r>
              <a:rPr lang="ru-RU" sz="2000" dirty="0"/>
              <a:t>Кухня является комнатой, в которой мы готовим и едим.</a:t>
            </a:r>
          </a:p>
          <a:p>
            <a:r>
              <a:rPr lang="ru-RU" sz="2000" dirty="0"/>
              <a:t>Кухня представляет собой комнату, в которой мы готовим и едим.</a:t>
            </a:r>
          </a:p>
          <a:p>
            <a:r>
              <a:rPr lang="ru-RU" sz="2000" dirty="0"/>
              <a:t>Под кухней понимается комната, в которой мы готовим и едим.</a:t>
            </a:r>
          </a:p>
          <a:p>
            <a:r>
              <a:rPr lang="ru-RU" sz="2000" dirty="0"/>
              <a:t>Под кухней понимают комнату, в которой мы готовим и едим.</a:t>
            </a:r>
          </a:p>
          <a:p>
            <a:r>
              <a:rPr lang="ru-RU" sz="2000" dirty="0"/>
              <a:t> 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357CD5D-0115-29AA-FA6C-62D3E52A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75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24" y="1110434"/>
            <a:ext cx="7230846" cy="3657418"/>
          </a:xfrm>
          <a:prstGeom prst="rect">
            <a:avLst/>
          </a:prstGeom>
        </p:spPr>
      </p:pic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375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7650</TotalTime>
  <Words>1285</Words>
  <Application>Microsoft Office PowerPoint</Application>
  <PresentationFormat>Экран (16:9)</PresentationFormat>
  <Paragraphs>140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 Конструкции определения объекта.</vt:lpstr>
      <vt:lpstr>Вводные конструкции</vt:lpstr>
      <vt:lpstr>Отреагируйте, используйте вводные конструкции.</vt:lpstr>
      <vt:lpstr>Вводные конструкции</vt:lpstr>
      <vt:lpstr>Вводные конструкции</vt:lpstr>
      <vt:lpstr>Вводные конструкции</vt:lpstr>
      <vt:lpstr>Вводные конструкции</vt:lpstr>
      <vt:lpstr>Структура научного текста </vt:lpstr>
      <vt:lpstr>Структура научного текста</vt:lpstr>
      <vt:lpstr>Абзац – одна подтема </vt:lpstr>
      <vt:lpstr>Найдите черты научного стиля</vt:lpstr>
      <vt:lpstr>Ключевые слова </vt:lpstr>
      <vt:lpstr>Ключевые слова </vt:lpstr>
      <vt:lpstr>Ключевые слова </vt:lpstr>
      <vt:lpstr>Ключевые слова</vt:lpstr>
      <vt:lpstr>Ключевые слова </vt:lpstr>
      <vt:lpstr>Вводные конструкции </vt:lpstr>
      <vt:lpstr>Искусственный интеллект развивается очень быстро.</vt:lpstr>
      <vt:lpstr>Конструкции определения объекта</vt:lpstr>
      <vt:lpstr>Конструкции квалификации объекта</vt:lpstr>
      <vt:lpstr>Конструкции квалификации объекта</vt:lpstr>
      <vt:lpstr>Конструкции квалификации объекта</vt:lpstr>
      <vt:lpstr>Конструкции квалификации объекта</vt:lpstr>
      <vt:lpstr>Конструкции квалификации объекта</vt:lpstr>
      <vt:lpstr>Конструкции квалификации объекта</vt:lpstr>
      <vt:lpstr>Что такое информатика? </vt:lpstr>
      <vt:lpstr>Вопросы (информатика)</vt:lpstr>
      <vt:lpstr> Интернет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Смирнов Петр Александрович</cp:lastModifiedBy>
  <cp:revision>201</cp:revision>
  <dcterms:created xsi:type="dcterms:W3CDTF">2014-06-27T12:30:22Z</dcterms:created>
  <dcterms:modified xsi:type="dcterms:W3CDTF">2024-11-01T13:48:01Z</dcterms:modified>
</cp:coreProperties>
</file>