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A82"/>
    <a:srgbClr val="6F8C95"/>
    <a:srgbClr val="9B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zzz ." userId="647713aa9fd1e548" providerId="LiveId" clId="{C7A0B8A8-8C3F-4319-AE94-A57E41ACDFFA}"/>
    <pc:docChg chg="undo custSel addSld modSld modMainMaster">
      <pc:chgData name="zzzz ." userId="647713aa9fd1e548" providerId="LiveId" clId="{C7A0B8A8-8C3F-4319-AE94-A57E41ACDFFA}" dt="2025-11-13T03:22:30.629" v="406" actId="1076"/>
      <pc:docMkLst>
        <pc:docMk/>
      </pc:docMkLst>
      <pc:sldChg chg="addSp modSp new mod setBg">
        <pc:chgData name="zzzz ." userId="647713aa9fd1e548" providerId="LiveId" clId="{C7A0B8A8-8C3F-4319-AE94-A57E41ACDFFA}" dt="2025-11-13T02:43:06.526" v="122" actId="207"/>
        <pc:sldMkLst>
          <pc:docMk/>
          <pc:sldMk cId="1303479513" sldId="256"/>
        </pc:sldMkLst>
        <pc:spChg chg="mod">
          <ac:chgData name="zzzz ." userId="647713aa9fd1e548" providerId="LiveId" clId="{C7A0B8A8-8C3F-4319-AE94-A57E41ACDFFA}" dt="2025-11-13T02:42:00.787" v="117" actId="1076"/>
          <ac:spMkLst>
            <pc:docMk/>
            <pc:sldMk cId="1303479513" sldId="256"/>
            <ac:spMk id="2" creationId="{A6AE9712-0115-A4BA-3826-6D122C53B543}"/>
          </ac:spMkLst>
        </pc:spChg>
        <pc:spChg chg="mod">
          <ac:chgData name="zzzz ." userId="647713aa9fd1e548" providerId="LiveId" clId="{C7A0B8A8-8C3F-4319-AE94-A57E41ACDFFA}" dt="2025-11-13T02:43:06.526" v="122" actId="207"/>
          <ac:spMkLst>
            <pc:docMk/>
            <pc:sldMk cId="1303479513" sldId="256"/>
            <ac:spMk id="3" creationId="{20F2AD38-A78F-2739-7739-FCDC9C81845A}"/>
          </ac:spMkLst>
        </pc:spChg>
        <pc:spChg chg="add mod">
          <ac:chgData name="zzzz ." userId="647713aa9fd1e548" providerId="LiveId" clId="{C7A0B8A8-8C3F-4319-AE94-A57E41ACDFFA}" dt="2025-11-13T02:43:03.232" v="121" actId="207"/>
          <ac:spMkLst>
            <pc:docMk/>
            <pc:sldMk cId="1303479513" sldId="256"/>
            <ac:spMk id="15" creationId="{F87E1045-EA10-5E5E-16B9-751D41E980F5}"/>
          </ac:spMkLst>
        </pc:spChg>
        <pc:spChg chg="add mod">
          <ac:chgData name="zzzz ." userId="647713aa9fd1e548" providerId="LiveId" clId="{C7A0B8A8-8C3F-4319-AE94-A57E41ACDFFA}" dt="2025-11-13T02:42:55.931" v="120" actId="207"/>
          <ac:spMkLst>
            <pc:docMk/>
            <pc:sldMk cId="1303479513" sldId="256"/>
            <ac:spMk id="17" creationId="{7AE6EA02-BCD6-61EF-9AFF-119C54282849}"/>
          </ac:spMkLst>
        </pc:spChg>
        <pc:graphicFrameChg chg="add mod">
          <ac:chgData name="zzzz ." userId="647713aa9fd1e548" providerId="LiveId" clId="{C7A0B8A8-8C3F-4319-AE94-A57E41ACDFFA}" dt="2025-11-13T02:37:01.727" v="3"/>
          <ac:graphicFrameMkLst>
            <pc:docMk/>
            <pc:sldMk cId="1303479513" sldId="256"/>
            <ac:graphicFrameMk id="4" creationId="{DC2187A9-E382-2015-84D6-04D3D5F538A8}"/>
          </ac:graphicFrameMkLst>
        </pc:graphicFrameChg>
        <pc:graphicFrameChg chg="add mod">
          <ac:chgData name="zzzz ." userId="647713aa9fd1e548" providerId="LiveId" clId="{C7A0B8A8-8C3F-4319-AE94-A57E41ACDFFA}" dt="2025-11-13T02:37:05.368" v="4"/>
          <ac:graphicFrameMkLst>
            <pc:docMk/>
            <pc:sldMk cId="1303479513" sldId="256"/>
            <ac:graphicFrameMk id="5" creationId="{EAC51690-03E5-77EC-D122-AB385CD61526}"/>
          </ac:graphicFrameMkLst>
        </pc:graphicFrameChg>
        <pc:graphicFrameChg chg="add mod">
          <ac:chgData name="zzzz ." userId="647713aa9fd1e548" providerId="LiveId" clId="{C7A0B8A8-8C3F-4319-AE94-A57E41ACDFFA}" dt="2025-11-13T02:37:13.458" v="7" actId="1076"/>
          <ac:graphicFrameMkLst>
            <pc:docMk/>
            <pc:sldMk cId="1303479513" sldId="256"/>
            <ac:graphicFrameMk id="6" creationId="{9EC86C62-C340-E36E-BB0F-789CF9E0A957}"/>
          </ac:graphicFrameMkLst>
        </pc:graphicFrameChg>
        <pc:graphicFrameChg chg="add mod">
          <ac:chgData name="zzzz ." userId="647713aa9fd1e548" providerId="LiveId" clId="{C7A0B8A8-8C3F-4319-AE94-A57E41ACDFFA}" dt="2025-11-13T02:37:30.429" v="14" actId="1076"/>
          <ac:graphicFrameMkLst>
            <pc:docMk/>
            <pc:sldMk cId="1303479513" sldId="256"/>
            <ac:graphicFrameMk id="7" creationId="{CB2FC6CF-174B-6DEB-A9E4-25726FD4EE90}"/>
          </ac:graphicFrameMkLst>
        </pc:graphicFrameChg>
        <pc:graphicFrameChg chg="add mod modGraphic">
          <ac:chgData name="zzzz ." userId="647713aa9fd1e548" providerId="LiveId" clId="{C7A0B8A8-8C3F-4319-AE94-A57E41ACDFFA}" dt="2025-11-13T02:41:50.746" v="115" actId="2164"/>
          <ac:graphicFrameMkLst>
            <pc:docMk/>
            <pc:sldMk cId="1303479513" sldId="256"/>
            <ac:graphicFrameMk id="8" creationId="{2B5EDBFA-E789-2A6F-66B8-BEFC7ED54A91}"/>
          </ac:graphicFrameMkLst>
        </pc:graphicFrameChg>
        <pc:graphicFrameChg chg="add mod">
          <ac:chgData name="zzzz ." userId="647713aa9fd1e548" providerId="LiveId" clId="{C7A0B8A8-8C3F-4319-AE94-A57E41ACDFFA}" dt="2025-11-13T02:37:41.601" v="25"/>
          <ac:graphicFrameMkLst>
            <pc:docMk/>
            <pc:sldMk cId="1303479513" sldId="256"/>
            <ac:graphicFrameMk id="9" creationId="{53880363-11CE-4538-4523-AF796A936397}"/>
          </ac:graphicFrameMkLst>
        </pc:graphicFrameChg>
        <pc:graphicFrameChg chg="add mod">
          <ac:chgData name="zzzz ." userId="647713aa9fd1e548" providerId="LiveId" clId="{C7A0B8A8-8C3F-4319-AE94-A57E41ACDFFA}" dt="2025-11-13T02:37:42.631" v="26"/>
          <ac:graphicFrameMkLst>
            <pc:docMk/>
            <pc:sldMk cId="1303479513" sldId="256"/>
            <ac:graphicFrameMk id="10" creationId="{0FD00E55-8A97-8212-BBF8-E84A378527A1}"/>
          </ac:graphicFrameMkLst>
        </pc:graphicFrameChg>
        <pc:graphicFrameChg chg="add mod">
          <ac:chgData name="zzzz ." userId="647713aa9fd1e548" providerId="LiveId" clId="{C7A0B8A8-8C3F-4319-AE94-A57E41ACDFFA}" dt="2025-11-13T02:37:42.968" v="27"/>
          <ac:graphicFrameMkLst>
            <pc:docMk/>
            <pc:sldMk cId="1303479513" sldId="256"/>
            <ac:graphicFrameMk id="11" creationId="{4F08A51A-79EE-A702-5382-651D729D25F9}"/>
          </ac:graphicFrameMkLst>
        </pc:graphicFrameChg>
        <pc:graphicFrameChg chg="add mod">
          <ac:chgData name="zzzz ." userId="647713aa9fd1e548" providerId="LiveId" clId="{C7A0B8A8-8C3F-4319-AE94-A57E41ACDFFA}" dt="2025-11-13T02:37:49.310" v="29"/>
          <ac:graphicFrameMkLst>
            <pc:docMk/>
            <pc:sldMk cId="1303479513" sldId="256"/>
            <ac:graphicFrameMk id="12" creationId="{E05DD0C3-9623-7D81-D39B-ACC5CA28D6A1}"/>
          </ac:graphicFrameMkLst>
        </pc:graphicFrameChg>
        <pc:graphicFrameChg chg="add mod modGraphic">
          <ac:chgData name="zzzz ." userId="647713aa9fd1e548" providerId="LiveId" clId="{C7A0B8A8-8C3F-4319-AE94-A57E41ACDFFA}" dt="2025-11-13T02:38:26.619" v="47" actId="20577"/>
          <ac:graphicFrameMkLst>
            <pc:docMk/>
            <pc:sldMk cId="1303479513" sldId="256"/>
            <ac:graphicFrameMk id="13" creationId="{4160A9B5-A657-7A3F-E153-A70383AAEB65}"/>
          </ac:graphicFrameMkLst>
        </pc:graphicFrameChg>
      </pc:sldChg>
      <pc:sldChg chg="addSp delSp modSp new mod">
        <pc:chgData name="zzzz ." userId="647713aa9fd1e548" providerId="LiveId" clId="{C7A0B8A8-8C3F-4319-AE94-A57E41ACDFFA}" dt="2025-11-13T03:18:02.097" v="381" actId="14100"/>
        <pc:sldMkLst>
          <pc:docMk/>
          <pc:sldMk cId="1137652635" sldId="257"/>
        </pc:sldMkLst>
        <pc:spChg chg="del">
          <ac:chgData name="zzzz ." userId="647713aa9fd1e548" providerId="LiveId" clId="{C7A0B8A8-8C3F-4319-AE94-A57E41ACDFFA}" dt="2025-11-13T02:42:04.759" v="118" actId="478"/>
          <ac:spMkLst>
            <pc:docMk/>
            <pc:sldMk cId="1137652635" sldId="257"/>
            <ac:spMk id="2" creationId="{D2B89F38-A3FB-77AE-266B-434BA147BA97}"/>
          </ac:spMkLst>
        </pc:spChg>
        <pc:spChg chg="del">
          <ac:chgData name="zzzz ." userId="647713aa9fd1e548" providerId="LiveId" clId="{C7A0B8A8-8C3F-4319-AE94-A57E41ACDFFA}" dt="2025-11-13T02:44:37.630" v="129"/>
          <ac:spMkLst>
            <pc:docMk/>
            <pc:sldMk cId="1137652635" sldId="257"/>
            <ac:spMk id="3" creationId="{04F51F4B-C695-A914-8A44-584525664CF1}"/>
          </ac:spMkLst>
        </pc:spChg>
        <pc:spChg chg="add del mod">
          <ac:chgData name="zzzz ." userId="647713aa9fd1e548" providerId="LiveId" clId="{C7A0B8A8-8C3F-4319-AE94-A57E41ACDFFA}" dt="2025-11-13T03:16:08.491" v="330" actId="478"/>
          <ac:spMkLst>
            <pc:docMk/>
            <pc:sldMk cId="1137652635" sldId="257"/>
            <ac:spMk id="5" creationId="{43B19B2C-3E09-6B04-931E-83DD030EAA86}"/>
          </ac:spMkLst>
        </pc:spChg>
        <pc:spChg chg="add mod">
          <ac:chgData name="zzzz ." userId="647713aa9fd1e548" providerId="LiveId" clId="{C7A0B8A8-8C3F-4319-AE94-A57E41ACDFFA}" dt="2025-11-13T03:17:37.137" v="376" actId="14100"/>
          <ac:spMkLst>
            <pc:docMk/>
            <pc:sldMk cId="1137652635" sldId="257"/>
            <ac:spMk id="8" creationId="{FFBCC1E5-E494-6419-ABBE-2D5E1B059F56}"/>
          </ac:spMkLst>
        </pc:spChg>
        <pc:spChg chg="add mod">
          <ac:chgData name="zzzz ." userId="647713aa9fd1e548" providerId="LiveId" clId="{C7A0B8A8-8C3F-4319-AE94-A57E41ACDFFA}" dt="2025-11-13T03:18:02.097" v="381" actId="14100"/>
          <ac:spMkLst>
            <pc:docMk/>
            <pc:sldMk cId="1137652635" sldId="257"/>
            <ac:spMk id="9" creationId="{3D8A2173-6965-D442-FAA1-D8B0C2014DD5}"/>
          </ac:spMkLst>
        </pc:spChg>
        <pc:spChg chg="add del">
          <ac:chgData name="zzzz ." userId="647713aa9fd1e548" providerId="LiveId" clId="{C7A0B8A8-8C3F-4319-AE94-A57E41ACDFFA}" dt="2025-11-13T02:53:36.801" v="178" actId="22"/>
          <ac:spMkLst>
            <pc:docMk/>
            <pc:sldMk cId="1137652635" sldId="257"/>
            <ac:spMk id="11" creationId="{C7413A14-9FEC-6C66-5F28-69A4A5D321D9}"/>
          </ac:spMkLst>
        </pc:spChg>
        <pc:spChg chg="add del mod">
          <ac:chgData name="zzzz ." userId="647713aa9fd1e548" providerId="LiveId" clId="{C7A0B8A8-8C3F-4319-AE94-A57E41ACDFFA}" dt="2025-11-13T03:02:29.789" v="186" actId="478"/>
          <ac:spMkLst>
            <pc:docMk/>
            <pc:sldMk cId="1137652635" sldId="257"/>
            <ac:spMk id="13" creationId="{C611B3DC-4ADC-B195-A079-F5289143788D}"/>
          </ac:spMkLst>
        </pc:spChg>
        <pc:spChg chg="add mod">
          <ac:chgData name="zzzz ." userId="647713aa9fd1e548" providerId="LiveId" clId="{C7A0B8A8-8C3F-4319-AE94-A57E41ACDFFA}" dt="2025-11-13T03:16:36.495" v="362" actId="14100"/>
          <ac:spMkLst>
            <pc:docMk/>
            <pc:sldMk cId="1137652635" sldId="257"/>
            <ac:spMk id="14" creationId="{D9EFD5D9-5D61-DC66-49F4-20CB338A4A2C}"/>
          </ac:spMkLst>
        </pc:spChg>
        <pc:spChg chg="add mod">
          <ac:chgData name="zzzz ." userId="647713aa9fd1e548" providerId="LiveId" clId="{C7A0B8A8-8C3F-4319-AE94-A57E41ACDFFA}" dt="2025-11-13T03:16:36.495" v="362" actId="14100"/>
          <ac:spMkLst>
            <pc:docMk/>
            <pc:sldMk cId="1137652635" sldId="257"/>
            <ac:spMk id="16" creationId="{DC3738D2-CC71-40DC-65D6-3CB84EFD9300}"/>
          </ac:spMkLst>
        </pc:spChg>
        <pc:spChg chg="add mod">
          <ac:chgData name="zzzz ." userId="647713aa9fd1e548" providerId="LiveId" clId="{C7A0B8A8-8C3F-4319-AE94-A57E41ACDFFA}" dt="2025-11-13T03:16:36.495" v="362" actId="14100"/>
          <ac:spMkLst>
            <pc:docMk/>
            <pc:sldMk cId="1137652635" sldId="257"/>
            <ac:spMk id="18" creationId="{4D3E88B1-B7C4-C279-4858-2BD9C851A81E}"/>
          </ac:spMkLst>
        </pc:spChg>
        <pc:spChg chg="add mod">
          <ac:chgData name="zzzz ." userId="647713aa9fd1e548" providerId="LiveId" clId="{C7A0B8A8-8C3F-4319-AE94-A57E41ACDFFA}" dt="2025-11-13T03:16:36.495" v="362" actId="14100"/>
          <ac:spMkLst>
            <pc:docMk/>
            <pc:sldMk cId="1137652635" sldId="257"/>
            <ac:spMk id="20" creationId="{03E83980-5F35-2223-1430-649B398A8D67}"/>
          </ac:spMkLst>
        </pc:spChg>
        <pc:spChg chg="add mod">
          <ac:chgData name="zzzz ." userId="647713aa9fd1e548" providerId="LiveId" clId="{C7A0B8A8-8C3F-4319-AE94-A57E41ACDFFA}" dt="2025-11-13T03:16:36.495" v="362" actId="14100"/>
          <ac:spMkLst>
            <pc:docMk/>
            <pc:sldMk cId="1137652635" sldId="257"/>
            <ac:spMk id="22" creationId="{FB95E267-A65F-97BC-9FC5-868C683DFBC7}"/>
          </ac:spMkLst>
        </pc:spChg>
        <pc:spChg chg="add mod">
          <ac:chgData name="zzzz ." userId="647713aa9fd1e548" providerId="LiveId" clId="{C7A0B8A8-8C3F-4319-AE94-A57E41ACDFFA}" dt="2025-11-13T03:16:36.495" v="362" actId="14100"/>
          <ac:spMkLst>
            <pc:docMk/>
            <pc:sldMk cId="1137652635" sldId="257"/>
            <ac:spMk id="24" creationId="{A96021BB-E9CD-CAF8-A7C9-86C4342BD6DC}"/>
          </ac:spMkLst>
        </pc:spChg>
        <pc:spChg chg="add mod">
          <ac:chgData name="zzzz ." userId="647713aa9fd1e548" providerId="LiveId" clId="{C7A0B8A8-8C3F-4319-AE94-A57E41ACDFFA}" dt="2025-11-13T03:16:36.495" v="362" actId="14100"/>
          <ac:spMkLst>
            <pc:docMk/>
            <pc:sldMk cId="1137652635" sldId="257"/>
            <ac:spMk id="26" creationId="{E1DEFA85-4C31-8078-79DA-C740917B6363}"/>
          </ac:spMkLst>
        </pc:spChg>
        <pc:picChg chg="add del mod">
          <ac:chgData name="zzzz ." userId="647713aa9fd1e548" providerId="LiveId" clId="{C7A0B8A8-8C3F-4319-AE94-A57E41ACDFFA}" dt="2025-11-13T03:16:36.495" v="362" actId="14100"/>
          <ac:picMkLst>
            <pc:docMk/>
            <pc:sldMk cId="1137652635" sldId="257"/>
            <ac:picMk id="7" creationId="{C5FF0670-85E4-2381-D612-85F7A1C4FA82}"/>
          </ac:picMkLst>
        </pc:picChg>
      </pc:sldChg>
      <pc:sldChg chg="addSp delSp modSp new mod">
        <pc:chgData name="zzzz ." userId="647713aa9fd1e548" providerId="LiveId" clId="{C7A0B8A8-8C3F-4319-AE94-A57E41ACDFFA}" dt="2025-11-13T03:22:30.629" v="406" actId="1076"/>
        <pc:sldMkLst>
          <pc:docMk/>
          <pc:sldMk cId="1426060924" sldId="258"/>
        </pc:sldMkLst>
        <pc:spChg chg="del">
          <ac:chgData name="zzzz ." userId="647713aa9fd1e548" providerId="LiveId" clId="{C7A0B8A8-8C3F-4319-AE94-A57E41ACDFFA}" dt="2025-11-13T03:20:05.559" v="382" actId="478"/>
          <ac:spMkLst>
            <pc:docMk/>
            <pc:sldMk cId="1426060924" sldId="258"/>
            <ac:spMk id="2" creationId="{43E2C4BB-E78C-091D-461A-64639E6CE38A}"/>
          </ac:spMkLst>
        </pc:spChg>
        <pc:spChg chg="del">
          <ac:chgData name="zzzz ." userId="647713aa9fd1e548" providerId="LiveId" clId="{C7A0B8A8-8C3F-4319-AE94-A57E41ACDFFA}" dt="2025-11-13T03:20:35.673" v="389"/>
          <ac:spMkLst>
            <pc:docMk/>
            <pc:sldMk cId="1426060924" sldId="258"/>
            <ac:spMk id="3" creationId="{DE041AA8-F148-40DF-E2C3-67A8BC1BD902}"/>
          </ac:spMkLst>
        </pc:spChg>
        <pc:spChg chg="add mod">
          <ac:chgData name="zzzz ." userId="647713aa9fd1e548" providerId="LiveId" clId="{C7A0B8A8-8C3F-4319-AE94-A57E41ACDFFA}" dt="2025-11-13T03:22:20.417" v="403" actId="1076"/>
          <ac:spMkLst>
            <pc:docMk/>
            <pc:sldMk cId="1426060924" sldId="258"/>
            <ac:spMk id="5" creationId="{5CACEFF6-0298-5EA8-F651-CB6DF097F7E1}"/>
          </ac:spMkLst>
        </pc:spChg>
        <pc:graphicFrameChg chg="add mod modGraphic">
          <ac:chgData name="zzzz ." userId="647713aa9fd1e548" providerId="LiveId" clId="{C7A0B8A8-8C3F-4319-AE94-A57E41ACDFFA}" dt="2025-11-13T03:22:30.629" v="406" actId="1076"/>
          <ac:graphicFrameMkLst>
            <pc:docMk/>
            <pc:sldMk cId="1426060924" sldId="258"/>
            <ac:graphicFrameMk id="6" creationId="{90879807-EBD4-FF7C-CB8E-8682E803FC69}"/>
          </ac:graphicFrameMkLst>
        </pc:graphicFrameChg>
      </pc:sldChg>
      <pc:sldMasterChg chg="setBg modSldLayout">
        <pc:chgData name="zzzz ." userId="647713aa9fd1e548" providerId="LiveId" clId="{C7A0B8A8-8C3F-4319-AE94-A57E41ACDFFA}" dt="2025-11-13T02:37:32.061" v="17"/>
        <pc:sldMasterMkLst>
          <pc:docMk/>
          <pc:sldMasterMk cId="2009774613" sldId="2147483660"/>
        </pc:sldMasterMkLst>
        <pc:sldLayoutChg chg="setBg">
          <pc:chgData name="zzzz ." userId="647713aa9fd1e548" providerId="LiveId" clId="{C7A0B8A8-8C3F-4319-AE94-A57E41ACDFFA}" dt="2025-11-13T02:37:32.061" v="17"/>
          <pc:sldLayoutMkLst>
            <pc:docMk/>
            <pc:sldMasterMk cId="2009774613" sldId="2147483660"/>
            <pc:sldLayoutMk cId="988117798" sldId="2147483661"/>
          </pc:sldLayoutMkLst>
        </pc:sldLayoutChg>
        <pc:sldLayoutChg chg="setBg">
          <pc:chgData name="zzzz ." userId="647713aa9fd1e548" providerId="LiveId" clId="{C7A0B8A8-8C3F-4319-AE94-A57E41ACDFFA}" dt="2025-11-13T02:37:32.061" v="17"/>
          <pc:sldLayoutMkLst>
            <pc:docMk/>
            <pc:sldMasterMk cId="2009774613" sldId="2147483660"/>
            <pc:sldLayoutMk cId="1430199480" sldId="214748366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988117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42743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430199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38254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1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40445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60275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VI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43021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VI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84355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24990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50259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0B86421-CECF-4147-870E-AAB3D84201F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2DC08C2-BACF-45F2-B404-54BADEBFB00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0977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7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9712-0115-A4BA-3826-6D122C53B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200" y="1915748"/>
            <a:ext cx="8991600" cy="1645920"/>
          </a:xfrm>
        </p:spPr>
        <p:txBody>
          <a:bodyPr/>
          <a:lstStyle/>
          <a:p>
            <a:r>
              <a:rPr lang="ru-RU" dirty="0"/>
              <a:t>Анализ бизнес-ьщдели стартапа </a:t>
            </a:r>
            <a:r>
              <a:rPr lang="en-US" dirty="0"/>
              <a:t>Dasha.ai</a:t>
            </a:r>
            <a:r>
              <a:rPr lang="ru-RU" dirty="0"/>
              <a:t> </a:t>
            </a:r>
            <a:endParaRPr lang="en-V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2AD38-A78F-2739-7739-FCDC9C818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8175" y="6240979"/>
            <a:ext cx="4527241" cy="457995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Выполнили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ru-RU" b="1" dirty="0">
                <a:solidFill>
                  <a:schemeClr val="tx1"/>
                </a:solidFill>
              </a:rPr>
              <a:t> захра дарабзадех</a:t>
            </a:r>
            <a:endParaRPr lang="en-VI" b="1" dirty="0">
              <a:solidFill>
                <a:schemeClr val="tx1"/>
              </a:solidFill>
            </a:endParaRPr>
          </a:p>
          <a:p>
            <a:endParaRPr lang="en-VI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5EDBFA-E789-2A6F-66B8-BEFC7ED54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166744"/>
              </p:ext>
            </p:extLst>
          </p:nvPr>
        </p:nvGraphicFramePr>
        <p:xfrm>
          <a:off x="2230437" y="3561668"/>
          <a:ext cx="7731125" cy="731520"/>
        </p:xfrm>
        <a:graphic>
          <a:graphicData uri="http://schemas.openxmlformats.org/drawingml/2006/table">
            <a:tbl>
              <a:tblPr/>
              <a:tblGrid>
                <a:gridCol w="7731125">
                  <a:extLst>
                    <a:ext uri="{9D8B030D-6E8A-4147-A177-3AD203B41FA5}">
                      <a16:colId xmlns:a16="http://schemas.microsoft.com/office/drawing/2014/main" val="1116689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82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VI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9192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87E1045-EA10-5E5E-16B9-751D41E980F5}"/>
              </a:ext>
            </a:extLst>
          </p:cNvPr>
          <p:cNvSpPr txBox="1"/>
          <p:nvPr/>
        </p:nvSpPr>
        <p:spPr>
          <a:xfrm>
            <a:off x="5950226" y="6240979"/>
            <a:ext cx="104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2025</a:t>
            </a:r>
            <a:endParaRPr lang="en-VI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E6EA02-BCD6-61EF-9AFF-119C54282849}"/>
              </a:ext>
            </a:extLst>
          </p:cNvPr>
          <p:cNvSpPr txBox="1"/>
          <p:nvPr/>
        </p:nvSpPr>
        <p:spPr>
          <a:xfrm>
            <a:off x="1600199" y="3891481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Цель Работы</a:t>
            </a:r>
            <a:r>
              <a:rPr lang="en-US" b="1" dirty="0"/>
              <a:t>: </a:t>
            </a:r>
            <a:r>
              <a:rPr lang="ru-RU" dirty="0"/>
              <a:t>Описание бизнес-модели Dasha.AI по шаблону А. Остервальдера и И. Пинье и определение подходящей модели монетизации (по О. Гассману).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130347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board with black text&#10;&#10;AI-generated content may be incorrect.">
            <a:extLst>
              <a:ext uri="{FF2B5EF4-FFF2-40B4-BE49-F238E27FC236}">
                <a16:creationId xmlns:a16="http://schemas.microsoft.com/office/drawing/2014/main" id="{C5FF0670-85E4-2381-D612-85F7A1C4F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746" y="387747"/>
            <a:ext cx="9222418" cy="608250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BCC1E5-E494-6419-ABBE-2D5E1B059F56}"/>
              </a:ext>
            </a:extLst>
          </p:cNvPr>
          <p:cNvSpPr txBox="1"/>
          <p:nvPr/>
        </p:nvSpPr>
        <p:spPr>
          <a:xfrm>
            <a:off x="8703082" y="1258639"/>
            <a:ext cx="1616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rgbClr val="002060"/>
                </a:solidFill>
              </a:rPr>
              <a:t>Крупные и средние B2B-компании</a:t>
            </a:r>
            <a:r>
              <a:rPr lang="ru-RU" sz="1200" dirty="0">
                <a:solidFill>
                  <a:srgbClr val="002060"/>
                </a:solidFill>
              </a:rPr>
              <a:t> с высоким объемом исходящих/входящих звонков: </a:t>
            </a:r>
            <a:r>
              <a:rPr lang="ru-RU" sz="1200" b="1" dirty="0">
                <a:solidFill>
                  <a:srgbClr val="002060"/>
                </a:solidFill>
              </a:rPr>
              <a:t>Банки (BFSI), Телеком, Страховые компании,</a:t>
            </a:r>
            <a:r>
              <a:rPr lang="ru-RU" sz="1200" dirty="0">
                <a:solidFill>
                  <a:srgbClr val="002060"/>
                </a:solidFill>
              </a:rPr>
              <a:t> Сектор услуг.</a:t>
            </a:r>
            <a:endParaRPr lang="en-VI" sz="12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A2173-6965-D442-FAA1-D8B0C2014DD5}"/>
              </a:ext>
            </a:extLst>
          </p:cNvPr>
          <p:cNvSpPr txBox="1"/>
          <p:nvPr/>
        </p:nvSpPr>
        <p:spPr>
          <a:xfrm>
            <a:off x="5110800" y="1219043"/>
            <a:ext cx="160922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i="0" dirty="0">
                <a:solidFill>
                  <a:srgbClr val="002060"/>
                </a:solidFill>
                <a:effectLst/>
                <a:latin typeface="Google Sans Flex"/>
              </a:rPr>
              <a:t>Автоматизация сложных, многоступенчатых диалогов (Human-like AI):</a:t>
            </a:r>
            <a:r>
              <a:rPr lang="ru-RU" sz="1200" b="0" i="0" dirty="0">
                <a:solidFill>
                  <a:srgbClr val="002060"/>
                </a:solidFill>
                <a:effectLst/>
                <a:latin typeface="Google Sans Flex"/>
              </a:rPr>
              <a:t> 1. Снижение операционных расходов (OPEX) до 50%. 2. мгновенная масштабируемость. 3. Повышение качества обслуживания и лояльности клиентов.</a:t>
            </a:r>
            <a:endParaRPr lang="en-VI" sz="1200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EFD5D9-5D61-DC66-49F4-20CB338A4A2C}"/>
              </a:ext>
            </a:extLst>
          </p:cNvPr>
          <p:cNvSpPr txBox="1"/>
          <p:nvPr/>
        </p:nvSpPr>
        <p:spPr>
          <a:xfrm>
            <a:off x="6985041" y="3573533"/>
            <a:ext cx="1609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1</a:t>
            </a:r>
            <a:r>
              <a:rPr lang="ru-RU" sz="1200" b="0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. </a:t>
            </a:r>
            <a:r>
              <a:rPr lang="ru-RU" sz="1200" b="1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Прямые продажи</a:t>
            </a:r>
            <a:r>
              <a:rPr lang="ru-RU" sz="1200" b="0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. 2. </a:t>
            </a:r>
            <a:r>
              <a:rPr lang="ru-RU" sz="1200" b="1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Партнерские интеграции</a:t>
            </a:r>
            <a:r>
              <a:rPr lang="ru-RU" sz="1200" b="0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 . </a:t>
            </a:r>
            <a:endParaRPr lang="en-US" sz="1200" b="0" i="0" dirty="0">
              <a:solidFill>
                <a:srgbClr val="002060"/>
              </a:solidFill>
              <a:effectLst/>
              <a:latin typeface=". Прямые продажи. 2. Партнерские интеграции . 3. Разработчики API (Документация и SDK)"/>
              <a:cs typeface="Arial" panose="020B0604020202020204" pitchFamily="34" charset="0"/>
            </a:endParaRPr>
          </a:p>
          <a:p>
            <a:r>
              <a:rPr lang="ru-RU" sz="1200" b="0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3. </a:t>
            </a:r>
            <a:r>
              <a:rPr lang="ru-RU" sz="1200" b="1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Разработчики API</a:t>
            </a:r>
            <a:r>
              <a:rPr lang="ru-RU" sz="1200" b="0" i="0" dirty="0">
                <a:solidFill>
                  <a:srgbClr val="002060"/>
                </a:solidFill>
                <a:effectLst/>
                <a:latin typeface=". Прямые продажи. 2. Партнерские интеграции . 3. Разработчики API (Документация и SDK)"/>
                <a:cs typeface="Arial" panose="020B0604020202020204" pitchFamily="34" charset="0"/>
              </a:rPr>
              <a:t> (Документация и SDK)</a:t>
            </a:r>
            <a:endParaRPr lang="en-VI" sz="1200" dirty="0">
              <a:solidFill>
                <a:srgbClr val="002060"/>
              </a:solidFill>
              <a:latin typeface=". Прямые продажи. 2. Партнерские интеграции . 3. Разработчики API (Документация и SDK)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3738D2-CC71-40DC-65D6-3CB84EFD9300}"/>
              </a:ext>
            </a:extLst>
          </p:cNvPr>
          <p:cNvSpPr txBox="1"/>
          <p:nvPr/>
        </p:nvSpPr>
        <p:spPr>
          <a:xfrm>
            <a:off x="6866597" y="1316389"/>
            <a:ext cx="19408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2060"/>
                </a:solidFill>
              </a:rPr>
              <a:t>1. </a:t>
            </a:r>
            <a:r>
              <a:rPr lang="ru-RU" sz="1200" b="1" dirty="0">
                <a:solidFill>
                  <a:srgbClr val="002060"/>
                </a:solidFill>
              </a:rPr>
              <a:t>Персональное обслуживание</a:t>
            </a:r>
            <a:r>
              <a:rPr lang="ru-RU" sz="1200" dirty="0">
                <a:solidFill>
                  <a:srgbClr val="002060"/>
                </a:solidFill>
              </a:rPr>
              <a:t> (Выделенный менеджер по работе с крупными клиентами). 2. </a:t>
            </a:r>
            <a:r>
              <a:rPr lang="ru-RU" sz="1200" b="1" dirty="0">
                <a:solidFill>
                  <a:srgbClr val="002060"/>
                </a:solidFill>
              </a:rPr>
              <a:t>Самообслуживание</a:t>
            </a:r>
            <a:r>
              <a:rPr lang="ru-RU" sz="1200" dirty="0">
                <a:solidFill>
                  <a:srgbClr val="002060"/>
                </a:solidFill>
              </a:rPr>
              <a:t> (API и портал разработчика). </a:t>
            </a:r>
            <a:r>
              <a:rPr lang="en-US" sz="1200" dirty="0">
                <a:solidFill>
                  <a:srgbClr val="002060"/>
                </a:solidFill>
              </a:rPr>
              <a:t>     </a:t>
            </a:r>
            <a:r>
              <a:rPr lang="ru-RU" sz="1200" dirty="0">
                <a:solidFill>
                  <a:srgbClr val="002060"/>
                </a:solidFill>
              </a:rPr>
              <a:t>3. </a:t>
            </a:r>
            <a:r>
              <a:rPr lang="ru-RU" sz="1200" b="1" dirty="0">
                <a:solidFill>
                  <a:srgbClr val="002060"/>
                </a:solidFill>
              </a:rPr>
              <a:t>Техническая поддержка 24/7.</a:t>
            </a:r>
            <a:endParaRPr lang="en-VI" sz="1200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3E88B1-B7C4-C279-4858-2BD9C851A81E}"/>
              </a:ext>
            </a:extLst>
          </p:cNvPr>
          <p:cNvSpPr txBox="1"/>
          <p:nvPr/>
        </p:nvSpPr>
        <p:spPr>
          <a:xfrm>
            <a:off x="3184370" y="3535033"/>
            <a:ext cx="176542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2060"/>
                </a:solidFill>
              </a:rPr>
              <a:t>1. </a:t>
            </a:r>
            <a:r>
              <a:rPr lang="ru-RU" sz="1200" b="1" dirty="0">
                <a:solidFill>
                  <a:srgbClr val="002060"/>
                </a:solidFill>
              </a:rPr>
              <a:t>AI/ML/NLP Модели </a:t>
            </a:r>
            <a:r>
              <a:rPr lang="ru-RU" sz="1200" dirty="0">
                <a:solidFill>
                  <a:srgbClr val="002060"/>
                </a:solidFill>
              </a:rPr>
              <a:t>2. </a:t>
            </a:r>
            <a:r>
              <a:rPr lang="ru-RU" sz="1200" b="1" dirty="0">
                <a:solidFill>
                  <a:srgbClr val="002060"/>
                </a:solidFill>
              </a:rPr>
              <a:t>IT-инфраструктура</a:t>
            </a:r>
            <a:r>
              <a:rPr lang="ru-RU" sz="1200" dirty="0">
                <a:solidFill>
                  <a:srgbClr val="002060"/>
                </a:solidFill>
              </a:rPr>
              <a:t> (Облачные вычисления, ЦОДы). 3. </a:t>
            </a:r>
            <a:r>
              <a:rPr lang="ru-RU" sz="1200" b="1" dirty="0">
                <a:solidFill>
                  <a:srgbClr val="002060"/>
                </a:solidFill>
              </a:rPr>
              <a:t>Команда инженеров</a:t>
            </a:r>
            <a:r>
              <a:rPr lang="ru-RU" sz="1200" dirty="0">
                <a:solidFill>
                  <a:srgbClr val="002060"/>
                </a:solidFill>
              </a:rPr>
              <a:t> (специалисты по ML и Deep Learning).</a:t>
            </a:r>
            <a:endParaRPr lang="en-VI" sz="1200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E83980-5F35-2223-1430-649B398A8D67}"/>
              </a:ext>
            </a:extLst>
          </p:cNvPr>
          <p:cNvSpPr txBox="1"/>
          <p:nvPr/>
        </p:nvSpPr>
        <p:spPr>
          <a:xfrm>
            <a:off x="6006210" y="5391172"/>
            <a:ext cx="4158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2060"/>
                </a:solidFill>
              </a:rPr>
              <a:t>1. </a:t>
            </a:r>
            <a:r>
              <a:rPr lang="ru-RU" sz="1200" b="1" dirty="0">
                <a:solidFill>
                  <a:srgbClr val="002060"/>
                </a:solidFill>
              </a:rPr>
              <a:t>Плата за использование</a:t>
            </a:r>
            <a:r>
              <a:rPr lang="ru-RU" sz="1200" dirty="0">
                <a:solidFill>
                  <a:srgbClr val="002060"/>
                </a:solidFill>
              </a:rPr>
              <a:t> (Pay-Per-Use) — оплата за минуту разговора/звонка. 2. </a:t>
            </a:r>
            <a:r>
              <a:rPr lang="ru-RU" sz="1200" b="1" dirty="0">
                <a:solidFill>
                  <a:srgbClr val="002060"/>
                </a:solidFill>
              </a:rPr>
              <a:t>Ежемесячная Подписка (SaaS)</a:t>
            </a:r>
            <a:r>
              <a:rPr lang="ru-RU" sz="1200" dirty="0">
                <a:solidFill>
                  <a:srgbClr val="002060"/>
                </a:solidFill>
              </a:rPr>
              <a:t> на корпоративный пакет. 3. </a:t>
            </a:r>
            <a:r>
              <a:rPr lang="ru-RU" sz="1200" b="1" dirty="0">
                <a:solidFill>
                  <a:srgbClr val="002060"/>
                </a:solidFill>
              </a:rPr>
              <a:t>Оплата за Интеграцию</a:t>
            </a:r>
            <a:r>
              <a:rPr lang="ru-RU" sz="1200" dirty="0">
                <a:solidFill>
                  <a:srgbClr val="002060"/>
                </a:solidFill>
              </a:rPr>
              <a:t> и кастомизацию.</a:t>
            </a:r>
            <a:endParaRPr lang="en-VI" sz="1200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95E267-A65F-97BC-9FC5-868C683DFBC7}"/>
              </a:ext>
            </a:extLst>
          </p:cNvPr>
          <p:cNvSpPr txBox="1"/>
          <p:nvPr/>
        </p:nvSpPr>
        <p:spPr>
          <a:xfrm>
            <a:off x="3283940" y="1324699"/>
            <a:ext cx="16927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>
                <a:solidFill>
                  <a:srgbClr val="002060"/>
                </a:solidFill>
              </a:rPr>
              <a:t>1. </a:t>
            </a:r>
            <a:r>
              <a:rPr lang="ru-RU" sz="1200" b="1">
                <a:solidFill>
                  <a:srgbClr val="002060"/>
                </a:solidFill>
              </a:rPr>
              <a:t>R&amp;D</a:t>
            </a:r>
            <a:r>
              <a:rPr lang="ru-RU" sz="1200">
                <a:solidFill>
                  <a:srgbClr val="002060"/>
                </a:solidFill>
              </a:rPr>
              <a:t> (Исследование и разработка новых моделей AI и LLMs). 2. </a:t>
            </a:r>
            <a:r>
              <a:rPr lang="ru-RU" sz="1200" b="1">
                <a:solidFill>
                  <a:srgbClr val="002060"/>
                </a:solidFill>
              </a:rPr>
              <a:t>Обслуживание IT-инфраструктуры</a:t>
            </a:r>
            <a:r>
              <a:rPr lang="ru-RU" sz="1200">
                <a:solidFill>
                  <a:srgbClr val="002060"/>
                </a:solidFill>
              </a:rPr>
              <a:t> (Поддержка облачных сервисов). 3. </a:t>
            </a:r>
            <a:r>
              <a:rPr lang="ru-RU" sz="1200" b="1">
                <a:solidFill>
                  <a:srgbClr val="002060"/>
                </a:solidFill>
              </a:rPr>
              <a:t>Продажи и Интеграция</a:t>
            </a:r>
            <a:endParaRPr lang="en-VI" sz="1200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6021BB-E9CD-CAF8-A7C9-86C4342BD6DC}"/>
              </a:ext>
            </a:extLst>
          </p:cNvPr>
          <p:cNvSpPr txBox="1"/>
          <p:nvPr/>
        </p:nvSpPr>
        <p:spPr>
          <a:xfrm>
            <a:off x="1517641" y="1316389"/>
            <a:ext cx="13147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2060"/>
                </a:solidFill>
              </a:rPr>
              <a:t>1. </a:t>
            </a:r>
            <a:r>
              <a:rPr lang="ru-RU" sz="1200" b="1" dirty="0">
                <a:solidFill>
                  <a:srgbClr val="002060"/>
                </a:solidFill>
              </a:rPr>
              <a:t>Поставщики облачных услуг</a:t>
            </a:r>
            <a:r>
              <a:rPr lang="ru-RU" sz="1200" dirty="0">
                <a:solidFill>
                  <a:srgbClr val="002060"/>
                </a:solidFill>
              </a:rPr>
              <a:t> (AWS, Google Cloud, Azure). 2. </a:t>
            </a:r>
            <a:r>
              <a:rPr lang="ru-RU" sz="1200" b="1" dirty="0">
                <a:solidFill>
                  <a:srgbClr val="002060"/>
                </a:solidFill>
              </a:rPr>
              <a:t>Телеком-операторы</a:t>
            </a:r>
            <a:r>
              <a:rPr lang="ru-RU" sz="1200" dirty="0">
                <a:solidFill>
                  <a:srgbClr val="002060"/>
                </a:solidFill>
              </a:rPr>
              <a:t> (для обеспечения качества связи). 3. </a:t>
            </a:r>
            <a:r>
              <a:rPr lang="ru-RU" sz="1200" b="1" dirty="0">
                <a:solidFill>
                  <a:srgbClr val="002060"/>
                </a:solidFill>
              </a:rPr>
              <a:t>Системные интеграторы</a:t>
            </a:r>
            <a:r>
              <a:rPr lang="ru-RU" sz="1200" dirty="0">
                <a:solidFill>
                  <a:srgbClr val="002060"/>
                </a:solidFill>
              </a:rPr>
              <a:t> (для внедрения решений в крупные компании).</a:t>
            </a:r>
            <a:endParaRPr lang="en-VI" sz="1200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DEFA85-4C31-8078-79DA-C740917B6363}"/>
              </a:ext>
            </a:extLst>
          </p:cNvPr>
          <p:cNvSpPr txBox="1"/>
          <p:nvPr/>
        </p:nvSpPr>
        <p:spPr>
          <a:xfrm>
            <a:off x="1517641" y="5366493"/>
            <a:ext cx="39506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2060"/>
                </a:solidFill>
              </a:rPr>
              <a:t>1. </a:t>
            </a:r>
            <a:r>
              <a:rPr lang="ru-RU" sz="1200" b="1" dirty="0">
                <a:solidFill>
                  <a:srgbClr val="002060"/>
                </a:solidFill>
              </a:rPr>
              <a:t>Зарплата</a:t>
            </a:r>
            <a:r>
              <a:rPr lang="ru-RU" sz="1200" dirty="0">
                <a:solidFill>
                  <a:srgbClr val="002060"/>
                </a:solidFill>
              </a:rPr>
              <a:t> (самые высокие затраты на высококвалифицированных AI/ML инженеров).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ru-RU" sz="1200" dirty="0">
                <a:solidFill>
                  <a:srgbClr val="002060"/>
                </a:solidFill>
              </a:rPr>
              <a:t> 2. </a:t>
            </a:r>
            <a:r>
              <a:rPr lang="ru-RU" sz="1200" b="1" dirty="0">
                <a:solidFill>
                  <a:srgbClr val="002060"/>
                </a:solidFill>
              </a:rPr>
              <a:t>Облачные сервисы</a:t>
            </a:r>
            <a:r>
              <a:rPr lang="ru-RU" sz="1200" dirty="0">
                <a:solidFill>
                  <a:srgbClr val="002060"/>
                </a:solidFill>
              </a:rPr>
              <a:t> (расходы на вычислительные мощности). 3. </a:t>
            </a:r>
            <a:r>
              <a:rPr lang="ru-RU" sz="1200" b="1" dirty="0">
                <a:solidFill>
                  <a:srgbClr val="002060"/>
                </a:solidFill>
              </a:rPr>
              <a:t>R&amp;D и Патентование.</a:t>
            </a:r>
            <a:endParaRPr lang="en-VI" sz="1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65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0879807-EBD4-FF7C-CB8E-8682E803FC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979074"/>
              </p:ext>
            </p:extLst>
          </p:nvPr>
        </p:nvGraphicFramePr>
        <p:xfrm>
          <a:off x="821871" y="1545770"/>
          <a:ext cx="10548258" cy="445300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74129">
                  <a:extLst>
                    <a:ext uri="{9D8B030D-6E8A-4147-A177-3AD203B41FA5}">
                      <a16:colId xmlns:a16="http://schemas.microsoft.com/office/drawing/2014/main" val="830836737"/>
                    </a:ext>
                  </a:extLst>
                </a:gridCol>
                <a:gridCol w="5274129">
                  <a:extLst>
                    <a:ext uri="{9D8B030D-6E8A-4147-A177-3AD203B41FA5}">
                      <a16:colId xmlns:a16="http://schemas.microsoft.com/office/drawing/2014/main" val="302684624"/>
                    </a:ext>
                  </a:extLst>
                </a:gridCol>
              </a:tblGrid>
              <a:tr h="552455">
                <a:tc>
                  <a:txBody>
                    <a:bodyPr/>
                    <a:lstStyle/>
                    <a:p>
                      <a:r>
                        <a:rPr lang="ru-RU" sz="1500" b="1" dirty="0"/>
                        <a:t>Основная Модель Монетизации</a:t>
                      </a:r>
                      <a:endParaRPr lang="ru-RU" sz="1500" dirty="0"/>
                    </a:p>
                  </a:txBody>
                  <a:tcPr marL="36069" marR="36069" marT="18035" marB="18035" anchor="ctr"/>
                </a:tc>
                <a:tc>
                  <a:txBody>
                    <a:bodyPr/>
                    <a:lstStyle/>
                    <a:p>
                      <a:r>
                        <a:rPr lang="ru-RU" sz="1500" b="1"/>
                        <a:t>1. Модель «Оплата по использованию» (Pay-Per-Use) / Подписка (SaaS).</a:t>
                      </a:r>
                      <a:endParaRPr lang="ru-RU" sz="1500"/>
                    </a:p>
                  </a:txBody>
                  <a:tcPr marL="36069" marR="36069" marT="18035" marB="18035" anchor="ctr"/>
                </a:tc>
                <a:extLst>
                  <a:ext uri="{0D108BD9-81ED-4DB2-BD59-A6C34878D82A}">
                    <a16:rowId xmlns:a16="http://schemas.microsoft.com/office/drawing/2014/main" val="1952925102"/>
                  </a:ext>
                </a:extLst>
              </a:tr>
              <a:tr h="1087956">
                <a:tc>
                  <a:txBody>
                    <a:bodyPr/>
                    <a:lstStyle/>
                    <a:p>
                      <a:r>
                        <a:rPr lang="ru-RU" sz="1500" b="1" dirty="0"/>
                        <a:t>Описание</a:t>
                      </a:r>
                      <a:endParaRPr lang="ru-RU" sz="1500" dirty="0"/>
                    </a:p>
                  </a:txBody>
                  <a:tcPr marL="36069" marR="36069" marT="18035" marB="18035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Клиент платит за фактический объем услуг: за каждую минуту разговора, обработанный звонок или количество активных линий. Это напрямую соответствует ценности, которую дает Dasha.AI (снижение затрат на оператора).</a:t>
                      </a:r>
                    </a:p>
                  </a:txBody>
                  <a:tcPr marL="36069" marR="36069" marT="18035" marB="18035" anchor="ctr"/>
                </a:tc>
                <a:extLst>
                  <a:ext uri="{0D108BD9-81ED-4DB2-BD59-A6C34878D82A}">
                    <a16:rowId xmlns:a16="http://schemas.microsoft.com/office/drawing/2014/main" val="4041732963"/>
                  </a:ext>
                </a:extLst>
              </a:tr>
              <a:tr h="552455">
                <a:tc>
                  <a:txBody>
                    <a:bodyPr/>
                    <a:lstStyle/>
                    <a:p>
                      <a:r>
                        <a:rPr lang="ru-RU" sz="1500" b="1"/>
                        <a:t>Ключевая Модель (</a:t>
                      </a:r>
                      <a:r>
                        <a:rPr lang="en-US" sz="1500" b="1"/>
                        <a:t>O. </a:t>
                      </a:r>
                      <a:r>
                        <a:rPr lang="ru-RU" sz="1500" b="1"/>
                        <a:t>Гассман)</a:t>
                      </a:r>
                      <a:endParaRPr lang="ru-RU" sz="1500"/>
                    </a:p>
                  </a:txBody>
                  <a:tcPr marL="36069" marR="36069" marT="18035" marB="18035" anchor="ctr"/>
                </a:tc>
                <a:tc>
                  <a:txBody>
                    <a:bodyPr/>
                    <a:lstStyle/>
                    <a:p>
                      <a:r>
                        <a:rPr lang="ru-RU" sz="1500" b="1"/>
                        <a:t>"Бритва и лезвие" (Razor and Blade) / "Оплата по результату" (Pay-Per-Use).</a:t>
                      </a:r>
                      <a:endParaRPr lang="ru-RU" sz="1500"/>
                    </a:p>
                  </a:txBody>
                  <a:tcPr marL="36069" marR="36069" marT="18035" marB="18035" anchor="ctr"/>
                </a:tc>
                <a:extLst>
                  <a:ext uri="{0D108BD9-81ED-4DB2-BD59-A6C34878D82A}">
                    <a16:rowId xmlns:a16="http://schemas.microsoft.com/office/drawing/2014/main" val="1280359175"/>
                  </a:ext>
                </a:extLst>
              </a:tr>
              <a:tr h="939598">
                <a:tc>
                  <a:txBody>
                    <a:bodyPr/>
                    <a:lstStyle/>
                    <a:p>
                      <a:r>
                        <a:rPr lang="ru-RU" sz="1500" b="1"/>
                        <a:t>Обоснование</a:t>
                      </a:r>
                      <a:endParaRPr lang="ru-RU" sz="1500"/>
                    </a:p>
                  </a:txBody>
                  <a:tcPr marL="36069" marR="36069" marT="18035" marB="18035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Основное решение (сама AI-платформа) предоставляется в рамках подписки, а потребление (минуты разговора) является "лезвием", за которое клиент платит регулярно.</a:t>
                      </a:r>
                    </a:p>
                  </a:txBody>
                  <a:tcPr marL="36069" marR="36069" marT="18035" marB="18035" anchor="ctr"/>
                </a:tc>
                <a:extLst>
                  <a:ext uri="{0D108BD9-81ED-4DB2-BD59-A6C34878D82A}">
                    <a16:rowId xmlns:a16="http://schemas.microsoft.com/office/drawing/2014/main" val="2417122158"/>
                  </a:ext>
                </a:extLst>
              </a:tr>
              <a:tr h="1320541">
                <a:tc>
                  <a:txBody>
                    <a:bodyPr/>
                    <a:lstStyle/>
                    <a:p>
                      <a:r>
                        <a:rPr lang="ru-RU" sz="1500" b="1"/>
                        <a:t>Вывод</a:t>
                      </a:r>
                      <a:endParaRPr lang="ru-RU" sz="1500"/>
                    </a:p>
                  </a:txBody>
                  <a:tcPr marL="36069" marR="36069" marT="18035" marB="18035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Бизнес-модель Dasha.AI является </a:t>
                      </a:r>
                      <a:r>
                        <a:rPr lang="ru-RU" sz="1500" b="1" dirty="0"/>
                        <a:t>масштабируемой</a:t>
                      </a:r>
                      <a:r>
                        <a:rPr lang="ru-RU" sz="1500" dirty="0"/>
                        <a:t> и </a:t>
                      </a:r>
                      <a:r>
                        <a:rPr lang="ru-RU" sz="1500" b="1" dirty="0"/>
                        <a:t>интенсивно-технологичной</a:t>
                      </a:r>
                      <a:r>
                        <a:rPr lang="ru-RU" sz="1500" dirty="0"/>
                        <a:t>. Успех модели полностью зависит от способности </a:t>
                      </a:r>
                      <a:r>
                        <a:rPr lang="ru-RU" sz="1500" b="1" dirty="0"/>
                        <a:t>Ключевых ресурсов (AI-инженеры и Модели AI)</a:t>
                      </a:r>
                      <a:r>
                        <a:rPr lang="ru-RU" sz="1500" dirty="0"/>
                        <a:t> поддерживать высокое </a:t>
                      </a:r>
                      <a:r>
                        <a:rPr lang="ru-RU" sz="1500" b="1" dirty="0"/>
                        <a:t>Ценностное Предложение</a:t>
                      </a:r>
                      <a:r>
                        <a:rPr lang="ru-RU" sz="1500" dirty="0"/>
                        <a:t> (человекоподобный диалог).</a:t>
                      </a:r>
                    </a:p>
                  </a:txBody>
                  <a:tcPr marL="36069" marR="36069" marT="18035" marB="18035" anchor="ctr"/>
                </a:tc>
                <a:extLst>
                  <a:ext uri="{0D108BD9-81ED-4DB2-BD59-A6C34878D82A}">
                    <a16:rowId xmlns:a16="http://schemas.microsoft.com/office/drawing/2014/main" val="37080048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ACEFF6-0298-5EA8-F651-CB6DF097F7E1}"/>
              </a:ext>
            </a:extLst>
          </p:cNvPr>
          <p:cNvSpPr txBox="1"/>
          <p:nvPr/>
        </p:nvSpPr>
        <p:spPr>
          <a:xfrm>
            <a:off x="391886" y="581638"/>
            <a:ext cx="70376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b="1" dirty="0"/>
              <a:t>Модель Монетизации (по О. Гассману) и Вывод</a:t>
            </a:r>
            <a:endParaRPr lang="en-VI" sz="2500" b="1" dirty="0"/>
          </a:p>
        </p:txBody>
      </p:sp>
    </p:spTree>
    <p:extLst>
      <p:ext uri="{BB962C8B-B14F-4D97-AF65-F5344CB8AC3E}">
        <p14:creationId xmlns:p14="http://schemas.microsoft.com/office/powerpoint/2010/main" val="142606092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48</TotalTime>
  <Words>454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. Прямые продажи. 2. Партнерские интеграции . 3. Разработчики API (Документация и SDK)</vt:lpstr>
      <vt:lpstr>Arial</vt:lpstr>
      <vt:lpstr>Gill Sans MT</vt:lpstr>
      <vt:lpstr>Google Sans Flex</vt:lpstr>
      <vt:lpstr>Parcel</vt:lpstr>
      <vt:lpstr>Анализ бизнес-ьщдели стартапа Dasha.ai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zzzz .</dc:creator>
  <cp:lastModifiedBy>zzzz .</cp:lastModifiedBy>
  <cp:revision>1</cp:revision>
  <dcterms:created xsi:type="dcterms:W3CDTF">2025-11-13T02:34:42Z</dcterms:created>
  <dcterms:modified xsi:type="dcterms:W3CDTF">2025-11-13T03:22:46Z</dcterms:modified>
</cp:coreProperties>
</file>