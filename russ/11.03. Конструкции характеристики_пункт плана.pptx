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 type="screen16x9"/>
  <p:notesSz cx="9144000" cy="51435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 snapToObjects="1">
      <p:cViewPr varScale="1">
        <p:scale>
          <a:sx n="110" d="100"/>
          <a:sy n="110" d="100"/>
        </p:scale>
        <p:origin x="667" y="67"/>
      </p:cViewPr>
      <p:guideLst>
        <p:guide pos="1611" orient="horz"/>
        <p:guide pos="2874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_Title Slide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 bwMode="auto"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 bwMode="auto">
          <a:xfrm>
            <a:off x="5910801" y="4272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TextBox 1"/>
          <p:cNvSpPr txBox="1"/>
          <p:nvPr userDrawn="1"/>
        </p:nvSpPr>
        <p:spPr bwMode="auto"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3" name="TextBox 2"/>
          <p:cNvSpPr txBox="1"/>
          <p:nvPr userDrawn="1"/>
        </p:nvSpPr>
        <p:spPr bwMode="auto">
          <a:xfrm>
            <a:off x="5910801" y="4272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2000"/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 sz="20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20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8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Ckfql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 sz="2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24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20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  <p:hf dt="0" ftr="1" hdr="0" sldNum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5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6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9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16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7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4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8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5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6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7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5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6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4"/>
          </p:nvPr>
        </p:nvSpPr>
        <p:spPr bwMode="auto"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9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4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 bwMode="auto"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half" idx="26" hasCustomPrompt="1"/>
          </p:nvPr>
        </p:nvSpPr>
        <p:spPr bwMode="auto"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7"/>
          </p:nvPr>
        </p:nvSpPr>
        <p:spPr bwMode="auto"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" name="Рисунок 2"/>
          <p:cNvSpPr>
            <a:spLocks noGrp="1"/>
          </p:cNvSpPr>
          <p:nvPr>
            <p:ph type="pic" sz="quarter" idx="28"/>
          </p:nvPr>
        </p:nvSpPr>
        <p:spPr bwMode="auto"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hf dt="0" ftr="1" hdr="0" sldNum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7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733143" y="949329"/>
            <a:ext cx="2895600" cy="3895723"/>
          </a:xfrm>
        </p:spPr>
        <p:txBody>
          <a:bodyPr>
            <a:normAutofit/>
          </a:bodyPr>
          <a:lstStyle>
            <a:lvl1pPr marL="0" indent="0">
              <a:buNone/>
              <a:defRPr sz="1400" b="0" i="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6"/>
          </p:nvPr>
        </p:nvSpPr>
        <p:spPr bwMode="auto">
          <a:xfrm>
            <a:off x="3095170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7"/>
          </p:nvPr>
        </p:nvSpPr>
        <p:spPr bwMode="auto">
          <a:xfrm>
            <a:off x="3095170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8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lvl="0">
              <a:defRPr/>
            </a:pPr>
            <a:r>
              <a:rPr lang="ru-RU"/>
              <a:t>Ключевая фраза слайда</a:t>
            </a:r>
            <a:endParaRPr/>
          </a:p>
        </p:txBody>
      </p:sp>
      <p:sp>
        <p:nvSpPr>
          <p:cNvPr id="7" name="Рисунок 2"/>
          <p:cNvSpPr>
            <a:spLocks noGrp="1"/>
          </p:cNvSpPr>
          <p:nvPr>
            <p:ph type="pic" sz="quarter" idx="17"/>
          </p:nvPr>
        </p:nvSpPr>
        <p:spPr bwMode="auto">
          <a:xfrm>
            <a:off x="3095170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9"/>
          </p:nvPr>
        </p:nvSpPr>
        <p:spPr bwMode="auto"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0"/>
          </p:nvPr>
        </p:nvSpPr>
        <p:spPr bwMode="auto">
          <a:xfrm>
            <a:off x="3095170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21"/>
          </p:nvPr>
        </p:nvSpPr>
        <p:spPr bwMode="auto"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0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31" hasCustomPrompt="1"/>
          </p:nvPr>
        </p:nvSpPr>
        <p:spPr bwMode="auto"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32" hasCustomPrompt="1"/>
          </p:nvPr>
        </p:nvSpPr>
        <p:spPr bwMode="auto"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33" hasCustomPrompt="1"/>
          </p:nvPr>
        </p:nvSpPr>
        <p:spPr bwMode="auto"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60351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3" name="Рисунок 2"/>
          <p:cNvSpPr>
            <a:spLocks noGrp="1"/>
          </p:cNvSpPr>
          <p:nvPr>
            <p:ph type="pic" sz="quarter" idx="37" hasCustomPrompt="1"/>
          </p:nvPr>
        </p:nvSpPr>
        <p:spPr bwMode="auto"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38" hasCustomPrompt="1"/>
          </p:nvPr>
        </p:nvSpPr>
        <p:spPr bwMode="auto"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31" name="Рисунок 2"/>
          <p:cNvSpPr>
            <a:spLocks noGrp="1"/>
          </p:cNvSpPr>
          <p:nvPr>
            <p:ph type="pic" sz="quarter" idx="39" hasCustomPrompt="1"/>
          </p:nvPr>
        </p:nvSpPr>
        <p:spPr bwMode="auto"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5" name="TextBox 4"/>
          <p:cNvSpPr txBox="1"/>
          <p:nvPr userDrawn="1"/>
        </p:nvSpPr>
        <p:spPr bwMode="auto"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1" hdr="0" sldNum="0"/>
  <p:txStyles>
    <p:titleStyle>
      <a:lvl1pPr algn="l" defTabSz="457200">
        <a:spcBef>
          <a:spcPts val="0"/>
        </a:spcBef>
        <a:buNone/>
        <a:defRPr sz="3600" b="1" i="0">
          <a:solidFill>
            <a:schemeClr val="tx1"/>
          </a:solidFill>
          <a:latin typeface="ALS Gorizont Bold Expanded"/>
          <a:ea typeface="+mj-ea"/>
          <a:cs typeface="+mj-cs"/>
        </a:defRPr>
      </a:lvl1pPr>
    </p:titleStyle>
    <p:bodyStyle>
      <a:lvl1pPr marL="0" indent="0" algn="l" defTabSz="457200">
        <a:spcBef>
          <a:spcPts val="0"/>
        </a:spcBef>
        <a:buSzPct val="100000"/>
        <a:buFont typeface="Arial"/>
        <a:buNone/>
        <a:defRPr sz="2000">
          <a:solidFill>
            <a:schemeClr val="tx1"/>
          </a:solidFill>
          <a:latin typeface="Golos Text"/>
          <a:ea typeface="+mn-ea"/>
          <a:cs typeface="Golos Text"/>
        </a:defRPr>
      </a:lvl1pPr>
      <a:lvl2pPr marL="742950" indent="-28575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Golos Text"/>
          <a:ea typeface="+mn-ea"/>
          <a:cs typeface="Golos Text"/>
        </a:defRPr>
      </a:lvl2pPr>
      <a:lvl3pPr marL="1143000" indent="-228600" algn="l" defTabSz="457200">
        <a:spcBef>
          <a:spcPts val="0"/>
        </a:spcBef>
        <a:buFont typeface="Arial"/>
        <a:buChar char="•"/>
        <a:defRPr sz="1600">
          <a:solidFill>
            <a:schemeClr val="tx1"/>
          </a:solidFill>
          <a:latin typeface="Golos Text"/>
          <a:ea typeface="+mn-ea"/>
          <a:cs typeface="Golos Text"/>
        </a:defRPr>
      </a:lvl3pPr>
      <a:lvl4pPr marL="1600200" indent="-228600" algn="l" defTabSz="457200">
        <a:spcBef>
          <a:spcPts val="0"/>
        </a:spcBef>
        <a:buFont typeface="Arial"/>
        <a:buChar char="•"/>
        <a:defRPr sz="1600">
          <a:solidFill>
            <a:schemeClr val="tx1"/>
          </a:solidFill>
          <a:latin typeface="Golos Text"/>
          <a:ea typeface="+mn-ea"/>
          <a:cs typeface="Golos Text"/>
        </a:defRPr>
      </a:lvl4pPr>
      <a:lvl5pPr marL="1828800" indent="0" algn="l" defTabSz="457200">
        <a:spcBef>
          <a:spcPts val="0"/>
        </a:spcBef>
        <a:buFont typeface="Arial"/>
        <a:buNone/>
        <a:defRPr sz="1600">
          <a:solidFill>
            <a:schemeClr val="tx1"/>
          </a:solidFill>
          <a:latin typeface="Golos Text"/>
          <a:ea typeface="+mn-ea"/>
          <a:cs typeface="Golos Text"/>
        </a:defRPr>
      </a:lvl5pPr>
      <a:lvl6pPr marL="25146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 bwMode="auto">
          <a:xfrm>
            <a:off x="900545" y="2587997"/>
            <a:ext cx="7322127" cy="70485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4400">
                <a:solidFill>
                  <a:schemeClr val="bg1"/>
                </a:solidFill>
              </a:rPr>
              <a:t>Трансформация предложений в пункт плана. Прилагательные.</a:t>
            </a:r>
            <a:endParaRPr lang="en-US" sz="44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59273" y="73169"/>
            <a:ext cx="4531382" cy="343124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59273" y="3504412"/>
            <a:ext cx="4531382" cy="120640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 bwMode="auto">
          <a:xfrm>
            <a:off x="5555673" y="2098963"/>
            <a:ext cx="26196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/>
              <a:t>Дорогой эксперимент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Самостоятельная работа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 flipH="0" flipV="0">
            <a:off x="416502" y="1069066"/>
            <a:ext cx="8291944" cy="372200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342900" indent="-342900">
              <a:buAutoNum type="arabicPeriod"/>
              <a:defRPr/>
            </a:pPr>
            <a:r>
              <a:rPr lang="ru-RU" sz="2400"/>
              <a:t>Ноутбукам этой фирмы </a:t>
            </a:r>
            <a:r>
              <a:rPr lang="ru-RU" sz="2400" b="1"/>
              <a:t>присуща </a:t>
            </a:r>
            <a:r>
              <a:rPr lang="ru-RU" sz="2400"/>
              <a:t>быстрота  процессора. / присущ быстрый процессор. </a:t>
            </a:r>
            <a:endParaRPr sz="2200"/>
          </a:p>
          <a:p>
            <a:pPr marL="342900" indent="-342900">
              <a:buAutoNum type="arabicPeriod"/>
              <a:defRPr/>
            </a:pPr>
            <a:r>
              <a:rPr lang="ru-RU" sz="2400"/>
              <a:t>Камере </a:t>
            </a:r>
            <a:r>
              <a:rPr lang="ru-RU" sz="2400" b="1"/>
              <a:t>свойственно </a:t>
            </a:r>
            <a:r>
              <a:rPr lang="ru-RU" sz="2400"/>
              <a:t>чёткое изображение / свойственн</a:t>
            </a:r>
            <a:r>
              <a:rPr lang="ru-RU" sz="2400" b="1">
                <a:solidFill>
                  <a:schemeClr val="tx1"/>
                </a:solidFill>
              </a:rPr>
              <a:t>а</a:t>
            </a:r>
            <a:r>
              <a:rPr lang="ru-RU" sz="2400"/>
              <a:t> чёткость изображения. </a:t>
            </a:r>
            <a:endParaRPr sz="2200"/>
          </a:p>
          <a:p>
            <a:pPr marL="342900" indent="-342900">
              <a:buAutoNum type="arabicPeriod"/>
              <a:defRPr/>
            </a:pPr>
            <a:r>
              <a:rPr lang="ru-RU" sz="2400"/>
              <a:t>Продукты </a:t>
            </a:r>
            <a:r>
              <a:rPr lang="ru-RU" sz="2400" b="1"/>
              <a:t>характеризуются </a:t>
            </a:r>
            <a:r>
              <a:rPr lang="ru-RU" sz="2400"/>
              <a:t>высоким качеством.</a:t>
            </a:r>
            <a:endParaRPr sz="2200"/>
          </a:p>
          <a:p>
            <a:pPr marL="342900" indent="-342900">
              <a:buAutoNum type="arabicPeriod"/>
              <a:defRPr/>
            </a:pPr>
            <a:r>
              <a:rPr lang="ru-RU" sz="2400"/>
              <a:t>Станция «Адмиралтейская» обладает максимальной </a:t>
            </a:r>
            <a:r>
              <a:rPr lang="ru-RU" sz="2400" b="1"/>
              <a:t>глубиной.</a:t>
            </a:r>
            <a:endParaRPr sz="2200" b="1"/>
          </a:p>
          <a:p>
            <a:pPr marL="342900" indent="-342900">
              <a:buAutoNum type="arabicPeriod"/>
              <a:defRPr/>
            </a:pPr>
            <a:r>
              <a:rPr lang="ru-RU" sz="2400"/>
              <a:t>Для эспрессо</a:t>
            </a:r>
            <a:r>
              <a:rPr lang="ru-RU" sz="2400"/>
              <a:t> характерно высокое содержание кофеина.</a:t>
            </a:r>
            <a:endParaRPr sz="2200"/>
          </a:p>
          <a:p>
            <a:pPr marL="342900" indent="-342900">
              <a:buAutoNum type="arabicPeriod"/>
              <a:defRPr/>
            </a:pPr>
            <a:endParaRPr lang="ru-RU" sz="2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399891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6930104" name="Content Placeholder 2"/>
          <p:cNvSpPr>
            <a:spLocks noGrp="1"/>
          </p:cNvSpPr>
          <p:nvPr>
            <p:ph sz="half" idx="1" hasCustomPrompt="1"/>
          </p:nvPr>
        </p:nvSpPr>
        <p:spPr bwMode="auto">
          <a:xfrm flipH="0" flipV="0">
            <a:off x="457200" y="1211942"/>
            <a:ext cx="7917472" cy="3447142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indent="-342900">
              <a:buAutoNum type="arabicPeriod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Golos Text"/>
                <a:ea typeface="+mn-ea"/>
                <a:cs typeface="Golos Text"/>
              </a:rPr>
              <a:t>Строительство сложное.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+mn-ea"/>
                <a:cs typeface="Golos Text"/>
              </a:rPr>
              <a:t> = Строительство сложно. </a:t>
            </a:r>
            <a:endParaRPr sz="2200"/>
          </a:p>
          <a:p>
            <a:pPr marL="342900" indent="-342900">
              <a:buAutoNum type="arabicPeriod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Golos Text"/>
                <a:ea typeface="+mn-ea"/>
                <a:cs typeface="Golos Text"/>
              </a:rPr>
              <a:t>Программу характеризует </a:t>
            </a:r>
            <a:r>
              <a:rPr lang="ru-RU" sz="2200" b="1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лёгкость 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использования.</a:t>
            </a:r>
            <a:endParaRPr sz="2200"/>
          </a:p>
          <a:p>
            <a:pPr marL="342900" indent="-342900">
              <a:buAutoNum type="arabicPeriod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Golos Text"/>
                <a:ea typeface="+mn-ea"/>
                <a:cs typeface="Golos Text"/>
              </a:rPr>
              <a:t>Детские игрушки  отличаются безопасностью.</a:t>
            </a:r>
            <a:endParaRPr sz="2200"/>
          </a:p>
          <a:p>
            <a:pPr marL="342900" indent="-342900">
              <a:buAutoNum type="arabicPeriod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Golos Text"/>
                <a:ea typeface="+mn-ea"/>
                <a:cs typeface="Golos Text"/>
              </a:rPr>
              <a:t>Телевизор  обладает интуитивно понятным интерфейсом.</a:t>
            </a:r>
            <a:endParaRPr sz="2200"/>
          </a:p>
          <a:p>
            <a:pPr marL="342900" indent="-342900">
              <a:buAutoNum type="arabicPeriod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Golos Text"/>
                <a:ea typeface="+mn-ea"/>
                <a:cs typeface="Golos Text"/>
              </a:rPr>
              <a:t> 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Golos Text"/>
                <a:ea typeface="+mn-ea"/>
                <a:cs typeface="Golos Text"/>
              </a:rPr>
              <a:t>Наушники этой фирмы характеризует высокая чувствительность.</a:t>
            </a:r>
            <a:endParaRPr sz="2200"/>
          </a:p>
          <a:p>
            <a:pPr marL="342900" indent="-342900">
              <a:buAutoNum type="arabicPeriod"/>
              <a:defRPr/>
            </a:pPr>
            <a:endParaRPr sz="14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Ноутбук 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 marL="285750" indent="-285750">
              <a:buFont typeface="Arial"/>
              <a:buChar char="•"/>
              <a:defRPr/>
            </a:pPr>
            <a:r>
              <a:rPr lang="ru-RU" sz="1800"/>
              <a:t>Компактный</a:t>
            </a:r>
            <a:endParaRPr sz="1800"/>
          </a:p>
          <a:p>
            <a:pPr marL="285750" indent="-285750">
              <a:buFont typeface="Arial"/>
              <a:buChar char="•"/>
              <a:defRPr/>
            </a:pPr>
            <a:r>
              <a:rPr lang="ru-RU" sz="1800"/>
              <a:t>Прочный корпус</a:t>
            </a:r>
            <a:endParaRPr sz="1800"/>
          </a:p>
          <a:p>
            <a:pPr marL="285750" indent="-285750">
              <a:buFont typeface="Arial"/>
              <a:buChar char="•"/>
              <a:defRPr/>
            </a:pPr>
            <a:r>
              <a:rPr lang="ru-RU" sz="1800"/>
              <a:t>Высокая скорость запуска</a:t>
            </a:r>
            <a:endParaRPr sz="1800"/>
          </a:p>
          <a:p>
            <a:pPr marL="285750" indent="-285750">
              <a:buFont typeface="Arial"/>
              <a:buChar char="•"/>
              <a:defRPr/>
            </a:pPr>
            <a:r>
              <a:rPr lang="ru-RU" sz="1800"/>
              <a:t>Время автономной работы от батареи от 5 часов = автономность </a:t>
            </a:r>
            <a:endParaRPr sz="1800"/>
          </a:p>
          <a:p>
            <a:pPr marL="285750" indent="-285750">
              <a:buFont typeface="Arial"/>
              <a:buChar char="•"/>
              <a:defRPr/>
            </a:pPr>
            <a:r>
              <a:rPr lang="ru-RU" sz="1800"/>
              <a:t>Производительный = производительность </a:t>
            </a:r>
            <a:endParaRPr sz="1800"/>
          </a:p>
          <a:p>
            <a:pPr marL="285750" indent="-285750">
              <a:buFont typeface="Arial"/>
              <a:buChar char="•"/>
              <a:defRPr/>
            </a:pPr>
            <a:r>
              <a:rPr lang="ru-RU" sz="1800"/>
              <a:t>Мощный процессор</a:t>
            </a:r>
            <a:endParaRPr sz="1800"/>
          </a:p>
          <a:p>
            <a:pPr marL="285750" indent="-285750">
              <a:buFont typeface="Arial"/>
              <a:buChar char="•"/>
              <a:defRPr/>
            </a:pPr>
            <a:r>
              <a:rPr lang="ru-RU" sz="1800"/>
              <a:t>Лёгкий </a:t>
            </a:r>
            <a:endParaRPr sz="1800"/>
          </a:p>
          <a:p>
            <a:pPr marL="285750" indent="-285750">
              <a:buFont typeface="Arial"/>
              <a:buChar char="•"/>
              <a:defRPr/>
            </a:pPr>
            <a:r>
              <a:rPr lang="ru-RU" sz="1800"/>
              <a:t>Объём памяти 512 Гб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телевизор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 marL="285750" indent="-285750">
              <a:buFont typeface="Arial"/>
              <a:buChar char="•"/>
              <a:defRPr/>
            </a:pPr>
            <a:r>
              <a:rPr lang="ru-RU" sz="2000"/>
              <a:t>Качественный </a:t>
            </a:r>
            <a:r>
              <a:rPr lang="en-US" sz="2000"/>
              <a:t>web-</a:t>
            </a:r>
            <a:r>
              <a:rPr lang="ru-RU" sz="2000"/>
              <a:t>браузер</a:t>
            </a:r>
            <a:endParaRPr sz="2000"/>
          </a:p>
          <a:p>
            <a:pPr marL="285750" indent="-285750">
              <a:buFont typeface="Arial"/>
              <a:buChar char="•"/>
              <a:defRPr/>
            </a:pPr>
            <a:r>
              <a:rPr lang="ru-RU" sz="2000"/>
              <a:t>Интуитивно понятный интерфейс</a:t>
            </a:r>
            <a:endParaRPr sz="2000"/>
          </a:p>
          <a:p>
            <a:pPr marL="285750" indent="-285750">
              <a:buFont typeface="Arial"/>
              <a:buChar char="•"/>
              <a:defRPr/>
            </a:pPr>
            <a:r>
              <a:rPr lang="ru-RU" sz="2000"/>
              <a:t>Разрешение экрана </a:t>
            </a:r>
            <a:endParaRPr sz="2000"/>
          </a:p>
          <a:p>
            <a:pPr marL="285750" indent="-285750">
              <a:buFont typeface="Arial"/>
              <a:buChar char="•"/>
              <a:defRPr/>
            </a:pPr>
            <a:r>
              <a:rPr lang="ru-RU" sz="2000"/>
              <a:t>Высокое качество звука</a:t>
            </a:r>
            <a:endParaRPr sz="2000"/>
          </a:p>
          <a:p>
            <a:pPr marL="285750" indent="-285750">
              <a:buFont typeface="Arial"/>
              <a:buChar char="•"/>
              <a:defRPr/>
            </a:pPr>
            <a:r>
              <a:rPr lang="en-US" sz="2000"/>
              <a:t>LED</a:t>
            </a:r>
            <a:r>
              <a:rPr lang="ru-RU" sz="2000"/>
              <a:t> или </a:t>
            </a:r>
            <a:r>
              <a:rPr lang="en-US" sz="2000"/>
              <a:t>OLED</a:t>
            </a:r>
            <a:r>
              <a:rPr lang="ru-RU" sz="2000"/>
              <a:t>-матрицей – качественная цветопередача</a:t>
            </a:r>
            <a:endParaRPr sz="2000"/>
          </a:p>
          <a:p>
            <a:pPr marL="285750" indent="-285750">
              <a:buFont typeface="Arial"/>
              <a:buChar char="•"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Робот-пылесос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 marL="285750" indent="-285750">
              <a:buFont typeface="Arial"/>
              <a:buChar char="•"/>
              <a:defRPr/>
            </a:pPr>
            <a:r>
              <a:rPr lang="ru-RU" sz="2200"/>
              <a:t>Компактный </a:t>
            </a:r>
            <a:endParaRPr sz="2200"/>
          </a:p>
          <a:p>
            <a:pPr marL="285750" indent="-285750">
              <a:buFont typeface="Arial"/>
              <a:buChar char="•"/>
              <a:defRPr/>
            </a:pPr>
            <a:r>
              <a:rPr lang="ru-RU" sz="2200"/>
              <a:t>Бесшумный</a:t>
            </a:r>
            <a:endParaRPr sz="2200"/>
          </a:p>
          <a:p>
            <a:pPr marL="285750" indent="-285750">
              <a:buFont typeface="Arial"/>
              <a:buChar char="•"/>
              <a:defRPr/>
            </a:pPr>
            <a:r>
              <a:rPr lang="ru-RU" sz="2200"/>
              <a:t>Длительная работа без подзарядки</a:t>
            </a:r>
            <a:endParaRPr sz="2200"/>
          </a:p>
          <a:p>
            <a:pPr marL="285750" indent="-285750">
              <a:buFont typeface="Arial"/>
              <a:buChar char="•"/>
              <a:defRPr/>
            </a:pPr>
            <a:r>
              <a:rPr lang="ru-RU" sz="2200"/>
              <a:t>Мощность </a:t>
            </a:r>
            <a:endParaRPr sz="2200"/>
          </a:p>
          <a:p>
            <a:pPr marL="285750" indent="-285750">
              <a:buFont typeface="Arial"/>
              <a:buChar char="•"/>
              <a:defRPr/>
            </a:pPr>
            <a:r>
              <a:rPr lang="ru-RU" sz="2200"/>
              <a:t>Интеллектуальная навигация</a:t>
            </a:r>
            <a:endParaRPr lang="ru-RU" sz="2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Умные часы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 marL="285750" indent="-285750">
              <a:buFont typeface="Arial"/>
              <a:buChar char="•"/>
              <a:defRPr/>
            </a:pPr>
            <a:r>
              <a:rPr lang="ru-RU"/>
              <a:t>Доступный бюджет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ru-RU"/>
              <a:t>Лёгкость 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ru-RU"/>
              <a:t>Синхронизация с другими гаджетами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ru-RU"/>
              <a:t>Красивый дизайн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ru-RU"/>
              <a:t>Автономная работа 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ru-RU"/>
              <a:t>Сенсорное управление 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ru-RU"/>
              <a:t>Ударопрочность</a:t>
            </a:r>
            <a:r>
              <a:rPr lang="ru-RU"/>
              <a:t> 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679000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>
            <a:normAutofit fontScale="90000"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Облачное хранилище </a:t>
            </a:r>
            <a:endParaRPr/>
          </a:p>
        </p:txBody>
      </p:sp>
      <p:sp>
        <p:nvSpPr>
          <p:cNvPr id="1328642878" name="Content Placeholder 2"/>
          <p:cNvSpPr>
            <a:spLocks noGrp="1"/>
          </p:cNvSpPr>
          <p:nvPr>
            <p:ph sz="half" idx="1" hasCustomPrompt="1"/>
          </p:nvPr>
        </p:nvSpPr>
        <p:spPr bwMode="auto">
          <a:xfrm flipH="0" flipV="0">
            <a:off x="457200" y="1211941"/>
            <a:ext cx="7785588" cy="3447141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 sz="1600"/>
              <a:t>Облачное хранилище представляет собой систему </a:t>
            </a:r>
            <a:r>
              <a:rPr lang="ru-RU" sz="1600" b="1"/>
              <a:t>хранения </a:t>
            </a:r>
            <a:r>
              <a:rPr lang="ru-RU" sz="1600"/>
              <a:t>данных. Облачное хранилище характеризуется надёжностью, доступностью и лёгкостью использования. Преимуществами данной технологии является безопасность. Недостатком данной технологии является зависимость от Интернета / высокая стоимость дополнительных услуг. Облако может использоваться для передачи и синхронизации данных. Для того, чтобы получить доступ к облачному хранилищу вам необходим Интернет / необходима подписка. Существуют различные облачные хранилища: ___________, ____________, _______________. При выборе данного сервиса обращайте внимание на объём памяти в бесплатной версии и безопасность. / отзывы пользователей.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Не пропускающий воду 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2200"/>
              <a:t>Водонепроницаемый – водонепроницаемость </a:t>
            </a:r>
            <a:endParaRPr lang="ru-RU" sz="220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322223" y="2153041"/>
            <a:ext cx="2510496" cy="2506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Отталкивающий воду 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2200"/>
              <a:t>Водоотталкивающий </a:t>
            </a:r>
            <a:endParaRPr lang="ru-RU" sz="220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548745" y="3325555"/>
            <a:ext cx="3161001" cy="1769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Устойчивый к влаге 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2400"/>
              <a:t>Влагостойкий = водостойкий</a:t>
            </a:r>
            <a:endParaRPr lang="ru-RU" sz="2400"/>
          </a:p>
          <a:p>
            <a:pPr>
              <a:defRPr/>
            </a:pPr>
            <a:r>
              <a:rPr lang="ru-RU" sz="2400"/>
              <a:t>Влагоустойчивый = водоустойчивый </a:t>
            </a:r>
            <a:endParaRPr lang="ru-RU" sz="240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191250" y="2184688"/>
            <a:ext cx="1733550" cy="2533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Сохраняющий свою форму при внешних воздействиях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 flipH="0" flipV="0">
            <a:off x="849922" y="1604595"/>
            <a:ext cx="6547338" cy="2959239"/>
          </a:xfrm>
        </p:spPr>
        <p:txBody>
          <a:bodyPr/>
          <a:lstStyle/>
          <a:p>
            <a:pPr>
              <a:defRPr/>
            </a:pPr>
            <a:r>
              <a:rPr lang="ru-RU" sz="2200"/>
              <a:t>Прочность  – не ломается</a:t>
            </a:r>
            <a:endParaRPr lang="ru-RU" sz="2200"/>
          </a:p>
          <a:p>
            <a:pPr>
              <a:defRPr/>
            </a:pPr>
            <a:endParaRPr lang="ru-RU" sz="2200"/>
          </a:p>
          <a:p>
            <a:pPr>
              <a:defRPr/>
            </a:pPr>
            <a:r>
              <a:rPr lang="ru-RU" sz="2200"/>
              <a:t>Твёрдость </a:t>
            </a:r>
            <a:endParaRPr lang="ru-RU" sz="2200"/>
          </a:p>
          <a:p>
            <a:pPr>
              <a:defRPr/>
            </a:pPr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729644" y="833719"/>
            <a:ext cx="3235263" cy="4237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Способный восстанавливать свою форму </a:t>
            </a:r>
            <a:endParaRPr/>
          </a:p>
        </p:txBody>
      </p:sp>
      <p:pic>
        <p:nvPicPr>
          <p:cNvPr id="6" name="Объект 5"/>
          <p:cNvPicPr>
            <a:picLocks noChangeAspect="1" noGrp="1"/>
          </p:cNvPicPr>
          <p:nvPr>
            <p:ph sz="half" idx="1"/>
          </p:nvPr>
        </p:nvPicPr>
        <p:blipFill>
          <a:blip r:embed="rId2"/>
          <a:stretch/>
        </p:blipFill>
        <p:spPr bwMode="auto">
          <a:xfrm>
            <a:off x="6830550" y="3193473"/>
            <a:ext cx="1880537" cy="1542040"/>
          </a:xfrm>
          <a:prstGeom prst="rect">
            <a:avLst/>
          </a:prstGeom>
        </p:spPr>
      </p:pic>
      <p:sp>
        <p:nvSpPr>
          <p:cNvPr id="87502995" name=""/>
          <p:cNvSpPr txBox="1"/>
          <p:nvPr/>
        </p:nvSpPr>
        <p:spPr bwMode="auto">
          <a:xfrm flipH="0" flipV="0">
            <a:off x="1157653" y="1575288"/>
            <a:ext cx="1121761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упругость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38545" y="322735"/>
            <a:ext cx="7143037" cy="527284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Легко лома</a:t>
            </a:r>
            <a:r>
              <a:rPr lang="ru-RU">
                <a:solidFill>
                  <a:srgbClr val="FF0000"/>
                </a:solidFill>
              </a:rPr>
              <a:t>ющ</a:t>
            </a:r>
            <a:r>
              <a:rPr lang="ru-RU"/>
              <a:t>ийся, разруша</a:t>
            </a:r>
            <a:r>
              <a:rPr lang="ru-RU">
                <a:solidFill>
                  <a:srgbClr val="FF0000"/>
                </a:solidFill>
              </a:rPr>
              <a:t>ющ</a:t>
            </a:r>
            <a:r>
              <a:rPr lang="ru-RU"/>
              <a:t>ийся при внешних воздействиях</a:t>
            </a:r>
            <a:endParaRPr/>
          </a:p>
        </p:txBody>
      </p:sp>
      <p:pic>
        <p:nvPicPr>
          <p:cNvPr id="4" name="Объект 3"/>
          <p:cNvPicPr>
            <a:picLocks noChangeAspect="1" noGrp="1"/>
          </p:cNvPicPr>
          <p:nvPr>
            <p:ph sz="half" idx="1"/>
          </p:nvPr>
        </p:nvPicPr>
        <p:blipFill>
          <a:blip r:embed="rId2"/>
          <a:stretch/>
        </p:blipFill>
        <p:spPr bwMode="auto">
          <a:xfrm>
            <a:off x="7281582" y="3103419"/>
            <a:ext cx="1673658" cy="16736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322735"/>
            <a:ext cx="7143037" cy="527284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Не </a:t>
            </a:r>
            <a:r>
              <a:rPr lang="ru-RU"/>
              <a:t>пропуска</a:t>
            </a:r>
            <a:r>
              <a:rPr lang="ru-RU">
                <a:solidFill>
                  <a:srgbClr val="FF0000"/>
                </a:solidFill>
              </a:rPr>
              <a:t>ющ</a:t>
            </a:r>
            <a:r>
              <a:rPr lang="ru-RU"/>
              <a:t>ий </a:t>
            </a:r>
            <a:r>
              <a:rPr lang="ru-RU"/>
              <a:t>звук</a:t>
            </a:r>
            <a:endParaRPr/>
          </a:p>
        </p:txBody>
      </p:sp>
      <p:pic>
        <p:nvPicPr>
          <p:cNvPr id="5" name="Объект 4"/>
          <p:cNvPicPr>
            <a:picLocks noChangeAspect="1" noGrp="1"/>
          </p:cNvPicPr>
          <p:nvPr>
            <p:ph sz="half" idx="1"/>
          </p:nvPr>
        </p:nvPicPr>
        <p:blipFill>
          <a:blip r:embed="rId2"/>
          <a:stretch/>
        </p:blipFill>
        <p:spPr bwMode="auto">
          <a:xfrm>
            <a:off x="5267221" y="2909454"/>
            <a:ext cx="3505882" cy="1752941"/>
          </a:xfrm>
          <a:prstGeom prst="rect">
            <a:avLst/>
          </a:prstGeom>
        </p:spPr>
      </p:pic>
      <p:sp>
        <p:nvSpPr>
          <p:cNvPr id="1904425269" name=""/>
          <p:cNvSpPr txBox="1"/>
          <p:nvPr/>
        </p:nvSpPr>
        <p:spPr bwMode="auto">
          <a:xfrm flipH="0" flipV="0">
            <a:off x="981807" y="1421422"/>
            <a:ext cx="2475932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звуконепроницаемость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322735"/>
            <a:ext cx="7143037" cy="527284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Такой, который можно использовать долго без повреждения</a:t>
            </a: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748146" y="1205345"/>
            <a:ext cx="4235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/>
              <a:t>По</a:t>
            </a:r>
            <a:r>
              <a:rPr lang="ru-RU">
                <a:solidFill>
                  <a:srgbClr val="FF0000"/>
                </a:solidFill>
              </a:rPr>
              <a:t>вреж</a:t>
            </a:r>
            <a:r>
              <a:rPr lang="ru-RU"/>
              <a:t>дать – по</a:t>
            </a:r>
            <a:r>
              <a:rPr lang="ru-RU">
                <a:solidFill>
                  <a:srgbClr val="FF0000"/>
                </a:solidFill>
              </a:rPr>
              <a:t>вред</a:t>
            </a:r>
            <a:r>
              <a:rPr lang="ru-RU"/>
              <a:t>ить – по</a:t>
            </a:r>
            <a:r>
              <a:rPr lang="ru-RU">
                <a:solidFill>
                  <a:srgbClr val="FF0000"/>
                </a:solidFill>
              </a:rPr>
              <a:t>вреж</a:t>
            </a:r>
            <a:r>
              <a:rPr lang="ru-RU"/>
              <a:t>дение</a:t>
            </a:r>
            <a:endParaRPr/>
          </a:p>
          <a:p>
            <a:pPr>
              <a:defRPr/>
            </a:pPr>
            <a:r>
              <a:rPr lang="ru-RU">
                <a:solidFill>
                  <a:srgbClr val="FF0000"/>
                </a:solidFill>
              </a:rPr>
              <a:t>Вред</a:t>
            </a:r>
            <a:r>
              <a:rPr lang="ru-RU"/>
              <a:t>ить – </a:t>
            </a:r>
            <a:r>
              <a:rPr lang="ru-RU">
                <a:solidFill>
                  <a:srgbClr val="FF0000"/>
                </a:solidFill>
              </a:rPr>
              <a:t>вред</a:t>
            </a:r>
            <a:r>
              <a:rPr lang="ru-RU"/>
              <a:t> 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 bwMode="auto">
          <a:xfrm flipH="0" flipV="0">
            <a:off x="1077057" y="2329961"/>
            <a:ext cx="5690088" cy="2043374"/>
          </a:xfrm>
        </p:spPr>
        <p:txBody>
          <a:bodyPr/>
          <a:lstStyle/>
          <a:p>
            <a:pPr>
              <a:defRPr/>
            </a:pPr>
            <a:r>
              <a:rPr lang="ru-RU" sz="2000"/>
              <a:t>Надёжность </a:t>
            </a:r>
            <a:endParaRPr lang="ru-RU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322735"/>
            <a:ext cx="7143037" cy="527284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Легко принимающий форму </a:t>
            </a: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748146" y="12053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6" name="Объект 5"/>
          <p:cNvPicPr>
            <a:picLocks noChangeAspect="1" noGrp="1"/>
          </p:cNvPicPr>
          <p:nvPr>
            <p:ph sz="half" idx="1"/>
          </p:nvPr>
        </p:nvPicPr>
        <p:blipFill>
          <a:blip r:embed="rId2"/>
          <a:stretch/>
        </p:blipFill>
        <p:spPr bwMode="auto">
          <a:xfrm>
            <a:off x="5589658" y="2604654"/>
            <a:ext cx="3009252" cy="2006168"/>
          </a:xfrm>
          <a:prstGeom prst="rect">
            <a:avLst/>
          </a:prstGeom>
        </p:spPr>
      </p:pic>
      <p:sp>
        <p:nvSpPr>
          <p:cNvPr id="1307284082" name=""/>
          <p:cNvSpPr txBox="1"/>
          <p:nvPr/>
        </p:nvSpPr>
        <p:spPr bwMode="auto">
          <a:xfrm flipH="0" flipV="0">
            <a:off x="630115" y="1831730"/>
            <a:ext cx="1479949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пластичность</a:t>
            </a:r>
            <a:endParaRPr/>
          </a:p>
          <a:p>
            <a:pPr>
              <a:defRPr/>
            </a:pPr>
            <a:r>
              <a:rPr/>
              <a:t>гибкость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>Экран (16:9)</PresentationFormat>
  <Paragraphs>0</Paragraphs>
  <Slides>18</Slides>
  <Notes>18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</dc:creator>
  <cp:keywords/>
  <dc:description/>
  <dc:identifier/>
  <dc:language/>
  <cp:lastModifiedBy>Оксана Колегова</cp:lastModifiedBy>
  <cp:revision>202</cp:revision>
  <dcterms:created xsi:type="dcterms:W3CDTF">2014-06-27T12:30:22Z</dcterms:created>
  <dcterms:modified xsi:type="dcterms:W3CDTF">2025-03-11T13:44:50Z</dcterms:modified>
  <cp:category/>
  <cp:contentStatus/>
  <cp:version/>
</cp:coreProperties>
</file>